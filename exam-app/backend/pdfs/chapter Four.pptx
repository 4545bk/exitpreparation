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305"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8" r:id="rId24"/>
    <p:sldId id="280" r:id="rId25"/>
    <p:sldId id="281" r:id="rId26"/>
    <p:sldId id="282" r:id="rId27"/>
    <p:sldId id="283" r:id="rId28"/>
    <p:sldId id="284" r:id="rId29"/>
    <p:sldId id="285" r:id="rId30"/>
    <p:sldId id="286" r:id="rId31"/>
    <p:sldId id="287" r:id="rId32"/>
    <p:sldId id="299" r:id="rId33"/>
    <p:sldId id="289" r:id="rId34"/>
    <p:sldId id="290" r:id="rId35"/>
    <p:sldId id="306" r:id="rId36"/>
    <p:sldId id="307" r:id="rId37"/>
    <p:sldId id="308" r:id="rId3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92"/>
    <p:restoredTop sz="94674"/>
  </p:normalViewPr>
  <p:slideViewPr>
    <p:cSldViewPr>
      <p:cViewPr varScale="1">
        <p:scale>
          <a:sx n="124" d="100"/>
          <a:sy n="124" d="100"/>
        </p:scale>
        <p:origin x="1896" y="16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2F491E9-25B5-489B-9E4F-3DECB110EDFC}" type="datetimeFigureOut">
              <a:rPr lang="en-US" smtClean="0"/>
              <a:pPr/>
              <a:t>4/20/26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EE5EE69-0E8E-4F71-9A04-3E913509790B}"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228600" indent="-228600">
              <a:buFont typeface="+mj-lt"/>
              <a:buAutoNum type="arabicPeriod"/>
            </a:pPr>
            <a:endParaRPr lang="en-US" dirty="0"/>
          </a:p>
        </p:txBody>
      </p:sp>
      <p:sp>
        <p:nvSpPr>
          <p:cNvPr id="4" name="Slide Number Placeholder 3"/>
          <p:cNvSpPr>
            <a:spLocks noGrp="1"/>
          </p:cNvSpPr>
          <p:nvPr>
            <p:ph type="sldNum" sz="quarter" idx="10"/>
          </p:nvPr>
        </p:nvSpPr>
        <p:spPr/>
        <p:txBody>
          <a:bodyPr/>
          <a:lstStyle/>
          <a:p>
            <a:fld id="{DEE5EE69-0E8E-4F71-9A04-3E913509790B}" type="slidenum">
              <a:rPr lang="en-US" smtClean="0"/>
              <a:pPr/>
              <a:t>11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EE5EE69-0E8E-4F71-9A04-3E913509790B}" type="slidenum">
              <a:rPr lang="en-US" smtClean="0"/>
              <a:pPr/>
              <a:t>27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870CDCF-EDE8-4A65-BEF3-242752854D07}"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C18F8-381A-4E74-A60B-4479695A1EEF}"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70CDCF-EDE8-4A65-BEF3-242752854D07}"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C18F8-381A-4E74-A60B-4479695A1EEF}"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870CDCF-EDE8-4A65-BEF3-242752854D07}"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C18F8-381A-4E74-A60B-4479695A1EEF}"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870CDCF-EDE8-4A65-BEF3-242752854D07}" type="datetimeFigureOut">
              <a:rPr lang="en-US" smtClean="0"/>
              <a:pPr/>
              <a:t>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C18F8-381A-4E74-A60B-4479695A1EEF}"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870CDCF-EDE8-4A65-BEF3-242752854D07}" type="datetimeFigureOut">
              <a:rPr lang="en-US" smtClean="0"/>
              <a:pPr/>
              <a:t>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FEC18F8-381A-4E74-A60B-4479695A1EEF}"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870CDCF-EDE8-4A65-BEF3-242752854D07}" type="datetimeFigureOut">
              <a:rPr lang="en-US" smtClean="0"/>
              <a:pPr/>
              <a:t>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FEC18F8-381A-4E74-A60B-4479695A1EEF}"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870CDCF-EDE8-4A65-BEF3-242752854D07}" type="datetimeFigureOut">
              <a:rPr lang="en-US" smtClean="0"/>
              <a:pPr/>
              <a:t>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FEC18F8-381A-4E74-A60B-4479695A1EEF}"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70CDCF-EDE8-4A65-BEF3-242752854D07}" type="datetimeFigureOut">
              <a:rPr lang="en-US" smtClean="0"/>
              <a:pPr/>
              <a:t>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C18F8-381A-4E74-A60B-4479695A1EEF}"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870CDCF-EDE8-4A65-BEF3-242752854D07}" type="datetimeFigureOut">
              <a:rPr lang="en-US" smtClean="0"/>
              <a:pPr/>
              <a:t>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FEC18F8-381A-4E74-A60B-4479695A1EEF}"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70CDCF-EDE8-4A65-BEF3-242752854D07}"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C18F8-381A-4E74-A60B-4479695A1EEF}"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870CDCF-EDE8-4A65-BEF3-242752854D07}" type="datetimeFigureOut">
              <a:rPr lang="en-US" smtClean="0"/>
              <a:pPr/>
              <a:t>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FEC18F8-381A-4E74-A60B-4479695A1EEF}"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0CDCF-EDE8-4A65-BEF3-242752854D07}" type="datetimeFigureOut">
              <a:rPr lang="en-US" smtClean="0"/>
              <a:pPr/>
              <a:t>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EC18F8-381A-4E74-A60B-4479695A1EEF}"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buNone/>
            </a:pPr>
            <a:r>
              <a:rPr lang="en-US" sz="3600" dirty="0"/>
              <a:t>                           Chapter 4</a:t>
            </a:r>
          </a:p>
          <a:p>
            <a:pPr>
              <a:buNone/>
            </a:pPr>
            <a:r>
              <a:rPr lang="en-US" sz="3600" dirty="0"/>
              <a:t>Functional Dependency and Normalization</a:t>
            </a:r>
          </a:p>
          <a:p>
            <a:endParaRPr lang="en-US" sz="3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04800"/>
            <a:ext cx="7772400" cy="457200"/>
          </a:xfrm>
        </p:spPr>
        <p:txBody>
          <a:bodyPr>
            <a:noAutofit/>
          </a:bodyPr>
          <a:lstStyle/>
          <a:p>
            <a:r>
              <a:rPr lang="en-US" sz="2400" dirty="0"/>
              <a:t>Functional Dependency and Normalization</a:t>
            </a:r>
          </a:p>
        </p:txBody>
      </p:sp>
      <p:sp>
        <p:nvSpPr>
          <p:cNvPr id="3" name="Subtitle 2"/>
          <p:cNvSpPr>
            <a:spLocks noGrp="1"/>
          </p:cNvSpPr>
          <p:nvPr>
            <p:ph type="subTitle" idx="1"/>
          </p:nvPr>
        </p:nvSpPr>
        <p:spPr>
          <a:xfrm>
            <a:off x="152400" y="685800"/>
            <a:ext cx="8839200" cy="6172200"/>
          </a:xfrm>
        </p:spPr>
        <p:txBody>
          <a:bodyPr>
            <a:normAutofit/>
          </a:bodyPr>
          <a:lstStyle/>
          <a:p>
            <a:pPr algn="l">
              <a:buFont typeface="Wingdings" pitchFamily="2" charset="2"/>
              <a:buChar char="§"/>
            </a:pPr>
            <a:r>
              <a:rPr lang="en-US" sz="2400" dirty="0">
                <a:solidFill>
                  <a:schemeClr val="tx1"/>
                </a:solidFill>
              </a:rPr>
              <a:t>Discuss some of the theory that has been developed with the goal of evaluating relational schemas for </a:t>
            </a:r>
            <a:r>
              <a:rPr lang="en-US" sz="2400" b="1" dirty="0">
                <a:solidFill>
                  <a:schemeClr val="tx1"/>
                </a:solidFill>
              </a:rPr>
              <a:t>design quality-that </a:t>
            </a:r>
            <a:r>
              <a:rPr lang="en-US" sz="2400" dirty="0">
                <a:solidFill>
                  <a:schemeClr val="tx1"/>
                </a:solidFill>
              </a:rPr>
              <a:t>is, </a:t>
            </a:r>
          </a:p>
          <a:p>
            <a:pPr lvl="1" algn="l">
              <a:buFont typeface="Wingdings" pitchFamily="2" charset="2"/>
              <a:buChar char="§"/>
            </a:pPr>
            <a:r>
              <a:rPr lang="en-US" sz="2000" dirty="0">
                <a:solidFill>
                  <a:schemeClr val="tx1"/>
                </a:solidFill>
              </a:rPr>
              <a:t>to measure formally why one set of groupings of attributes into relation schemas is better than another.</a:t>
            </a:r>
          </a:p>
          <a:p>
            <a:pPr algn="l">
              <a:buFont typeface="Wingdings" pitchFamily="2" charset="2"/>
              <a:buChar char="§"/>
            </a:pPr>
            <a:r>
              <a:rPr lang="en-US" sz="2400" dirty="0">
                <a:solidFill>
                  <a:schemeClr val="tx1"/>
                </a:solidFill>
              </a:rPr>
              <a:t>There are two levels at which we can discuss the "goodness" of relation schemas. </a:t>
            </a:r>
          </a:p>
          <a:p>
            <a:pPr marL="457200" indent="-457200" algn="l">
              <a:buFont typeface="+mj-lt"/>
              <a:buAutoNum type="arabicPeriod"/>
            </a:pPr>
            <a:r>
              <a:rPr lang="en-US" sz="2400" b="1" dirty="0">
                <a:solidFill>
                  <a:schemeClr val="tx1"/>
                </a:solidFill>
              </a:rPr>
              <a:t>logical (or conceptual) level</a:t>
            </a:r>
          </a:p>
          <a:p>
            <a:pPr marL="914400" lvl="1" indent="-457200" algn="l">
              <a:buFont typeface="Arial" pitchFamily="34" charset="0"/>
              <a:buChar char="•"/>
            </a:pPr>
            <a:r>
              <a:rPr lang="en-US" sz="2000" dirty="0">
                <a:solidFill>
                  <a:schemeClr val="tx1"/>
                </a:solidFill>
              </a:rPr>
              <a:t>how users </a:t>
            </a:r>
            <a:r>
              <a:rPr lang="en-US" sz="2000" b="1" dirty="0">
                <a:solidFill>
                  <a:schemeClr val="tx1"/>
                </a:solidFill>
              </a:rPr>
              <a:t>interpret the relation schemas </a:t>
            </a:r>
            <a:r>
              <a:rPr lang="en-US" sz="2000" dirty="0">
                <a:solidFill>
                  <a:schemeClr val="tx1"/>
                </a:solidFill>
              </a:rPr>
              <a:t>and the </a:t>
            </a:r>
            <a:r>
              <a:rPr lang="en-US" sz="2000" b="1" dirty="0">
                <a:solidFill>
                  <a:schemeClr val="tx1"/>
                </a:solidFill>
              </a:rPr>
              <a:t>meaning of their attributes</a:t>
            </a:r>
          </a:p>
          <a:p>
            <a:pPr marL="914400" lvl="1" indent="-457200" algn="l">
              <a:buFont typeface="Arial" pitchFamily="34" charset="0"/>
              <a:buChar char="•"/>
            </a:pPr>
            <a:r>
              <a:rPr lang="en-US" sz="2000" dirty="0">
                <a:solidFill>
                  <a:schemeClr val="tx1"/>
                </a:solidFill>
              </a:rPr>
              <a:t>Having good relation schemas at this level enables users to understand clearly the meaning of the data in the relations, and hence to formulate their queries correctly</a:t>
            </a:r>
          </a:p>
          <a:p>
            <a:pPr marL="457200" indent="-457200" algn="l">
              <a:buFont typeface="+mj-lt"/>
              <a:buAutoNum type="arabicPeriod"/>
            </a:pPr>
            <a:r>
              <a:rPr lang="en-US" sz="2400" b="1" dirty="0">
                <a:solidFill>
                  <a:schemeClr val="tx1"/>
                </a:solidFill>
              </a:rPr>
              <a:t>The second is the implementation (or storage) level-</a:t>
            </a:r>
          </a:p>
          <a:p>
            <a:pPr marL="914400" lvl="1" indent="-457200" algn="l">
              <a:buFont typeface="Arial" pitchFamily="34" charset="0"/>
              <a:buChar char="•"/>
            </a:pPr>
            <a:r>
              <a:rPr lang="en-US" sz="2000" dirty="0">
                <a:solidFill>
                  <a:schemeClr val="tx1"/>
                </a:solidFill>
              </a:rPr>
              <a:t>how the tuples in a base relation are stored and updated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
            <a:ext cx="7772400" cy="457200"/>
          </a:xfrm>
        </p:spPr>
        <p:txBody>
          <a:bodyPr>
            <a:noAutofit/>
          </a:bodyPr>
          <a:lstStyle/>
          <a:p>
            <a:endParaRPr lang="en-US" sz="2400" dirty="0"/>
          </a:p>
        </p:txBody>
      </p:sp>
      <p:sp>
        <p:nvSpPr>
          <p:cNvPr id="3" name="Subtitle 2"/>
          <p:cNvSpPr>
            <a:spLocks noGrp="1"/>
          </p:cNvSpPr>
          <p:nvPr>
            <p:ph type="subTitle" idx="1"/>
          </p:nvPr>
        </p:nvSpPr>
        <p:spPr>
          <a:xfrm>
            <a:off x="152400" y="457200"/>
            <a:ext cx="8839200" cy="6400800"/>
          </a:xfrm>
        </p:spPr>
        <p:txBody>
          <a:bodyPr/>
          <a:lstStyle/>
          <a:p>
            <a:pPr algn="l">
              <a:buFont typeface="Arial" pitchFamily="34" charset="0"/>
              <a:buChar char="•"/>
            </a:pPr>
            <a:r>
              <a:rPr lang="en-US" sz="2400" dirty="0">
                <a:solidFill>
                  <a:schemeClr val="tx1"/>
                </a:solidFill>
              </a:rPr>
              <a:t>database design may be performed using two approaches: </a:t>
            </a:r>
          </a:p>
          <a:p>
            <a:pPr algn="l"/>
            <a:r>
              <a:rPr lang="en-US" sz="2400" b="1" dirty="0">
                <a:solidFill>
                  <a:schemeClr val="tx1"/>
                </a:solidFill>
              </a:rPr>
              <a:t>A)bottom-up </a:t>
            </a:r>
          </a:p>
          <a:p>
            <a:pPr algn="l"/>
            <a:r>
              <a:rPr lang="en-US" sz="2400" dirty="0">
                <a:solidFill>
                  <a:schemeClr val="tx1"/>
                </a:solidFill>
              </a:rPr>
              <a:t>A bottom-up design methodology (also called </a:t>
            </a:r>
            <a:r>
              <a:rPr lang="en-US" sz="2400" i="1" dirty="0">
                <a:solidFill>
                  <a:schemeClr val="tx1"/>
                </a:solidFill>
              </a:rPr>
              <a:t>design by synthesis) considers the </a:t>
            </a:r>
            <a:r>
              <a:rPr lang="en-US" sz="2400" b="1" i="1" dirty="0">
                <a:solidFill>
                  <a:schemeClr val="tx1"/>
                </a:solidFill>
              </a:rPr>
              <a:t>basic relationships among individual attributes </a:t>
            </a:r>
            <a:r>
              <a:rPr lang="en-US" sz="2400" i="1" dirty="0">
                <a:solidFill>
                  <a:schemeClr val="tx1"/>
                </a:solidFill>
              </a:rPr>
              <a:t>as the starting </a:t>
            </a:r>
            <a:r>
              <a:rPr lang="en-US" sz="2400" dirty="0">
                <a:solidFill>
                  <a:schemeClr val="tx1"/>
                </a:solidFill>
              </a:rPr>
              <a:t>point and uses those to construct relation schemas</a:t>
            </a:r>
          </a:p>
          <a:p>
            <a:pPr algn="l"/>
            <a:r>
              <a:rPr lang="en-US" sz="2400" dirty="0">
                <a:solidFill>
                  <a:schemeClr val="tx1"/>
                </a:solidFill>
              </a:rPr>
              <a:t>B)</a:t>
            </a:r>
            <a:r>
              <a:rPr lang="en-US" sz="2400" b="1" dirty="0">
                <a:solidFill>
                  <a:schemeClr val="tx1"/>
                </a:solidFill>
              </a:rPr>
              <a:t> Top-down</a:t>
            </a:r>
          </a:p>
          <a:p>
            <a:pPr algn="l">
              <a:buFont typeface="Arial" pitchFamily="34" charset="0"/>
              <a:buChar char="•"/>
            </a:pPr>
            <a:r>
              <a:rPr lang="en-US" sz="2400" dirty="0">
                <a:solidFill>
                  <a:schemeClr val="tx1"/>
                </a:solidFill>
              </a:rPr>
              <a:t>starts with a number of groupings of attributes into relations that exist together naturally, for example, on an invoice, a form, or a report.</a:t>
            </a:r>
          </a:p>
          <a:p>
            <a:pPr algn="l">
              <a:buFont typeface="Arial" pitchFamily="34" charset="0"/>
              <a:buChar char="•"/>
            </a:pPr>
            <a:r>
              <a:rPr lang="en-US" sz="2400" dirty="0">
                <a:solidFill>
                  <a:schemeClr val="tx1"/>
                </a:solidFill>
              </a:rPr>
              <a:t>The relations are then analyzed individually and collectively, leading to further decomposition </a:t>
            </a:r>
            <a:r>
              <a:rPr lang="en-US" sz="2400" dirty="0">
                <a:solidFill>
                  <a:srgbClr val="FF0000"/>
                </a:solidFill>
              </a:rPr>
              <a:t>until all desirable properties are met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304800"/>
            <a:ext cx="7772400" cy="457200"/>
          </a:xfrm>
        </p:spPr>
        <p:txBody>
          <a:bodyPr>
            <a:noAutofit/>
          </a:bodyPr>
          <a:lstStyle/>
          <a:p>
            <a:pPr algn="l"/>
            <a:r>
              <a:rPr lang="en-US" sz="2400" b="1" dirty="0"/>
              <a:t>INFORMAL DESIGN GUIDELINES FOR RELATION SCHEMAS</a:t>
            </a:r>
            <a:endParaRPr lang="en-US" sz="2400" dirty="0"/>
          </a:p>
        </p:txBody>
      </p:sp>
      <p:sp>
        <p:nvSpPr>
          <p:cNvPr id="3" name="Subtitle 2"/>
          <p:cNvSpPr>
            <a:spLocks noGrp="1"/>
          </p:cNvSpPr>
          <p:nvPr>
            <p:ph type="subTitle" idx="1"/>
          </p:nvPr>
        </p:nvSpPr>
        <p:spPr>
          <a:xfrm>
            <a:off x="152400" y="1066800"/>
            <a:ext cx="8839200" cy="5486400"/>
          </a:xfrm>
        </p:spPr>
        <p:txBody>
          <a:bodyPr>
            <a:normAutofit fontScale="92500"/>
          </a:bodyPr>
          <a:lstStyle/>
          <a:p>
            <a:pPr marL="457200" indent="-457200" algn="l">
              <a:buFont typeface="Wingdings" pitchFamily="2" charset="2"/>
              <a:buChar char="§"/>
            </a:pPr>
            <a:r>
              <a:rPr lang="en-US" sz="2400" dirty="0">
                <a:solidFill>
                  <a:schemeClr val="tx1"/>
                </a:solidFill>
              </a:rPr>
              <a:t>Four </a:t>
            </a:r>
            <a:r>
              <a:rPr lang="en-US" sz="2400" i="1" dirty="0">
                <a:solidFill>
                  <a:schemeClr val="tx1"/>
                </a:solidFill>
              </a:rPr>
              <a:t>informal measures of quality for relation schema design</a:t>
            </a:r>
          </a:p>
          <a:p>
            <a:pPr marL="914400" lvl="1" indent="-457200" algn="l">
              <a:buFont typeface="Wingdings" pitchFamily="2" charset="2"/>
              <a:buChar char="§"/>
            </a:pPr>
            <a:r>
              <a:rPr lang="en-US" sz="2000" dirty="0">
                <a:solidFill>
                  <a:schemeClr val="tx1"/>
                </a:solidFill>
              </a:rPr>
              <a:t>Semantics of the attributes</a:t>
            </a:r>
          </a:p>
          <a:p>
            <a:pPr marL="914400" lvl="1" indent="-457200" algn="l">
              <a:buFont typeface="Wingdings" pitchFamily="2" charset="2"/>
              <a:buChar char="§"/>
            </a:pPr>
            <a:r>
              <a:rPr lang="en-US" sz="2000" dirty="0">
                <a:solidFill>
                  <a:schemeClr val="tx1"/>
                </a:solidFill>
              </a:rPr>
              <a:t>Reducing the redundant values in tuples</a:t>
            </a:r>
          </a:p>
          <a:p>
            <a:pPr marL="914400" lvl="1" indent="-457200" algn="l">
              <a:buFont typeface="Wingdings" pitchFamily="2" charset="2"/>
              <a:buChar char="§"/>
            </a:pPr>
            <a:r>
              <a:rPr lang="en-US" sz="2000" dirty="0">
                <a:solidFill>
                  <a:schemeClr val="tx1"/>
                </a:solidFill>
              </a:rPr>
              <a:t>Reducing the null values in tuples</a:t>
            </a:r>
          </a:p>
          <a:p>
            <a:pPr marL="914400" lvl="1" indent="-457200" algn="l">
              <a:buFont typeface="Wingdings" pitchFamily="2" charset="2"/>
              <a:buChar char="§"/>
            </a:pPr>
            <a:r>
              <a:rPr lang="en-US" sz="2000" dirty="0">
                <a:solidFill>
                  <a:schemeClr val="tx1"/>
                </a:solidFill>
              </a:rPr>
              <a:t> Disallowing the possibility of generating </a:t>
            </a:r>
            <a:r>
              <a:rPr lang="en-US" sz="2000" b="1" dirty="0">
                <a:solidFill>
                  <a:schemeClr val="tx1"/>
                </a:solidFill>
              </a:rPr>
              <a:t>spurious tuples</a:t>
            </a:r>
          </a:p>
          <a:p>
            <a:pPr marL="457200" indent="-457200" algn="l">
              <a:buFont typeface="Wingdings" pitchFamily="2" charset="2"/>
              <a:buChar char="§"/>
            </a:pPr>
            <a:r>
              <a:rPr lang="en-US" sz="2400" dirty="0">
                <a:solidFill>
                  <a:schemeClr val="tx1"/>
                </a:solidFill>
              </a:rPr>
              <a:t>Whenever we group attributes to form a relation schema, </a:t>
            </a:r>
            <a:r>
              <a:rPr lang="en-US" sz="2400" b="1" dirty="0">
                <a:solidFill>
                  <a:schemeClr val="tx1"/>
                </a:solidFill>
              </a:rPr>
              <a:t>we assume that attributes belonging to one relation have certain real-world meaning</a:t>
            </a:r>
            <a:r>
              <a:rPr lang="en-US" sz="2400" dirty="0">
                <a:solidFill>
                  <a:schemeClr val="tx1"/>
                </a:solidFill>
              </a:rPr>
              <a:t> and a proper interpretation associated with them</a:t>
            </a:r>
          </a:p>
          <a:p>
            <a:pPr marL="457200" indent="-457200" algn="l">
              <a:buFont typeface="Wingdings" pitchFamily="2" charset="2"/>
              <a:buChar char="§"/>
            </a:pPr>
            <a:r>
              <a:rPr lang="en-US" sz="2400" dirty="0">
                <a:solidFill>
                  <a:schemeClr val="tx1"/>
                </a:solidFill>
              </a:rPr>
              <a:t>This meaning, or semantics, specifies </a:t>
            </a:r>
            <a:r>
              <a:rPr lang="en-US" sz="2400" b="1" dirty="0">
                <a:solidFill>
                  <a:schemeClr val="tx1"/>
                </a:solidFill>
              </a:rPr>
              <a:t>how to interpret the attribute values stored in a tuple of the relation</a:t>
            </a:r>
            <a:r>
              <a:rPr lang="en-US" sz="2400" dirty="0">
                <a:solidFill>
                  <a:schemeClr val="tx1"/>
                </a:solidFill>
              </a:rPr>
              <a:t>-in other words, </a:t>
            </a:r>
            <a:r>
              <a:rPr lang="en-US" sz="2400" dirty="0">
                <a:solidFill>
                  <a:srgbClr val="FF0000"/>
                </a:solidFill>
              </a:rPr>
              <a:t>how the attribute values in a tuple relate to one another.</a:t>
            </a:r>
          </a:p>
          <a:p>
            <a:pPr marL="457200" indent="-457200" algn="l">
              <a:buFont typeface="Wingdings" pitchFamily="2" charset="2"/>
              <a:buChar char="§"/>
            </a:pPr>
            <a:r>
              <a:rPr lang="en-US" sz="2400" dirty="0">
                <a:solidFill>
                  <a:schemeClr val="tx1"/>
                </a:solidFill>
              </a:rPr>
              <a:t> If the conceptual design is done carefully, followed by a </a:t>
            </a:r>
            <a:r>
              <a:rPr lang="en-US" sz="2400" b="1" dirty="0">
                <a:solidFill>
                  <a:schemeClr val="tx1"/>
                </a:solidFill>
              </a:rPr>
              <a:t>systematic mapping into relation</a:t>
            </a:r>
            <a:r>
              <a:rPr lang="en-US" sz="2400" dirty="0">
                <a:solidFill>
                  <a:schemeClr val="tx1"/>
                </a:solidFill>
              </a:rPr>
              <a:t>s, most of the semantics will have been accounted for and the </a:t>
            </a:r>
            <a:r>
              <a:rPr lang="en-US" sz="2400" dirty="0">
                <a:solidFill>
                  <a:srgbClr val="FF0000"/>
                </a:solidFill>
              </a:rPr>
              <a:t>resulting design should have a clear meaning</a:t>
            </a:r>
            <a:r>
              <a:rPr lang="en-US" sz="2400" dirty="0">
                <a:solidFill>
                  <a:schemeClr val="tx1"/>
                </a:solidFill>
              </a:rPr>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7772400" cy="457200"/>
          </a:xfrm>
        </p:spPr>
        <p:txBody>
          <a:bodyPr>
            <a:noAutofit/>
          </a:bodyPr>
          <a:lstStyle/>
          <a:p>
            <a:r>
              <a:rPr lang="en-US" sz="2400" dirty="0"/>
              <a:t>Example</a:t>
            </a:r>
          </a:p>
        </p:txBody>
      </p:sp>
      <p:sp>
        <p:nvSpPr>
          <p:cNvPr id="3" name="Subtitle 2"/>
          <p:cNvSpPr>
            <a:spLocks noGrp="1"/>
          </p:cNvSpPr>
          <p:nvPr>
            <p:ph type="subTitle" idx="1"/>
          </p:nvPr>
        </p:nvSpPr>
        <p:spPr>
          <a:xfrm>
            <a:off x="152400" y="685800"/>
            <a:ext cx="8839200" cy="5791200"/>
          </a:xfrm>
        </p:spPr>
        <p:txBody>
          <a:bodyPr>
            <a:normAutofit fontScale="92500"/>
          </a:bodyPr>
          <a:lstStyle/>
          <a:p>
            <a:pPr marL="457200" indent="-457200" algn="l">
              <a:buFont typeface="Wingdings" pitchFamily="2" charset="2"/>
              <a:buChar char="§"/>
            </a:pPr>
            <a:r>
              <a:rPr lang="en-US" sz="2400" dirty="0">
                <a:solidFill>
                  <a:schemeClr val="tx1"/>
                </a:solidFill>
              </a:rPr>
              <a:t>The meaning of the EMPLOYEE relation schema is quite simple: Each tuple represents an employee, with values for the employee's name (ENAME. social security number (SSN), birth date (BDATE), and address (ADDRESS), and the number of the department that the employee works for (DNUMBER).</a:t>
            </a:r>
          </a:p>
          <a:p>
            <a:pPr marL="457200" indent="-457200" algn="l">
              <a:buFont typeface="Wingdings" pitchFamily="2" charset="2"/>
              <a:buChar char="§"/>
            </a:pPr>
            <a:r>
              <a:rPr lang="en-US" sz="2400" dirty="0">
                <a:solidFill>
                  <a:schemeClr val="tx1"/>
                </a:solidFill>
              </a:rPr>
              <a:t> The DNUMBER attribute is a foreign key that represents an </a:t>
            </a:r>
            <a:r>
              <a:rPr lang="en-US" sz="2400" i="1" dirty="0">
                <a:solidFill>
                  <a:schemeClr val="tx1"/>
                </a:solidFill>
              </a:rPr>
              <a:t>implicit relationship between EMPLOYEE and </a:t>
            </a:r>
            <a:r>
              <a:rPr lang="en-US" sz="2400" dirty="0">
                <a:solidFill>
                  <a:schemeClr val="tx1"/>
                </a:solidFill>
              </a:rPr>
              <a:t>DEPARTMENT.</a:t>
            </a:r>
          </a:p>
          <a:p>
            <a:pPr marL="457200" indent="-457200" algn="l">
              <a:buFont typeface="Wingdings" pitchFamily="2" charset="2"/>
              <a:buChar char="§"/>
            </a:pPr>
            <a:r>
              <a:rPr lang="en-US" sz="2400" dirty="0">
                <a:solidFill>
                  <a:schemeClr val="tx1"/>
                </a:solidFill>
              </a:rPr>
              <a:t> The semantics of the DEPARTMENT and PROJECT schemas are also straightforward: Each DEPARTMENT tuple represents a department entity, and each PROJECT tuple represents a project entity. </a:t>
            </a:r>
          </a:p>
          <a:p>
            <a:pPr marL="457200" indent="-457200" algn="l">
              <a:buFont typeface="Wingdings" pitchFamily="2" charset="2"/>
              <a:buChar char="§"/>
            </a:pPr>
            <a:r>
              <a:rPr lang="en-US" sz="2400" dirty="0">
                <a:solidFill>
                  <a:schemeClr val="tx1"/>
                </a:solidFill>
              </a:rPr>
              <a:t>The attribute DMGRSSN of DEPARTMENT relates a department to the employee who is its manager, while DNUM of PROJECT relates a project to its controlling department; both are foreign key attributes.</a:t>
            </a:r>
          </a:p>
          <a:p>
            <a:pPr marL="457200" indent="-457200" algn="l">
              <a:buFont typeface="Wingdings" pitchFamily="2" charset="2"/>
              <a:buChar char="§"/>
            </a:pPr>
            <a:r>
              <a:rPr lang="en-US" sz="2400" dirty="0">
                <a:solidFill>
                  <a:schemeClr val="tx1"/>
                </a:solidFill>
              </a:rPr>
              <a:t> The ease with which the meaning of a relation's </a:t>
            </a:r>
            <a:r>
              <a:rPr lang="en-US" sz="2400" dirty="0" err="1">
                <a:solidFill>
                  <a:schemeClr val="tx1"/>
                </a:solidFill>
              </a:rPr>
              <a:t>atributes</a:t>
            </a:r>
            <a:r>
              <a:rPr lang="en-US" sz="2400" dirty="0">
                <a:solidFill>
                  <a:schemeClr val="tx1"/>
                </a:solidFill>
              </a:rPr>
              <a:t> can be explained is an </a:t>
            </a:r>
            <a:r>
              <a:rPr lang="en-US" sz="2400" i="1" dirty="0">
                <a:solidFill>
                  <a:schemeClr val="accent2"/>
                </a:solidFill>
              </a:rPr>
              <a:t>informal measure of how well the relation is designed</a:t>
            </a:r>
            <a:endParaRPr lang="en-US" sz="2400" dirty="0">
              <a:solidFill>
                <a:schemeClr val="accent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
            <a:ext cx="7772400" cy="457200"/>
          </a:xfrm>
        </p:spPr>
        <p:txBody>
          <a:bodyPr>
            <a:noAutofit/>
          </a:bodyPr>
          <a:lstStyle/>
          <a:p>
            <a:endParaRPr lang="en-US" sz="2400" dirty="0"/>
          </a:p>
        </p:txBody>
      </p:sp>
      <p:sp>
        <p:nvSpPr>
          <p:cNvPr id="3" name="Subtitle 2"/>
          <p:cNvSpPr>
            <a:spLocks noGrp="1"/>
          </p:cNvSpPr>
          <p:nvPr>
            <p:ph type="subTitle" idx="1"/>
          </p:nvPr>
        </p:nvSpPr>
        <p:spPr>
          <a:xfrm>
            <a:off x="152400" y="457200"/>
            <a:ext cx="8839200" cy="6400800"/>
          </a:xfrm>
        </p:spPr>
        <p:txBody>
          <a:bodyPr>
            <a:normAutofit/>
          </a:bodyPr>
          <a:lstStyle/>
          <a:p>
            <a:pPr algn="l">
              <a:buFont typeface="Arial" pitchFamily="34" charset="0"/>
              <a:buChar char="•"/>
            </a:pPr>
            <a:endParaRPr lang="en-US" sz="2400" dirty="0">
              <a:solidFill>
                <a:schemeClr val="tx1"/>
              </a:solidFill>
            </a:endParaRPr>
          </a:p>
        </p:txBody>
      </p:sp>
      <p:pic>
        <p:nvPicPr>
          <p:cNvPr id="1026" name="Picture 2"/>
          <p:cNvPicPr>
            <a:picLocks noChangeAspect="1" noChangeArrowheads="1"/>
          </p:cNvPicPr>
          <p:nvPr/>
        </p:nvPicPr>
        <p:blipFill>
          <a:blip r:embed="rId2"/>
          <a:srcRect/>
          <a:stretch>
            <a:fillRect/>
          </a:stretch>
        </p:blipFill>
        <p:spPr bwMode="auto">
          <a:xfrm>
            <a:off x="152400" y="533400"/>
            <a:ext cx="9144000" cy="609600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
            <a:ext cx="7772400" cy="457200"/>
          </a:xfrm>
        </p:spPr>
        <p:txBody>
          <a:bodyPr>
            <a:noAutofit/>
          </a:bodyPr>
          <a:lstStyle/>
          <a:p>
            <a:endParaRPr lang="en-US" sz="2400" dirty="0"/>
          </a:p>
        </p:txBody>
      </p:sp>
      <p:sp>
        <p:nvSpPr>
          <p:cNvPr id="3" name="Subtitle 2"/>
          <p:cNvSpPr>
            <a:spLocks noGrp="1"/>
          </p:cNvSpPr>
          <p:nvPr>
            <p:ph type="subTitle" idx="1"/>
          </p:nvPr>
        </p:nvSpPr>
        <p:spPr>
          <a:xfrm>
            <a:off x="152400" y="457200"/>
            <a:ext cx="8839200" cy="6400800"/>
          </a:xfrm>
        </p:spPr>
        <p:txBody>
          <a:bodyPr>
            <a:normAutofit/>
          </a:bodyPr>
          <a:lstStyle/>
          <a:p>
            <a:pPr algn="l"/>
            <a:r>
              <a:rPr lang="en-US" sz="2400" b="1" dirty="0">
                <a:solidFill>
                  <a:schemeClr val="tx1"/>
                </a:solidFill>
              </a:rPr>
              <a:t>GUIDELINE 1</a:t>
            </a:r>
          </a:p>
          <a:p>
            <a:pPr marL="457200" indent="-457200" algn="l">
              <a:buFont typeface="Arial" pitchFamily="34" charset="0"/>
              <a:buChar char="•"/>
            </a:pPr>
            <a:r>
              <a:rPr lang="en-US" sz="2400" dirty="0">
                <a:solidFill>
                  <a:schemeClr val="tx1"/>
                </a:solidFill>
              </a:rPr>
              <a:t>Design a relation schema so that it is easy to explain its meaning. Do </a:t>
            </a:r>
            <a:r>
              <a:rPr lang="en-US" sz="2400" b="1" dirty="0">
                <a:solidFill>
                  <a:schemeClr val="tx1"/>
                </a:solidFill>
              </a:rPr>
              <a:t>not combine attributes from multiple entity types and relationship types into a single relation.</a:t>
            </a:r>
          </a:p>
          <a:p>
            <a:pPr algn="l">
              <a:buFont typeface="Arial" pitchFamily="34" charset="0"/>
              <a:buChar char="•"/>
            </a:pPr>
            <a:endParaRPr lang="en-US" sz="2400" dirty="0">
              <a:solidFill>
                <a:schemeClr val="tx1"/>
              </a:solidFill>
            </a:endParaRPr>
          </a:p>
        </p:txBody>
      </p:sp>
      <p:sp>
        <p:nvSpPr>
          <p:cNvPr id="5" name="Rectangle 4"/>
          <p:cNvSpPr/>
          <p:nvPr/>
        </p:nvSpPr>
        <p:spPr>
          <a:xfrm>
            <a:off x="152400" y="2133600"/>
            <a:ext cx="8839200" cy="4572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1" name="Picture 3"/>
          <p:cNvPicPr>
            <a:picLocks noChangeAspect="1" noChangeArrowheads="1"/>
          </p:cNvPicPr>
          <p:nvPr/>
        </p:nvPicPr>
        <p:blipFill>
          <a:blip r:embed="rId2"/>
          <a:srcRect/>
          <a:stretch>
            <a:fillRect/>
          </a:stretch>
        </p:blipFill>
        <p:spPr bwMode="auto">
          <a:xfrm>
            <a:off x="0" y="2057400"/>
            <a:ext cx="9144000" cy="46482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
            <a:ext cx="7772400" cy="457200"/>
          </a:xfrm>
        </p:spPr>
        <p:txBody>
          <a:bodyPr>
            <a:noAutofit/>
          </a:bodyPr>
          <a:lstStyle/>
          <a:p>
            <a:endParaRPr lang="en-US" sz="2400" dirty="0"/>
          </a:p>
        </p:txBody>
      </p:sp>
      <p:sp>
        <p:nvSpPr>
          <p:cNvPr id="3" name="Subtitle 2"/>
          <p:cNvSpPr>
            <a:spLocks noGrp="1"/>
          </p:cNvSpPr>
          <p:nvPr>
            <p:ph type="subTitle" idx="1"/>
          </p:nvPr>
        </p:nvSpPr>
        <p:spPr>
          <a:xfrm>
            <a:off x="152400" y="457200"/>
            <a:ext cx="8839200" cy="6400800"/>
          </a:xfrm>
        </p:spPr>
        <p:txBody>
          <a:bodyPr>
            <a:normAutofit/>
          </a:bodyPr>
          <a:lstStyle/>
          <a:p>
            <a:pPr marL="457200" indent="-457200" algn="l">
              <a:buFont typeface="Arial" pitchFamily="34" charset="0"/>
              <a:buChar char="•"/>
            </a:pPr>
            <a:r>
              <a:rPr lang="en-US" sz="2400" dirty="0">
                <a:solidFill>
                  <a:schemeClr val="tx1"/>
                </a:solidFill>
                <a:latin typeface="Times New Roman" pitchFamily="18" charset="0"/>
                <a:cs typeface="Times New Roman" pitchFamily="18" charset="0"/>
              </a:rPr>
              <a:t>Figure 10.3a represents a single employee but includes additional information-namely, </a:t>
            </a:r>
            <a:r>
              <a:rPr lang="en-US" sz="2400" b="1" dirty="0">
                <a:solidFill>
                  <a:schemeClr val="tx1"/>
                </a:solidFill>
                <a:latin typeface="Times New Roman" pitchFamily="18" charset="0"/>
                <a:cs typeface="Times New Roman" pitchFamily="18" charset="0"/>
              </a:rPr>
              <a:t>the name (DNAME) of the department for which the employee works</a:t>
            </a:r>
            <a:r>
              <a:rPr lang="en-US" sz="2400" dirty="0">
                <a:solidFill>
                  <a:schemeClr val="tx1"/>
                </a:solidFill>
                <a:latin typeface="Times New Roman" pitchFamily="18" charset="0"/>
                <a:cs typeface="Times New Roman" pitchFamily="18" charset="0"/>
              </a:rPr>
              <a:t> and the social security number </a:t>
            </a:r>
            <a:r>
              <a:rPr lang="en-US" sz="2400" b="1" dirty="0">
                <a:solidFill>
                  <a:schemeClr val="tx1"/>
                </a:solidFill>
                <a:latin typeface="Times New Roman" pitchFamily="18" charset="0"/>
                <a:cs typeface="Times New Roman" pitchFamily="18" charset="0"/>
              </a:rPr>
              <a:t>(DMGRSSN) </a:t>
            </a:r>
            <a:r>
              <a:rPr lang="en-US" sz="2400" dirty="0">
                <a:solidFill>
                  <a:schemeClr val="tx1"/>
                </a:solidFill>
                <a:latin typeface="Times New Roman" pitchFamily="18" charset="0"/>
                <a:cs typeface="Times New Roman" pitchFamily="18" charset="0"/>
              </a:rPr>
              <a:t>of the department manager. </a:t>
            </a:r>
          </a:p>
          <a:p>
            <a:pPr marL="457200" indent="-457200" algn="l">
              <a:buFont typeface="Arial" pitchFamily="34" charset="0"/>
              <a:buChar char="•"/>
            </a:pPr>
            <a:r>
              <a:rPr lang="en-US" sz="2400" dirty="0">
                <a:solidFill>
                  <a:schemeClr val="tx1"/>
                </a:solidFill>
                <a:latin typeface="Times New Roman" pitchFamily="18" charset="0"/>
                <a:cs typeface="Times New Roman" pitchFamily="18" charset="0"/>
              </a:rPr>
              <a:t>For the EMP_PROJ relation of Figure 10.3b, each tuple relates an employee to a project but also includes the </a:t>
            </a:r>
            <a:r>
              <a:rPr lang="en-US" sz="2400" b="1" dirty="0">
                <a:solidFill>
                  <a:schemeClr val="tx1"/>
                </a:solidFill>
                <a:latin typeface="Times New Roman" pitchFamily="18" charset="0"/>
                <a:cs typeface="Times New Roman" pitchFamily="18" charset="0"/>
              </a:rPr>
              <a:t>employee name (ENAME</a:t>
            </a:r>
            <a:r>
              <a:rPr lang="en-US" sz="2400" dirty="0">
                <a:solidFill>
                  <a:schemeClr val="tx1"/>
                </a:solidFill>
                <a:latin typeface="Times New Roman" pitchFamily="18" charset="0"/>
                <a:cs typeface="Times New Roman" pitchFamily="18" charset="0"/>
              </a:rPr>
              <a:t>), project name (PNAME), and project location (PLOCATION).</a:t>
            </a:r>
          </a:p>
          <a:p>
            <a:pPr marL="457200" indent="-457200" algn="l">
              <a:buFont typeface="Arial" pitchFamily="34" charset="0"/>
              <a:buChar char="•"/>
            </a:pPr>
            <a:r>
              <a:rPr lang="en-US" sz="2400" dirty="0">
                <a:solidFill>
                  <a:schemeClr val="tx1"/>
                </a:solidFill>
                <a:latin typeface="Times New Roman" pitchFamily="18" charset="0"/>
                <a:cs typeface="Times New Roman" pitchFamily="18" charset="0"/>
              </a:rPr>
              <a:t> Although there is nothing wrong logically with these two relations, they are considered poor designs because they </a:t>
            </a:r>
            <a:r>
              <a:rPr lang="en-US" sz="2400" b="1" dirty="0">
                <a:solidFill>
                  <a:srgbClr val="FF0000"/>
                </a:solidFill>
                <a:latin typeface="Times New Roman" pitchFamily="18" charset="0"/>
                <a:cs typeface="Times New Roman" pitchFamily="18" charset="0"/>
              </a:rPr>
              <a:t>violate Guideline 1 by mixing attributes from distinct real-world entities</a:t>
            </a:r>
            <a:r>
              <a:rPr lang="en-US" sz="2400" dirty="0">
                <a:solidFill>
                  <a:srgbClr val="FF0000"/>
                </a:solidFill>
                <a:latin typeface="Times New Roman" pitchFamily="18" charset="0"/>
                <a:cs typeface="Times New Roman" pitchFamily="18" charset="0"/>
              </a:rPr>
              <a:t>;</a:t>
            </a:r>
          </a:p>
          <a:p>
            <a:pPr marL="457200" indent="-457200" algn="l">
              <a:buFont typeface="Arial" pitchFamily="34" charset="0"/>
              <a:buChar char="•"/>
            </a:pPr>
            <a:r>
              <a:rPr lang="en-US" sz="2400" b="1" dirty="0">
                <a:solidFill>
                  <a:schemeClr val="tx1"/>
                </a:solidFill>
                <a:latin typeface="Times New Roman" pitchFamily="18" charset="0"/>
                <a:cs typeface="Times New Roman" pitchFamily="18" charset="0"/>
              </a:rPr>
              <a:t>EMP_DEPT mixes attributes of </a:t>
            </a:r>
            <a:r>
              <a:rPr lang="en-US" sz="2400" b="1" dirty="0">
                <a:solidFill>
                  <a:schemeClr val="accent2"/>
                </a:solidFill>
                <a:latin typeface="Times New Roman" pitchFamily="18" charset="0"/>
                <a:cs typeface="Times New Roman" pitchFamily="18" charset="0"/>
              </a:rPr>
              <a:t>employees</a:t>
            </a:r>
            <a:r>
              <a:rPr lang="en-US" sz="2400" b="1" dirty="0">
                <a:solidFill>
                  <a:schemeClr val="tx1"/>
                </a:solidFill>
                <a:latin typeface="Times New Roman" pitchFamily="18" charset="0"/>
                <a:cs typeface="Times New Roman" pitchFamily="18" charset="0"/>
              </a:rPr>
              <a:t> and  </a:t>
            </a:r>
            <a:r>
              <a:rPr lang="en-US" sz="2400" b="1" dirty="0">
                <a:solidFill>
                  <a:schemeClr val="accent2"/>
                </a:solidFill>
                <a:latin typeface="Times New Roman" pitchFamily="18" charset="0"/>
                <a:cs typeface="Times New Roman" pitchFamily="18" charset="0"/>
              </a:rPr>
              <a:t>departments</a:t>
            </a:r>
            <a:r>
              <a:rPr lang="en-US" sz="2400" b="1" dirty="0">
                <a:solidFill>
                  <a:schemeClr val="tx1"/>
                </a:solidFill>
                <a:latin typeface="Times New Roman" pitchFamily="18" charset="0"/>
                <a:cs typeface="Times New Roman" pitchFamily="18" charset="0"/>
              </a:rPr>
              <a:t>, and EMP_PROJ mixes attributes of </a:t>
            </a:r>
            <a:r>
              <a:rPr lang="en-US" sz="2400" b="1" dirty="0">
                <a:solidFill>
                  <a:schemeClr val="accent2"/>
                </a:solidFill>
                <a:latin typeface="Times New Roman" pitchFamily="18" charset="0"/>
                <a:cs typeface="Times New Roman" pitchFamily="18" charset="0"/>
              </a:rPr>
              <a:t>employees</a:t>
            </a:r>
            <a:r>
              <a:rPr lang="en-US" sz="2400" b="1" dirty="0">
                <a:solidFill>
                  <a:schemeClr val="tx1"/>
                </a:solidFill>
                <a:latin typeface="Times New Roman" pitchFamily="18" charset="0"/>
                <a:cs typeface="Times New Roman" pitchFamily="18" charset="0"/>
              </a:rPr>
              <a:t> and </a:t>
            </a:r>
            <a:r>
              <a:rPr lang="en-US" sz="2400" b="1" dirty="0">
                <a:solidFill>
                  <a:schemeClr val="accent2"/>
                </a:solidFill>
                <a:latin typeface="Times New Roman" pitchFamily="18" charset="0"/>
                <a:cs typeface="Times New Roman" pitchFamily="18" charset="0"/>
              </a:rPr>
              <a:t>projects</a:t>
            </a:r>
            <a:endParaRPr lang="en-US" sz="2800" b="1" dirty="0">
              <a:solidFill>
                <a:schemeClr val="accent2"/>
              </a:solidFill>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7772400" cy="457200"/>
          </a:xfrm>
        </p:spPr>
        <p:txBody>
          <a:bodyPr>
            <a:noAutofit/>
          </a:bodyPr>
          <a:lstStyle/>
          <a:p>
            <a:r>
              <a:rPr lang="en-US" sz="2400" b="1" dirty="0"/>
              <a:t>Redundant Information in Tuples and Update Anomalies</a:t>
            </a:r>
            <a:endParaRPr lang="en-US" sz="2400" dirty="0"/>
          </a:p>
        </p:txBody>
      </p:sp>
      <p:sp>
        <p:nvSpPr>
          <p:cNvPr id="3" name="Subtitle 2"/>
          <p:cNvSpPr>
            <a:spLocks noGrp="1"/>
          </p:cNvSpPr>
          <p:nvPr>
            <p:ph type="subTitle" idx="1"/>
          </p:nvPr>
        </p:nvSpPr>
        <p:spPr>
          <a:xfrm>
            <a:off x="228600" y="838200"/>
            <a:ext cx="8839200" cy="5715000"/>
          </a:xfrm>
        </p:spPr>
        <p:txBody>
          <a:bodyPr>
            <a:normAutofit fontScale="85000" lnSpcReduction="20000"/>
          </a:bodyPr>
          <a:lstStyle/>
          <a:p>
            <a:pPr marL="514350" indent="-514350" algn="l">
              <a:buFont typeface="Wingdings" pitchFamily="2" charset="2"/>
              <a:buChar char="§"/>
            </a:pPr>
            <a:r>
              <a:rPr lang="en-US" sz="2600" dirty="0">
                <a:solidFill>
                  <a:schemeClr val="tx1"/>
                </a:solidFill>
                <a:latin typeface="Times New Roman" pitchFamily="18" charset="0"/>
                <a:cs typeface="Times New Roman" pitchFamily="18" charset="0"/>
              </a:rPr>
              <a:t>One goal of schema design is to </a:t>
            </a:r>
            <a:r>
              <a:rPr lang="en-US" sz="2600" dirty="0">
                <a:solidFill>
                  <a:srgbClr val="FF0000"/>
                </a:solidFill>
                <a:latin typeface="Times New Roman" pitchFamily="18" charset="0"/>
                <a:cs typeface="Times New Roman" pitchFamily="18" charset="0"/>
              </a:rPr>
              <a:t>minimize the </a:t>
            </a:r>
            <a:r>
              <a:rPr lang="en-US" sz="2600" b="1" dirty="0">
                <a:solidFill>
                  <a:srgbClr val="FF0000"/>
                </a:solidFill>
                <a:latin typeface="Times New Roman" pitchFamily="18" charset="0"/>
                <a:cs typeface="Times New Roman" pitchFamily="18" charset="0"/>
              </a:rPr>
              <a:t>storage space </a:t>
            </a:r>
            <a:r>
              <a:rPr lang="en-US" sz="2600" dirty="0">
                <a:solidFill>
                  <a:schemeClr val="tx1"/>
                </a:solidFill>
                <a:latin typeface="Times New Roman" pitchFamily="18" charset="0"/>
                <a:cs typeface="Times New Roman" pitchFamily="18" charset="0"/>
              </a:rPr>
              <a:t>used by the base relations</a:t>
            </a:r>
          </a:p>
          <a:p>
            <a:pPr marL="514350" indent="-514350" algn="l">
              <a:buFont typeface="Wingdings" pitchFamily="2" charset="2"/>
              <a:buChar char="§"/>
            </a:pPr>
            <a:r>
              <a:rPr lang="en-US" sz="2600" dirty="0">
                <a:solidFill>
                  <a:schemeClr val="tx1"/>
                </a:solidFill>
                <a:latin typeface="Times New Roman" pitchFamily="18" charset="0"/>
                <a:cs typeface="Times New Roman" pitchFamily="18" charset="0"/>
              </a:rPr>
              <a:t>Grouping attributes into relation schemas has a significant effect on storage space.</a:t>
            </a:r>
          </a:p>
          <a:p>
            <a:pPr marL="514350" indent="-514350" algn="l">
              <a:buFont typeface="Wingdings" pitchFamily="2" charset="2"/>
              <a:buChar char="§"/>
            </a:pPr>
            <a:r>
              <a:rPr lang="en-US" sz="2800" dirty="0">
                <a:solidFill>
                  <a:schemeClr val="tx1"/>
                </a:solidFill>
                <a:latin typeface="Times New Roman" pitchFamily="18" charset="0"/>
                <a:cs typeface="Times New Roman" pitchFamily="18" charset="0"/>
              </a:rPr>
              <a:t>For example, compare the space used by the two base relations EMPLOYEE and DEPARTMENT  with that for an EMP_DEPT base relation .</a:t>
            </a:r>
          </a:p>
          <a:p>
            <a:pPr marL="514350" indent="-514350" algn="l">
              <a:buFont typeface="Wingdings" pitchFamily="2" charset="2"/>
              <a:buChar char="§"/>
            </a:pPr>
            <a:r>
              <a:rPr lang="en-US" sz="2800" dirty="0">
                <a:solidFill>
                  <a:schemeClr val="tx1"/>
                </a:solidFill>
                <a:latin typeface="Times New Roman" pitchFamily="18" charset="0"/>
                <a:cs typeface="Times New Roman" pitchFamily="18" charset="0"/>
              </a:rPr>
              <a:t> In EMP_DEPT, the attribute values pertaining to a particular department (DNUMBER,DNAME, DMGRSSN) are </a:t>
            </a:r>
            <a:r>
              <a:rPr lang="en-US" sz="2800" b="1" dirty="0">
                <a:solidFill>
                  <a:srgbClr val="FF0000"/>
                </a:solidFill>
                <a:latin typeface="Times New Roman" pitchFamily="18" charset="0"/>
                <a:cs typeface="Times New Roman" pitchFamily="18" charset="0"/>
              </a:rPr>
              <a:t>repeated for </a:t>
            </a:r>
            <a:r>
              <a:rPr lang="en-US" sz="2800" b="1" i="1" dirty="0">
                <a:solidFill>
                  <a:srgbClr val="FF0000"/>
                </a:solidFill>
                <a:latin typeface="Times New Roman" pitchFamily="18" charset="0"/>
                <a:cs typeface="Times New Roman" pitchFamily="18" charset="0"/>
              </a:rPr>
              <a:t>every employee who works for that department.</a:t>
            </a:r>
          </a:p>
          <a:p>
            <a:pPr marL="514350" indent="-514350" algn="l">
              <a:buFont typeface="Wingdings" pitchFamily="2" charset="2"/>
              <a:buChar char="§"/>
            </a:pPr>
            <a:r>
              <a:rPr lang="en-US" sz="2800" i="1" dirty="0">
                <a:solidFill>
                  <a:schemeClr val="tx1"/>
                </a:solidFill>
                <a:latin typeface="Times New Roman" pitchFamily="18" charset="0"/>
                <a:cs typeface="Times New Roman" pitchFamily="18" charset="0"/>
              </a:rPr>
              <a:t> </a:t>
            </a:r>
            <a:r>
              <a:rPr lang="en-US" sz="2800" i="1" dirty="0">
                <a:solidFill>
                  <a:schemeClr val="accent2"/>
                </a:solidFill>
                <a:latin typeface="Times New Roman" pitchFamily="18" charset="0"/>
                <a:cs typeface="Times New Roman" pitchFamily="18" charset="0"/>
              </a:rPr>
              <a:t>In contrast</a:t>
            </a:r>
            <a:r>
              <a:rPr lang="en-US" sz="2800" i="1" dirty="0">
                <a:solidFill>
                  <a:schemeClr val="tx1"/>
                </a:solidFill>
                <a:latin typeface="Times New Roman" pitchFamily="18" charset="0"/>
                <a:cs typeface="Times New Roman" pitchFamily="18" charset="0"/>
              </a:rPr>
              <a:t>, in the normal design , </a:t>
            </a:r>
            <a:r>
              <a:rPr lang="en-US" sz="2800" dirty="0">
                <a:solidFill>
                  <a:schemeClr val="tx1"/>
                </a:solidFill>
                <a:latin typeface="Times New Roman" pitchFamily="18" charset="0"/>
                <a:cs typeface="Times New Roman" pitchFamily="18" charset="0"/>
              </a:rPr>
              <a:t>each department's information appears only once in the DEPARTMENT relation .</a:t>
            </a:r>
          </a:p>
          <a:p>
            <a:pPr marL="514350" indent="-514350" algn="l">
              <a:buFont typeface="Wingdings" pitchFamily="2" charset="2"/>
              <a:buChar char="§"/>
            </a:pPr>
            <a:r>
              <a:rPr lang="en-US" sz="2800" dirty="0">
                <a:solidFill>
                  <a:schemeClr val="tx1"/>
                </a:solidFill>
                <a:latin typeface="Times New Roman" pitchFamily="18" charset="0"/>
                <a:cs typeface="Times New Roman" pitchFamily="18" charset="0"/>
              </a:rPr>
              <a:t>Only the department number (DNUMBER) is repeated in the EMPLOYEE relation for each employee who works in that department. </a:t>
            </a:r>
          </a:p>
          <a:p>
            <a:pPr marL="514350" indent="-514350" algn="l">
              <a:buFont typeface="Wingdings" pitchFamily="2" charset="2"/>
              <a:buChar char="§"/>
            </a:pPr>
            <a:r>
              <a:rPr lang="en-US" sz="2800" dirty="0">
                <a:solidFill>
                  <a:schemeClr val="tx1"/>
                </a:solidFill>
                <a:latin typeface="Times New Roman" pitchFamily="18" charset="0"/>
                <a:cs typeface="Times New Roman" pitchFamily="18" charset="0"/>
              </a:rPr>
              <a:t>Similar comments apply to the EMP_PRO] relation </a:t>
            </a:r>
            <a:r>
              <a:rPr lang="en-US" sz="2800" i="1" dirty="0">
                <a:solidFill>
                  <a:schemeClr val="tx1"/>
                </a:solidFill>
                <a:latin typeface="Times New Roman" pitchFamily="18" charset="0"/>
                <a:cs typeface="Times New Roman" pitchFamily="18" charset="0"/>
              </a:rPr>
              <a:t>, which augments the WORKS_ON relation with additional attributes from </a:t>
            </a:r>
            <a:r>
              <a:rPr lang="en-US" sz="2800" dirty="0">
                <a:solidFill>
                  <a:schemeClr val="tx1"/>
                </a:solidFill>
                <a:latin typeface="Times New Roman" pitchFamily="18" charset="0"/>
                <a:cs typeface="Times New Roman" pitchFamily="18" charset="0"/>
              </a:rPr>
              <a:t>EMPLOYEE and PROJECT.</a:t>
            </a:r>
          </a:p>
          <a:p>
            <a:pPr marL="457200" indent="-457200" algn="l">
              <a:buFont typeface="Wingdings" pitchFamily="2" charset="2"/>
              <a:buChar char="§"/>
            </a:pPr>
            <a:endParaRPr lang="en-US" sz="2400" dirty="0">
              <a:solidFill>
                <a:schemeClr val="tx1"/>
              </a:solidFill>
              <a:latin typeface="Times New Roman" pitchFamily="18" charset="0"/>
              <a:cs typeface="Times New Roman"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
            <a:ext cx="7772400" cy="457200"/>
          </a:xfrm>
        </p:spPr>
        <p:txBody>
          <a:bodyPr>
            <a:noAutofit/>
          </a:bodyPr>
          <a:lstStyle/>
          <a:p>
            <a:endParaRPr lang="en-US" sz="2400" dirty="0"/>
          </a:p>
        </p:txBody>
      </p:sp>
      <p:sp>
        <p:nvSpPr>
          <p:cNvPr id="3" name="Subtitle 2"/>
          <p:cNvSpPr>
            <a:spLocks noGrp="1"/>
          </p:cNvSpPr>
          <p:nvPr>
            <p:ph type="subTitle" idx="1"/>
          </p:nvPr>
        </p:nvSpPr>
        <p:spPr>
          <a:xfrm>
            <a:off x="152400" y="457200"/>
            <a:ext cx="8839200" cy="6400800"/>
          </a:xfrm>
        </p:spPr>
        <p:txBody>
          <a:bodyPr/>
          <a:lstStyle/>
          <a:p>
            <a:pPr algn="l"/>
            <a:endParaRPr lang="en-US" dirty="0">
              <a:solidFill>
                <a:schemeClr val="tx1"/>
              </a:solidFill>
            </a:endParaRPr>
          </a:p>
        </p:txBody>
      </p:sp>
      <p:pic>
        <p:nvPicPr>
          <p:cNvPr id="3074" name="Picture 2"/>
          <p:cNvPicPr>
            <a:picLocks noChangeAspect="1" noChangeArrowheads="1"/>
          </p:cNvPicPr>
          <p:nvPr/>
        </p:nvPicPr>
        <p:blipFill>
          <a:blip r:embed="rId2"/>
          <a:srcRect/>
          <a:stretch>
            <a:fillRect/>
          </a:stretch>
        </p:blipFill>
        <p:spPr bwMode="auto">
          <a:xfrm>
            <a:off x="0" y="0"/>
            <a:ext cx="9143999" cy="6858000"/>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
            <a:ext cx="7772400" cy="457200"/>
          </a:xfrm>
        </p:spPr>
        <p:txBody>
          <a:bodyPr>
            <a:noAutofit/>
          </a:bodyPr>
          <a:lstStyle/>
          <a:p>
            <a:endParaRPr lang="en-US" sz="2400" dirty="0"/>
          </a:p>
        </p:txBody>
      </p:sp>
      <p:sp>
        <p:nvSpPr>
          <p:cNvPr id="3" name="Subtitle 2"/>
          <p:cNvSpPr>
            <a:spLocks noGrp="1"/>
          </p:cNvSpPr>
          <p:nvPr>
            <p:ph type="subTitle" idx="1"/>
          </p:nvPr>
        </p:nvSpPr>
        <p:spPr>
          <a:xfrm>
            <a:off x="152400" y="457200"/>
            <a:ext cx="8839200" cy="6400800"/>
          </a:xfrm>
        </p:spPr>
        <p:txBody>
          <a:bodyPr>
            <a:normAutofit fontScale="92500" lnSpcReduction="10000"/>
          </a:bodyPr>
          <a:lstStyle/>
          <a:p>
            <a:pPr marL="457200" indent="-457200" algn="l">
              <a:buFont typeface="Wingdings" pitchFamily="2" charset="2"/>
              <a:buChar char="§"/>
            </a:pPr>
            <a:r>
              <a:rPr lang="en-US" sz="2400" dirty="0">
                <a:solidFill>
                  <a:schemeClr val="tx1"/>
                </a:solidFill>
              </a:rPr>
              <a:t>Another serious problem with using the relations in Figure 10.4 is  as base relations is the problem of </a:t>
            </a:r>
            <a:r>
              <a:rPr lang="en-US" sz="2400" dirty="0">
                <a:solidFill>
                  <a:srgbClr val="FF0000"/>
                </a:solidFill>
              </a:rPr>
              <a:t>update anomalies</a:t>
            </a:r>
            <a:r>
              <a:rPr lang="en-US" sz="2400" dirty="0">
                <a:solidFill>
                  <a:schemeClr val="tx1"/>
                </a:solidFill>
              </a:rPr>
              <a:t>. </a:t>
            </a:r>
          </a:p>
          <a:p>
            <a:pPr marL="457200" indent="-457200" algn="l">
              <a:buFont typeface="Wingdings" pitchFamily="2" charset="2"/>
              <a:buChar char="§"/>
            </a:pPr>
            <a:r>
              <a:rPr lang="en-US" sz="2400" dirty="0">
                <a:solidFill>
                  <a:schemeClr val="tx1"/>
                </a:solidFill>
              </a:rPr>
              <a:t>These can be classified into </a:t>
            </a:r>
            <a:r>
              <a:rPr lang="en-US" sz="2400" b="1" dirty="0">
                <a:solidFill>
                  <a:schemeClr val="tx1"/>
                </a:solidFill>
              </a:rPr>
              <a:t>insertion anomalies, deletion anomalies, and modification anomalies.</a:t>
            </a:r>
          </a:p>
          <a:p>
            <a:pPr marL="457200" indent="-457200" algn="l"/>
            <a:r>
              <a:rPr lang="en-US" sz="2400" b="1" dirty="0">
                <a:solidFill>
                  <a:schemeClr val="tx1"/>
                </a:solidFill>
              </a:rPr>
              <a:t>Insertion Anomalies</a:t>
            </a:r>
            <a:r>
              <a:rPr lang="en-US" sz="2400" dirty="0">
                <a:solidFill>
                  <a:schemeClr val="tx1"/>
                </a:solidFill>
              </a:rPr>
              <a:t>.</a:t>
            </a:r>
          </a:p>
          <a:p>
            <a:pPr marL="457200" indent="-457200" algn="l">
              <a:buFont typeface="Wingdings" pitchFamily="2" charset="2"/>
              <a:buChar char="§"/>
            </a:pPr>
            <a:r>
              <a:rPr lang="en-US" sz="2400" dirty="0">
                <a:solidFill>
                  <a:schemeClr val="tx1"/>
                </a:solidFill>
              </a:rPr>
              <a:t> Insertion anomalies can be differentiated into two types, illustrated by the following examples based on the EMP_DEPT relation</a:t>
            </a:r>
          </a:p>
          <a:p>
            <a:pPr marL="457200" indent="-457200" algn="l">
              <a:buFont typeface="Wingdings" pitchFamily="2" charset="2"/>
              <a:buChar char="§"/>
            </a:pPr>
            <a:r>
              <a:rPr lang="en-US" sz="2400" dirty="0">
                <a:solidFill>
                  <a:schemeClr val="tx1"/>
                </a:solidFill>
              </a:rPr>
              <a:t>To insert a new employee tuple into EMP_DEPT, we must include either the attribute values for the department that the employee works for, or nulls (if the employee does not work for a department as yet). </a:t>
            </a:r>
          </a:p>
          <a:p>
            <a:pPr marL="457200" indent="-457200" algn="l">
              <a:buFont typeface="Wingdings" pitchFamily="2" charset="2"/>
              <a:buChar char="§"/>
            </a:pPr>
            <a:r>
              <a:rPr lang="en-US" sz="2400" dirty="0">
                <a:solidFill>
                  <a:schemeClr val="accent2"/>
                </a:solidFill>
              </a:rPr>
              <a:t>For example</a:t>
            </a:r>
            <a:r>
              <a:rPr lang="en-US" sz="2400" dirty="0">
                <a:solidFill>
                  <a:schemeClr val="tx1"/>
                </a:solidFill>
              </a:rPr>
              <a:t>, to insert a new tuple for an employee who works in department number 5, </a:t>
            </a:r>
            <a:r>
              <a:rPr lang="en-US" sz="2400" b="1" dirty="0">
                <a:solidFill>
                  <a:schemeClr val="tx1"/>
                </a:solidFill>
              </a:rPr>
              <a:t>we must enter the attribute values of department 5 correctly so that they are </a:t>
            </a:r>
            <a:r>
              <a:rPr lang="en-US" sz="2400" b="1" i="1" dirty="0">
                <a:solidFill>
                  <a:schemeClr val="tx1"/>
                </a:solidFill>
              </a:rPr>
              <a:t>consistent with values for department 5</a:t>
            </a:r>
            <a:r>
              <a:rPr lang="en-US" sz="2400" i="1" dirty="0">
                <a:solidFill>
                  <a:schemeClr val="tx1"/>
                </a:solidFill>
              </a:rPr>
              <a:t> in other tuples in EMP_DEPT.</a:t>
            </a:r>
          </a:p>
          <a:p>
            <a:pPr marL="457200" indent="-457200" algn="l">
              <a:buFont typeface="Wingdings" pitchFamily="2" charset="2"/>
              <a:buChar char="§"/>
            </a:pPr>
            <a:r>
              <a:rPr lang="en-US" sz="2400" dirty="0">
                <a:solidFill>
                  <a:schemeClr val="tx1"/>
                </a:solidFill>
              </a:rPr>
              <a:t>In the Normal design we do not have to worry about this consistency problem because we </a:t>
            </a:r>
            <a:r>
              <a:rPr lang="en-US" sz="2400" b="1" dirty="0">
                <a:solidFill>
                  <a:schemeClr val="tx1"/>
                </a:solidFill>
              </a:rPr>
              <a:t>enter only the department number </a:t>
            </a:r>
            <a:r>
              <a:rPr lang="en-US" sz="2400" dirty="0">
                <a:solidFill>
                  <a:schemeClr val="tx1"/>
                </a:solidFill>
              </a:rPr>
              <a:t>in the employee tuple; all other attribute values of department 5 are recorded </a:t>
            </a:r>
            <a:r>
              <a:rPr lang="en-US" sz="2400" b="1" dirty="0">
                <a:solidFill>
                  <a:srgbClr val="FF0000"/>
                </a:solidFill>
              </a:rPr>
              <a:t>only once in the database, as a single tuple in the DEPARTMENT relation.</a:t>
            </a:r>
            <a:endParaRPr lang="en-US" sz="2400" b="1" i="1" dirty="0">
              <a:solidFill>
                <a:srgbClr val="FF0000"/>
              </a:solidFill>
            </a:endParaRPr>
          </a:p>
          <a:p>
            <a:pPr marL="457200" indent="-457200" algn="l">
              <a:buFont typeface="Wingdings" pitchFamily="2" charset="2"/>
              <a:buChar char="§"/>
            </a:pPr>
            <a:endParaRPr lang="en-US" sz="2400" b="1" dirty="0">
              <a:solidFill>
                <a:schemeClr val="tx1"/>
              </a:solidFill>
              <a:latin typeface="Times New Roman" pitchFamily="18" charset="0"/>
              <a:cs typeface="Times New Roman"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
            <a:ext cx="7772400" cy="457200"/>
          </a:xfrm>
        </p:spPr>
        <p:txBody>
          <a:bodyPr>
            <a:noAutofit/>
          </a:bodyPr>
          <a:lstStyle/>
          <a:p>
            <a:endParaRPr lang="en-US" sz="2400" dirty="0"/>
          </a:p>
        </p:txBody>
      </p:sp>
      <p:sp>
        <p:nvSpPr>
          <p:cNvPr id="3" name="Subtitle 2"/>
          <p:cNvSpPr>
            <a:spLocks noGrp="1"/>
          </p:cNvSpPr>
          <p:nvPr>
            <p:ph type="subTitle" idx="1"/>
          </p:nvPr>
        </p:nvSpPr>
        <p:spPr>
          <a:xfrm>
            <a:off x="152400" y="457200"/>
            <a:ext cx="8839200" cy="6400800"/>
          </a:xfrm>
        </p:spPr>
        <p:txBody>
          <a:bodyPr>
            <a:normAutofit/>
          </a:bodyPr>
          <a:lstStyle/>
          <a:p>
            <a:pPr marL="514350" indent="-514350" algn="l">
              <a:buFont typeface="Arial" pitchFamily="34" charset="0"/>
              <a:buChar char="•"/>
            </a:pPr>
            <a:r>
              <a:rPr lang="en-US" sz="2600" dirty="0">
                <a:solidFill>
                  <a:schemeClr val="tx1"/>
                </a:solidFill>
                <a:latin typeface="Times New Roman" pitchFamily="18" charset="0"/>
                <a:cs typeface="Times New Roman" pitchFamily="18" charset="0"/>
              </a:rPr>
              <a:t>It is difficult to insert a new department that </a:t>
            </a:r>
            <a:r>
              <a:rPr lang="en-US" sz="2600" b="1" dirty="0">
                <a:solidFill>
                  <a:srgbClr val="FF0000"/>
                </a:solidFill>
                <a:latin typeface="Times New Roman" pitchFamily="18" charset="0"/>
                <a:cs typeface="Times New Roman" pitchFamily="18" charset="0"/>
              </a:rPr>
              <a:t>has no employees as yet in the EMP_DEPT relation</a:t>
            </a:r>
            <a:r>
              <a:rPr lang="en-US" sz="2600" b="1" dirty="0">
                <a:solidFill>
                  <a:schemeClr val="tx1"/>
                </a:solidFill>
                <a:latin typeface="Times New Roman" pitchFamily="18" charset="0"/>
                <a:cs typeface="Times New Roman" pitchFamily="18" charset="0"/>
              </a:rPr>
              <a:t>. </a:t>
            </a:r>
          </a:p>
          <a:p>
            <a:pPr marL="514350" indent="-514350" algn="l">
              <a:buFont typeface="Arial" pitchFamily="34" charset="0"/>
              <a:buChar char="•"/>
            </a:pPr>
            <a:r>
              <a:rPr lang="en-US" sz="2600" dirty="0">
                <a:solidFill>
                  <a:schemeClr val="tx1"/>
                </a:solidFill>
                <a:latin typeface="Times New Roman" pitchFamily="18" charset="0"/>
                <a:cs typeface="Times New Roman" pitchFamily="18" charset="0"/>
              </a:rPr>
              <a:t>The only way to do this is to </a:t>
            </a:r>
            <a:r>
              <a:rPr lang="en-US" sz="2600" b="1" dirty="0">
                <a:solidFill>
                  <a:schemeClr val="tx1"/>
                </a:solidFill>
                <a:latin typeface="Times New Roman" pitchFamily="18" charset="0"/>
                <a:cs typeface="Times New Roman" pitchFamily="18" charset="0"/>
              </a:rPr>
              <a:t>place null values in the attributes for employee.</a:t>
            </a:r>
          </a:p>
          <a:p>
            <a:pPr marL="514350" indent="-514350" algn="l">
              <a:buFont typeface="Arial" pitchFamily="34" charset="0"/>
              <a:buChar char="•"/>
            </a:pPr>
            <a:r>
              <a:rPr lang="en-US" sz="2600" dirty="0">
                <a:solidFill>
                  <a:schemeClr val="tx1"/>
                </a:solidFill>
                <a:latin typeface="Times New Roman" pitchFamily="18" charset="0"/>
                <a:cs typeface="Times New Roman" pitchFamily="18" charset="0"/>
              </a:rPr>
              <a:t>This causes a </a:t>
            </a:r>
            <a:r>
              <a:rPr lang="en-US" sz="2600" b="1" dirty="0">
                <a:solidFill>
                  <a:schemeClr val="tx1"/>
                </a:solidFill>
                <a:latin typeface="Times New Roman" pitchFamily="18" charset="0"/>
                <a:cs typeface="Times New Roman" pitchFamily="18" charset="0"/>
              </a:rPr>
              <a:t>problem because SSN is the primary key of  EMP_DEPT</a:t>
            </a:r>
            <a:r>
              <a:rPr lang="en-US" sz="2600" dirty="0">
                <a:solidFill>
                  <a:schemeClr val="tx1"/>
                </a:solidFill>
                <a:latin typeface="Times New Roman" pitchFamily="18" charset="0"/>
                <a:cs typeface="Times New Roman" pitchFamily="18" charset="0"/>
              </a:rPr>
              <a:t>, and each tuple is supposed to represent an employee entity-not a department entity. </a:t>
            </a:r>
          </a:p>
          <a:p>
            <a:pPr marL="514350" indent="-514350" algn="l">
              <a:buFont typeface="Arial" pitchFamily="34" charset="0"/>
              <a:buChar char="•"/>
            </a:pPr>
            <a:r>
              <a:rPr lang="en-US" sz="2600" dirty="0">
                <a:solidFill>
                  <a:schemeClr val="tx1"/>
                </a:solidFill>
                <a:latin typeface="Times New Roman" pitchFamily="18" charset="0"/>
                <a:cs typeface="Times New Roman" pitchFamily="18" charset="0"/>
              </a:rPr>
              <a:t> This problem does not occur in the  design of Figure 10.2, because a </a:t>
            </a:r>
            <a:r>
              <a:rPr lang="en-US" sz="2600" b="1" dirty="0">
                <a:solidFill>
                  <a:schemeClr val="tx1"/>
                </a:solidFill>
                <a:latin typeface="Times New Roman" pitchFamily="18" charset="0"/>
                <a:cs typeface="Times New Roman" pitchFamily="18" charset="0"/>
              </a:rPr>
              <a:t>department is entered in the DEPARTMENT relation whether or not any employees work for it</a:t>
            </a:r>
            <a:r>
              <a:rPr lang="en-US" sz="2600" dirty="0">
                <a:solidFill>
                  <a:schemeClr val="tx1"/>
                </a:solidFill>
                <a:latin typeface="Times New Roman" pitchFamily="18" charset="0"/>
                <a:cs typeface="Times New Roman" pitchFamily="18" charset="0"/>
              </a:rPr>
              <a:t>, and whenever an employee is assigned to that department</a:t>
            </a:r>
            <a:r>
              <a:rPr lang="en-US" sz="2600" b="1" dirty="0">
                <a:solidFill>
                  <a:schemeClr val="tx1"/>
                </a:solidFill>
                <a:latin typeface="Times New Roman" pitchFamily="18" charset="0"/>
                <a:cs typeface="Times New Roman" pitchFamily="18" charset="0"/>
              </a:rPr>
              <a:t>, a corresponding tuple is inserted in EMPLOYEE</a:t>
            </a:r>
            <a:endParaRPr lang="en-US" b="1" dirty="0">
              <a:solidFill>
                <a:schemeClr val="tx1"/>
              </a:solidFill>
              <a:latin typeface="Times New Roman" pitchFamily="18" charset="0"/>
              <a:cs typeface="Times New Roman"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1"/>
            <a:ext cx="7924800" cy="457200"/>
          </a:xfrm>
        </p:spPr>
        <p:txBody>
          <a:bodyPr>
            <a:noAutofit/>
          </a:bodyPr>
          <a:lstStyle/>
          <a:p>
            <a:endParaRPr lang="en-US" sz="2400" dirty="0"/>
          </a:p>
        </p:txBody>
      </p:sp>
      <p:sp>
        <p:nvSpPr>
          <p:cNvPr id="3" name="Subtitle 2"/>
          <p:cNvSpPr>
            <a:spLocks noGrp="1"/>
          </p:cNvSpPr>
          <p:nvPr>
            <p:ph type="subTitle" idx="1"/>
          </p:nvPr>
        </p:nvSpPr>
        <p:spPr>
          <a:xfrm>
            <a:off x="152400" y="457200"/>
            <a:ext cx="8839200" cy="6400800"/>
          </a:xfrm>
        </p:spPr>
        <p:txBody>
          <a:bodyPr>
            <a:normAutofit fontScale="92500" lnSpcReduction="10000"/>
          </a:bodyPr>
          <a:lstStyle/>
          <a:p>
            <a:pPr algn="l"/>
            <a:r>
              <a:rPr lang="en-US" sz="2400" b="1" dirty="0">
                <a:solidFill>
                  <a:schemeClr val="tx1"/>
                </a:solidFill>
              </a:rPr>
              <a:t>Deletion Anomalies:</a:t>
            </a:r>
          </a:p>
          <a:p>
            <a:pPr marL="457200" indent="-457200" algn="l">
              <a:buFont typeface="Wingdings" pitchFamily="2" charset="2"/>
              <a:buChar char="§"/>
            </a:pPr>
            <a:r>
              <a:rPr lang="en-US" sz="2400" dirty="0">
                <a:solidFill>
                  <a:schemeClr val="tx1"/>
                </a:solidFill>
              </a:rPr>
              <a:t>The problem of deletion anomalies is related to the second insertion anomaly situation discussed earlier.</a:t>
            </a:r>
          </a:p>
          <a:p>
            <a:pPr marL="457200" indent="-457200" algn="l">
              <a:buFont typeface="Wingdings" pitchFamily="2" charset="2"/>
              <a:buChar char="§"/>
            </a:pPr>
            <a:r>
              <a:rPr lang="en-US" sz="2400" dirty="0">
                <a:solidFill>
                  <a:schemeClr val="tx1"/>
                </a:solidFill>
              </a:rPr>
              <a:t> If we delete from EMP_DEPT an </a:t>
            </a:r>
            <a:r>
              <a:rPr lang="en-US" sz="2400" dirty="0">
                <a:solidFill>
                  <a:srgbClr val="FF0000"/>
                </a:solidFill>
              </a:rPr>
              <a:t>employee tuple that happens </a:t>
            </a:r>
            <a:r>
              <a:rPr lang="en-US" sz="2400" dirty="0">
                <a:solidFill>
                  <a:schemeClr val="tx1"/>
                </a:solidFill>
              </a:rPr>
              <a:t>to represent the last employee working for a particular department, </a:t>
            </a:r>
            <a:r>
              <a:rPr lang="en-US" sz="2400" b="1" dirty="0">
                <a:solidFill>
                  <a:srgbClr val="FF0000"/>
                </a:solidFill>
              </a:rPr>
              <a:t>the information concerning that department is lost from the database.</a:t>
            </a:r>
          </a:p>
          <a:p>
            <a:pPr marL="457200" indent="-457200" algn="l">
              <a:buFont typeface="Wingdings" pitchFamily="2" charset="2"/>
              <a:buChar char="§"/>
            </a:pPr>
            <a:r>
              <a:rPr lang="en-US" sz="2400" dirty="0">
                <a:solidFill>
                  <a:schemeClr val="tx1"/>
                </a:solidFill>
              </a:rPr>
              <a:t> This problem does not occur in the database of Figure 10.2 </a:t>
            </a:r>
            <a:r>
              <a:rPr lang="en-US" sz="2400" dirty="0">
                <a:solidFill>
                  <a:srgbClr val="FF0000"/>
                </a:solidFill>
              </a:rPr>
              <a:t>because DEPARTMENT tuples are stored separately.</a:t>
            </a:r>
          </a:p>
          <a:p>
            <a:pPr marL="457200" indent="-457200" algn="l"/>
            <a:r>
              <a:rPr lang="en-US" sz="2400" b="1" dirty="0">
                <a:solidFill>
                  <a:schemeClr val="tx1"/>
                </a:solidFill>
              </a:rPr>
              <a:t>Modification Anomalies:</a:t>
            </a:r>
          </a:p>
          <a:p>
            <a:pPr marL="457200" indent="-457200" algn="l">
              <a:buFont typeface="Wingdings" pitchFamily="2" charset="2"/>
              <a:buChar char="§"/>
            </a:pPr>
            <a:r>
              <a:rPr lang="en-US" sz="2400" dirty="0">
                <a:solidFill>
                  <a:schemeClr val="tx1"/>
                </a:solidFill>
              </a:rPr>
              <a:t>In EMP_DEPT, if we </a:t>
            </a:r>
            <a:r>
              <a:rPr lang="en-US" sz="2400" b="1" dirty="0">
                <a:solidFill>
                  <a:schemeClr val="tx1"/>
                </a:solidFill>
              </a:rPr>
              <a:t>change the value of one of the attributes of a particular department-say</a:t>
            </a:r>
            <a:r>
              <a:rPr lang="en-US" sz="2400" dirty="0">
                <a:solidFill>
                  <a:schemeClr val="tx1"/>
                </a:solidFill>
              </a:rPr>
              <a:t>, </a:t>
            </a:r>
            <a:r>
              <a:rPr lang="en-US" sz="2400" b="1" dirty="0">
                <a:solidFill>
                  <a:schemeClr val="tx1"/>
                </a:solidFill>
              </a:rPr>
              <a:t>the manager of department </a:t>
            </a:r>
            <a:r>
              <a:rPr lang="en-US" sz="2400" dirty="0">
                <a:solidFill>
                  <a:schemeClr val="tx1"/>
                </a:solidFill>
              </a:rPr>
              <a:t>5-we must update the tuples of all employees who work in that department; otherwise, the database will become inconsistent.</a:t>
            </a:r>
          </a:p>
          <a:p>
            <a:pPr marL="457200" indent="-457200" algn="l">
              <a:buFont typeface="Wingdings" pitchFamily="2" charset="2"/>
              <a:buChar char="§"/>
            </a:pPr>
            <a:r>
              <a:rPr lang="en-US" sz="2400" dirty="0">
                <a:solidFill>
                  <a:schemeClr val="tx1"/>
                </a:solidFill>
              </a:rPr>
              <a:t> If </a:t>
            </a:r>
            <a:r>
              <a:rPr lang="en-US" sz="2400" b="1" dirty="0">
                <a:solidFill>
                  <a:schemeClr val="tx1"/>
                </a:solidFill>
              </a:rPr>
              <a:t>we </a:t>
            </a:r>
            <a:r>
              <a:rPr lang="en-US" sz="2400" b="1" dirty="0">
                <a:solidFill>
                  <a:schemeClr val="accent2"/>
                </a:solidFill>
              </a:rPr>
              <a:t>fail to update </a:t>
            </a:r>
            <a:r>
              <a:rPr lang="en-US" sz="2400" b="1" dirty="0">
                <a:solidFill>
                  <a:schemeClr val="tx1"/>
                </a:solidFill>
              </a:rPr>
              <a:t>some tuples</a:t>
            </a:r>
            <a:r>
              <a:rPr lang="en-US" sz="2400" dirty="0">
                <a:solidFill>
                  <a:schemeClr val="tx1"/>
                </a:solidFill>
              </a:rPr>
              <a:t>, the </a:t>
            </a:r>
            <a:r>
              <a:rPr lang="en-US" sz="2400" b="1" dirty="0">
                <a:solidFill>
                  <a:schemeClr val="tx1"/>
                </a:solidFill>
              </a:rPr>
              <a:t>same department will be shown to have two different values for manager in different employee tuples, which would be wrong</a:t>
            </a:r>
            <a:r>
              <a:rPr lang="en-US" sz="2400" dirty="0">
                <a:solidFill>
                  <a:schemeClr val="tx1"/>
                </a:solidFill>
              </a:rPr>
              <a:t>.'</a:t>
            </a:r>
          </a:p>
          <a:p>
            <a:pPr marL="457200" indent="-457200" algn="l">
              <a:buFont typeface="Wingdings" pitchFamily="2" charset="2"/>
              <a:buChar char="§"/>
            </a:pPr>
            <a:r>
              <a:rPr lang="en-US" sz="2400" dirty="0">
                <a:solidFill>
                  <a:schemeClr val="tx1"/>
                </a:solidFill>
              </a:rPr>
              <a:t>Based on the preceding three anomalies, we can state the guideline that follows</a:t>
            </a:r>
            <a:endParaRPr lang="en-US" sz="2400" dirty="0">
              <a:solidFill>
                <a:schemeClr val="tx1"/>
              </a:solidFill>
              <a:latin typeface="Times New Roman" pitchFamily="18" charset="0"/>
              <a:cs typeface="Times New Roman" pitchFamily="18" charset="0"/>
            </a:endParaRPr>
          </a:p>
          <a:p>
            <a:pPr marL="457200" indent="-457200" algn="l">
              <a:buFont typeface="Wingdings" pitchFamily="2" charset="2"/>
              <a:buChar char="§"/>
            </a:pPr>
            <a:endParaRPr lang="en-US" sz="2400" dirty="0">
              <a:solidFill>
                <a:schemeClr val="tx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
            <a:ext cx="7772400" cy="457200"/>
          </a:xfrm>
        </p:spPr>
        <p:txBody>
          <a:bodyPr>
            <a:noAutofit/>
          </a:bodyPr>
          <a:lstStyle/>
          <a:p>
            <a:endParaRPr lang="en-US" sz="2400" dirty="0"/>
          </a:p>
        </p:txBody>
      </p:sp>
      <p:sp>
        <p:nvSpPr>
          <p:cNvPr id="3" name="Subtitle 2"/>
          <p:cNvSpPr>
            <a:spLocks noGrp="1"/>
          </p:cNvSpPr>
          <p:nvPr>
            <p:ph type="subTitle" idx="1"/>
          </p:nvPr>
        </p:nvSpPr>
        <p:spPr>
          <a:xfrm>
            <a:off x="152400" y="457200"/>
            <a:ext cx="8839200" cy="6400800"/>
          </a:xfrm>
        </p:spPr>
        <p:txBody>
          <a:bodyPr>
            <a:normAutofit/>
          </a:bodyPr>
          <a:lstStyle/>
          <a:p>
            <a:pPr algn="l"/>
            <a:r>
              <a:rPr lang="en-US" sz="2400" b="1" dirty="0">
                <a:solidFill>
                  <a:schemeClr val="tx1"/>
                </a:solidFill>
              </a:rPr>
              <a:t>GUIDELINE 2</a:t>
            </a:r>
          </a:p>
          <a:p>
            <a:pPr marL="457200" indent="-457200" algn="l">
              <a:buFont typeface="Wingdings" pitchFamily="2" charset="2"/>
              <a:buChar char="§"/>
            </a:pPr>
            <a:r>
              <a:rPr lang="en-US" sz="2400" dirty="0">
                <a:solidFill>
                  <a:schemeClr val="tx1"/>
                </a:solidFill>
              </a:rPr>
              <a:t>Design the base relation schemas so that no insertion, deletion, or modification anomalies are present in the relations. If any anomalies are present, note them clearly and make sure that the programs that update the database will operate correctly.</a:t>
            </a:r>
          </a:p>
          <a:p>
            <a:pPr marL="457200" indent="-457200" algn="l"/>
            <a:r>
              <a:rPr lang="en-US" sz="2400" b="1" dirty="0">
                <a:solidFill>
                  <a:schemeClr val="tx1"/>
                </a:solidFill>
              </a:rPr>
              <a:t>Null Values in Tuples</a:t>
            </a:r>
          </a:p>
          <a:p>
            <a:pPr marL="457200" indent="-457200" algn="l">
              <a:buFont typeface="Wingdings" pitchFamily="2" charset="2"/>
              <a:buChar char="§"/>
            </a:pPr>
            <a:r>
              <a:rPr lang="en-US" sz="2400" dirty="0">
                <a:solidFill>
                  <a:schemeClr val="tx1"/>
                </a:solidFill>
              </a:rPr>
              <a:t>In some schema designs we may group many attributes together into a "</a:t>
            </a:r>
            <a:r>
              <a:rPr lang="en-US" sz="2400" b="1" dirty="0">
                <a:solidFill>
                  <a:schemeClr val="tx1"/>
                </a:solidFill>
              </a:rPr>
              <a:t>fat" relation.</a:t>
            </a:r>
          </a:p>
          <a:p>
            <a:pPr marL="457200" indent="-457200" algn="l">
              <a:buFont typeface="Wingdings" pitchFamily="2" charset="2"/>
              <a:buChar char="§"/>
            </a:pPr>
            <a:r>
              <a:rPr lang="en-US" sz="2400" dirty="0">
                <a:solidFill>
                  <a:schemeClr val="tx1"/>
                </a:solidFill>
              </a:rPr>
              <a:t> If many of the attributes do not apply to all tuples in the relation, we end up with </a:t>
            </a:r>
            <a:r>
              <a:rPr lang="en-US" sz="2400" b="1" dirty="0">
                <a:solidFill>
                  <a:schemeClr val="tx1"/>
                </a:solidFill>
              </a:rPr>
              <a:t>many nulls in those tuples</a:t>
            </a:r>
            <a:r>
              <a:rPr lang="en-US" sz="2400" dirty="0">
                <a:solidFill>
                  <a:schemeClr val="tx1"/>
                </a:solidFill>
              </a:rPr>
              <a:t>.</a:t>
            </a:r>
          </a:p>
          <a:p>
            <a:pPr marL="457200" indent="-457200" algn="l">
              <a:buFont typeface="Wingdings" pitchFamily="2" charset="2"/>
              <a:buChar char="§"/>
            </a:pPr>
            <a:r>
              <a:rPr lang="en-US" sz="2400" dirty="0">
                <a:solidFill>
                  <a:schemeClr val="tx1"/>
                </a:solidFill>
              </a:rPr>
              <a:t>This can </a:t>
            </a:r>
            <a:r>
              <a:rPr lang="en-US" sz="2400" b="1" dirty="0">
                <a:solidFill>
                  <a:schemeClr val="tx1"/>
                </a:solidFill>
              </a:rPr>
              <a:t>waste space at the storage level </a:t>
            </a:r>
            <a:r>
              <a:rPr lang="en-US" sz="2400" dirty="0">
                <a:solidFill>
                  <a:schemeClr val="tx1"/>
                </a:solidFill>
              </a:rPr>
              <a:t>and may also lead to  problems with </a:t>
            </a:r>
            <a:r>
              <a:rPr lang="en-US" sz="2400" b="1" dirty="0">
                <a:solidFill>
                  <a:schemeClr val="tx1"/>
                </a:solidFill>
              </a:rPr>
              <a:t>understanding the meaning </a:t>
            </a:r>
            <a:r>
              <a:rPr lang="en-US" sz="2400" dirty="0">
                <a:solidFill>
                  <a:schemeClr val="tx1"/>
                </a:solidFill>
              </a:rPr>
              <a:t>of the attributes and with specifying JOIN operations at the logical level.</a:t>
            </a:r>
          </a:p>
          <a:p>
            <a:pPr marL="457200" indent="-457200" algn="l">
              <a:buFont typeface="Wingdings" pitchFamily="2" charset="2"/>
              <a:buChar char="§"/>
            </a:pPr>
            <a:r>
              <a:rPr lang="en-US" sz="2400" dirty="0">
                <a:solidFill>
                  <a:schemeClr val="tx1"/>
                </a:solidFill>
              </a:rPr>
              <a:t> Another problem with nulls is how to account for them when aggregate operations such as COUNT or SUM are applied</a:t>
            </a:r>
            <a:r>
              <a:rPr lang="en-US" sz="2400" dirty="0"/>
              <a:t>.</a:t>
            </a:r>
            <a:endParaRPr lang="en-US" sz="2400" dirty="0">
              <a:solidFill>
                <a:schemeClr val="tx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
            <a:ext cx="7772400" cy="457200"/>
          </a:xfrm>
        </p:spPr>
        <p:txBody>
          <a:bodyPr>
            <a:noAutofit/>
          </a:bodyPr>
          <a:lstStyle/>
          <a:p>
            <a:endParaRPr lang="en-US" sz="2400" dirty="0"/>
          </a:p>
        </p:txBody>
      </p:sp>
      <p:sp>
        <p:nvSpPr>
          <p:cNvPr id="3" name="Subtitle 2"/>
          <p:cNvSpPr>
            <a:spLocks noGrp="1"/>
          </p:cNvSpPr>
          <p:nvPr>
            <p:ph type="subTitle" idx="1"/>
          </p:nvPr>
        </p:nvSpPr>
        <p:spPr>
          <a:xfrm>
            <a:off x="152400" y="457200"/>
            <a:ext cx="8839200" cy="6400800"/>
          </a:xfrm>
        </p:spPr>
        <p:txBody>
          <a:bodyPr>
            <a:normAutofit/>
          </a:bodyPr>
          <a:lstStyle/>
          <a:p>
            <a:pPr marL="457200" indent="-457200" algn="l">
              <a:buFont typeface="Wingdings" pitchFamily="2" charset="2"/>
              <a:buChar char="§"/>
            </a:pPr>
            <a:r>
              <a:rPr lang="en-US" sz="2400" dirty="0">
                <a:solidFill>
                  <a:schemeClr val="tx1"/>
                </a:solidFill>
              </a:rPr>
              <a:t>Nulls can have multiple interpretations, such as the following:</a:t>
            </a:r>
          </a:p>
          <a:p>
            <a:pPr marL="914400" lvl="1" indent="-457200" algn="l"/>
            <a:r>
              <a:rPr lang="en-US" sz="2000" dirty="0">
                <a:solidFill>
                  <a:schemeClr val="tx1"/>
                </a:solidFill>
              </a:rPr>
              <a:t>• The attribute </a:t>
            </a:r>
            <a:r>
              <a:rPr lang="en-US" sz="2000" i="1" dirty="0">
                <a:solidFill>
                  <a:schemeClr val="tx1"/>
                </a:solidFill>
              </a:rPr>
              <a:t>does not apply to this tuple.</a:t>
            </a:r>
          </a:p>
          <a:p>
            <a:pPr marL="914400" lvl="1" indent="-457200" algn="l"/>
            <a:r>
              <a:rPr lang="en-US" sz="2000" dirty="0">
                <a:solidFill>
                  <a:schemeClr val="tx1"/>
                </a:solidFill>
              </a:rPr>
              <a:t>• The attribute value for this tuple is </a:t>
            </a:r>
            <a:r>
              <a:rPr lang="en-US" sz="2000" i="1" dirty="0">
                <a:solidFill>
                  <a:schemeClr val="tx1"/>
                </a:solidFill>
              </a:rPr>
              <a:t>unknown.</a:t>
            </a:r>
          </a:p>
          <a:p>
            <a:pPr marL="914400" lvl="1" indent="-457200" algn="l"/>
            <a:r>
              <a:rPr lang="en-US" sz="2000" dirty="0">
                <a:solidFill>
                  <a:schemeClr val="tx1"/>
                </a:solidFill>
              </a:rPr>
              <a:t>• The value is </a:t>
            </a:r>
            <a:r>
              <a:rPr lang="en-US" sz="2000" i="1" dirty="0">
                <a:solidFill>
                  <a:schemeClr val="tx1"/>
                </a:solidFill>
              </a:rPr>
              <a:t>known but absent; that is, it has not been recorded yet.</a:t>
            </a:r>
          </a:p>
          <a:p>
            <a:pPr marL="457200" indent="-457200" algn="l">
              <a:buFont typeface="Wingdings" pitchFamily="2" charset="2"/>
              <a:buChar char="§"/>
            </a:pPr>
            <a:r>
              <a:rPr lang="en-US" sz="2400" dirty="0">
                <a:solidFill>
                  <a:schemeClr val="tx1"/>
                </a:solidFill>
              </a:rPr>
              <a:t>Having the same representation for all nulls compromises the different meanings they may have. Therefore, we may state another guideline</a:t>
            </a:r>
            <a:r>
              <a:rPr lang="en-US" sz="2400" dirty="0"/>
              <a:t>.</a:t>
            </a:r>
          </a:p>
          <a:p>
            <a:pPr marL="457200" indent="-457200" algn="l"/>
            <a:r>
              <a:rPr lang="en-US" sz="2400" dirty="0">
                <a:solidFill>
                  <a:schemeClr val="tx1"/>
                </a:solidFill>
                <a:latin typeface="Times New Roman" pitchFamily="18" charset="0"/>
                <a:cs typeface="Times New Roman" pitchFamily="18" charset="0"/>
              </a:rPr>
              <a:t>GUIDELINE 3</a:t>
            </a:r>
          </a:p>
          <a:p>
            <a:pPr marL="457200" indent="-457200" algn="l">
              <a:buFont typeface="Wingdings" pitchFamily="2" charset="2"/>
              <a:buChar char="§"/>
            </a:pPr>
            <a:r>
              <a:rPr lang="en-US" sz="2400" dirty="0">
                <a:solidFill>
                  <a:schemeClr val="tx1"/>
                </a:solidFill>
              </a:rPr>
              <a:t>As far as possible, avoid placing attributes in a base relation whose values may </a:t>
            </a:r>
            <a:r>
              <a:rPr lang="en-US" sz="2400" b="1" dirty="0">
                <a:solidFill>
                  <a:schemeClr val="tx1"/>
                </a:solidFill>
              </a:rPr>
              <a:t>frequently be null</a:t>
            </a:r>
            <a:r>
              <a:rPr lang="en-US" sz="2400" dirty="0">
                <a:solidFill>
                  <a:schemeClr val="tx1"/>
                </a:solidFill>
              </a:rPr>
              <a:t>. If nulls are unavoidable, make sure that </a:t>
            </a:r>
            <a:r>
              <a:rPr lang="en-US" sz="2400" dirty="0">
                <a:solidFill>
                  <a:srgbClr val="FF0000"/>
                </a:solidFill>
              </a:rPr>
              <a:t>they apply in exceptional cases only and do not apply to a majority of tuples in the relation</a:t>
            </a:r>
            <a:r>
              <a:rPr lang="en-US" sz="2400" dirty="0">
                <a:solidFill>
                  <a:schemeClr val="tx1"/>
                </a:solidFill>
              </a:rPr>
              <a:t>.</a:t>
            </a:r>
            <a:endParaRPr lang="en-US" sz="2400" dirty="0">
              <a:solidFill>
                <a:schemeClr val="tx1"/>
              </a:solidFill>
              <a:latin typeface="Times New Roman" pitchFamily="18" charset="0"/>
              <a:cs typeface="Times New Roman"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400" y="304800"/>
            <a:ext cx="7772400" cy="457200"/>
          </a:xfrm>
        </p:spPr>
        <p:txBody>
          <a:bodyPr>
            <a:noAutofit/>
          </a:bodyPr>
          <a:lstStyle/>
          <a:p>
            <a:r>
              <a:rPr lang="en-US" sz="2400" b="1" dirty="0"/>
              <a:t>FUNCTIONAL DEPENDENCIES</a:t>
            </a:r>
            <a:endParaRPr lang="en-US" sz="2400" dirty="0"/>
          </a:p>
        </p:txBody>
      </p:sp>
      <p:sp>
        <p:nvSpPr>
          <p:cNvPr id="3" name="Subtitle 2"/>
          <p:cNvSpPr>
            <a:spLocks noGrp="1"/>
          </p:cNvSpPr>
          <p:nvPr>
            <p:ph type="subTitle" idx="1"/>
          </p:nvPr>
        </p:nvSpPr>
        <p:spPr>
          <a:xfrm>
            <a:off x="152400" y="990600"/>
            <a:ext cx="8839200" cy="5867400"/>
          </a:xfrm>
        </p:spPr>
        <p:txBody>
          <a:bodyPr>
            <a:normAutofit/>
          </a:bodyPr>
          <a:lstStyle/>
          <a:p>
            <a:pPr marL="457200" indent="-457200" algn="l">
              <a:buFont typeface="Wingdings" pitchFamily="2" charset="2"/>
              <a:buChar char="§"/>
            </a:pPr>
            <a:r>
              <a:rPr lang="en-US" sz="2400" dirty="0">
                <a:solidFill>
                  <a:schemeClr val="tx1"/>
                </a:solidFill>
              </a:rPr>
              <a:t>A functional dependency is </a:t>
            </a:r>
            <a:r>
              <a:rPr lang="en-US" sz="2400" dirty="0">
                <a:solidFill>
                  <a:schemeClr val="accent2"/>
                </a:solidFill>
              </a:rPr>
              <a:t>a constraint between two sets of attributes from the database.</a:t>
            </a:r>
          </a:p>
          <a:p>
            <a:pPr marL="457200" indent="-457200" algn="l">
              <a:buFont typeface="Wingdings" pitchFamily="2" charset="2"/>
              <a:buChar char="§"/>
            </a:pPr>
            <a:r>
              <a:rPr lang="en-US" sz="2400" dirty="0">
                <a:solidFill>
                  <a:schemeClr val="tx1"/>
                </a:solidFill>
              </a:rPr>
              <a:t>Suppose that our relational database schema has n attributes A1,A2, ••• , An</a:t>
            </a:r>
          </a:p>
          <a:p>
            <a:pPr marL="457200" indent="-457200" algn="l">
              <a:buFont typeface="Wingdings" pitchFamily="2" charset="2"/>
              <a:buChar char="§"/>
            </a:pPr>
            <a:r>
              <a:rPr lang="en-US" sz="2400" dirty="0" err="1">
                <a:solidFill>
                  <a:schemeClr val="tx1"/>
                </a:solidFill>
              </a:rPr>
              <a:t>Defnition</a:t>
            </a:r>
            <a:r>
              <a:rPr lang="en-US" sz="2400" dirty="0">
                <a:solidFill>
                  <a:schemeClr val="tx1"/>
                </a:solidFill>
              </a:rPr>
              <a:t>: A functional dependency, denoted by X</a:t>
            </a:r>
            <a:r>
              <a:rPr lang="en-US" sz="2400" dirty="0">
                <a:solidFill>
                  <a:schemeClr val="tx1"/>
                </a:solidFill>
                <a:sym typeface="Wingdings" pitchFamily="2" charset="2"/>
              </a:rPr>
              <a:t></a:t>
            </a:r>
            <a:r>
              <a:rPr lang="en-US" sz="2400" i="1" dirty="0">
                <a:solidFill>
                  <a:schemeClr val="tx1"/>
                </a:solidFill>
              </a:rPr>
              <a:t>Y, between two sets of </a:t>
            </a:r>
            <a:r>
              <a:rPr lang="en-US" sz="2400" dirty="0">
                <a:solidFill>
                  <a:schemeClr val="tx1"/>
                </a:solidFill>
              </a:rPr>
              <a:t>attributes X and </a:t>
            </a:r>
            <a:r>
              <a:rPr lang="en-US" sz="2400" i="1" dirty="0">
                <a:solidFill>
                  <a:schemeClr val="tx1"/>
                </a:solidFill>
              </a:rPr>
              <a:t>Y that are subsets of R specifies a constraint on </a:t>
            </a:r>
            <a:r>
              <a:rPr lang="en-US" sz="2400" b="1" i="1" dirty="0">
                <a:solidFill>
                  <a:schemeClr val="tx1"/>
                </a:solidFill>
              </a:rPr>
              <a:t>the possible tuples that can </a:t>
            </a:r>
            <a:r>
              <a:rPr lang="en-US" sz="2400" b="1" dirty="0">
                <a:solidFill>
                  <a:schemeClr val="tx1"/>
                </a:solidFill>
              </a:rPr>
              <a:t>form a relation state r of R</a:t>
            </a:r>
            <a:r>
              <a:rPr lang="en-US" sz="2400" dirty="0">
                <a:solidFill>
                  <a:schemeClr val="tx1"/>
                </a:solidFill>
              </a:rPr>
              <a:t>. </a:t>
            </a:r>
          </a:p>
          <a:p>
            <a:pPr marL="457200" indent="-457200" algn="l">
              <a:buFont typeface="Wingdings" pitchFamily="2" charset="2"/>
              <a:buChar char="§"/>
            </a:pPr>
            <a:r>
              <a:rPr lang="en-US" sz="2400" dirty="0">
                <a:solidFill>
                  <a:schemeClr val="tx1"/>
                </a:solidFill>
              </a:rPr>
              <a:t>This means that the values of </a:t>
            </a:r>
            <a:r>
              <a:rPr lang="en-US" sz="2400" b="1" dirty="0">
                <a:solidFill>
                  <a:schemeClr val="tx1"/>
                </a:solidFill>
              </a:rPr>
              <a:t>the </a:t>
            </a:r>
            <a:r>
              <a:rPr lang="en-US" sz="2400" b="1" i="1" dirty="0">
                <a:solidFill>
                  <a:schemeClr val="tx1"/>
                </a:solidFill>
              </a:rPr>
              <a:t>Y component of a tuple in r depend on, or are </a:t>
            </a:r>
            <a:r>
              <a:rPr lang="en-US" sz="2400" b="1" dirty="0">
                <a:solidFill>
                  <a:schemeClr val="tx1"/>
                </a:solidFill>
              </a:rPr>
              <a:t>determined </a:t>
            </a:r>
            <a:r>
              <a:rPr lang="en-US" sz="2400" b="1" i="1" dirty="0">
                <a:solidFill>
                  <a:schemeClr val="tx1"/>
                </a:solidFill>
              </a:rPr>
              <a:t>by, the values of the X component</a:t>
            </a:r>
            <a:r>
              <a:rPr lang="en-US" sz="2400" i="1" dirty="0">
                <a:solidFill>
                  <a:schemeClr val="tx1"/>
                </a:solidFill>
              </a:rPr>
              <a:t>; alternatively, the values of the </a:t>
            </a:r>
            <a:r>
              <a:rPr lang="en-US" sz="2400" b="1" i="1" dirty="0">
                <a:solidFill>
                  <a:schemeClr val="tx1"/>
                </a:solidFill>
              </a:rPr>
              <a:t>X component </a:t>
            </a:r>
            <a:r>
              <a:rPr lang="en-US" sz="2400" b="1" dirty="0">
                <a:solidFill>
                  <a:schemeClr val="tx1"/>
                </a:solidFill>
              </a:rPr>
              <a:t>of a tuple uniquely (or functionally) </a:t>
            </a:r>
            <a:r>
              <a:rPr lang="en-US" sz="2400" b="1" i="1" dirty="0">
                <a:solidFill>
                  <a:schemeClr val="tx1"/>
                </a:solidFill>
              </a:rPr>
              <a:t>determine the values of the Y component</a:t>
            </a:r>
            <a:r>
              <a:rPr lang="en-US" sz="2400" i="1" dirty="0">
                <a:solidFill>
                  <a:schemeClr val="tx1"/>
                </a:solidFill>
              </a:rPr>
              <a:t>.</a:t>
            </a:r>
          </a:p>
          <a:p>
            <a:pPr marL="457200" indent="-457200" algn="l">
              <a:buFont typeface="Wingdings" pitchFamily="2" charset="2"/>
              <a:buChar char="§"/>
            </a:pPr>
            <a:endParaRPr lang="en-US" sz="2400" dirty="0">
              <a:solidFill>
                <a:schemeClr val="tx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
            <a:ext cx="7772400" cy="457200"/>
          </a:xfrm>
        </p:spPr>
        <p:txBody>
          <a:bodyPr>
            <a:noAutofit/>
          </a:bodyPr>
          <a:lstStyle/>
          <a:p>
            <a:endParaRPr lang="en-US" sz="2400" dirty="0"/>
          </a:p>
        </p:txBody>
      </p:sp>
      <p:sp>
        <p:nvSpPr>
          <p:cNvPr id="3" name="Subtitle 2"/>
          <p:cNvSpPr>
            <a:spLocks noGrp="1"/>
          </p:cNvSpPr>
          <p:nvPr>
            <p:ph type="subTitle" idx="1"/>
          </p:nvPr>
        </p:nvSpPr>
        <p:spPr>
          <a:xfrm>
            <a:off x="152400" y="457200"/>
            <a:ext cx="8839200" cy="6400800"/>
          </a:xfrm>
        </p:spPr>
        <p:txBody>
          <a:bodyPr>
            <a:normAutofit/>
          </a:bodyPr>
          <a:lstStyle/>
          <a:p>
            <a:pPr algn="l">
              <a:buFont typeface="Arial" pitchFamily="34" charset="0"/>
              <a:buChar char="•"/>
            </a:pPr>
            <a:r>
              <a:rPr lang="en-US" sz="2400" dirty="0">
                <a:solidFill>
                  <a:schemeClr val="tx1"/>
                </a:solidFill>
              </a:rPr>
              <a:t>We also say that there is a functional dependency from X to </a:t>
            </a:r>
            <a:r>
              <a:rPr lang="en-US" sz="2400" i="1" dirty="0">
                <a:solidFill>
                  <a:schemeClr val="tx1"/>
                </a:solidFill>
              </a:rPr>
              <a:t>Y, or that Y is functionally dependent on X.</a:t>
            </a:r>
          </a:p>
          <a:p>
            <a:pPr algn="l">
              <a:buFont typeface="Arial" pitchFamily="34" charset="0"/>
              <a:buChar char="•"/>
            </a:pPr>
            <a:r>
              <a:rPr lang="en-US" sz="2400" dirty="0">
                <a:solidFill>
                  <a:schemeClr val="tx1"/>
                </a:solidFill>
              </a:rPr>
              <a:t>The abbreviation for functional dependency is FD or </a:t>
            </a:r>
            <a:r>
              <a:rPr lang="en-US" sz="2400" dirty="0" err="1">
                <a:solidFill>
                  <a:schemeClr val="tx1"/>
                </a:solidFill>
              </a:rPr>
              <a:t>f.d</a:t>
            </a:r>
            <a:r>
              <a:rPr lang="en-US" sz="2400" dirty="0">
                <a:solidFill>
                  <a:schemeClr val="tx1"/>
                </a:solidFill>
              </a:rPr>
              <a:t>. The set of attributes X is called the left-hand side of the FD, and </a:t>
            </a:r>
            <a:r>
              <a:rPr lang="en-US" sz="2400" i="1" dirty="0">
                <a:solidFill>
                  <a:schemeClr val="tx1"/>
                </a:solidFill>
              </a:rPr>
              <a:t>Y is called the right-hand side.</a:t>
            </a:r>
          </a:p>
          <a:p>
            <a:pPr algn="l">
              <a:buFont typeface="Arial" pitchFamily="34" charset="0"/>
              <a:buChar char="•"/>
            </a:pPr>
            <a:r>
              <a:rPr lang="en-US" sz="2400" dirty="0">
                <a:solidFill>
                  <a:schemeClr val="tx1"/>
                </a:solidFill>
              </a:rPr>
              <a:t>Thus, X functionally determines Y in a relation schema </a:t>
            </a:r>
            <a:r>
              <a:rPr lang="en-US" sz="2400" b="1" dirty="0">
                <a:solidFill>
                  <a:schemeClr val="tx1"/>
                </a:solidFill>
              </a:rPr>
              <a:t>R if, and only if, whenever two tuples of r(R) agree on their X-value, they must necessarily agree on their Y-value.</a:t>
            </a:r>
          </a:p>
          <a:p>
            <a:pPr algn="l"/>
            <a:r>
              <a:rPr lang="en-US" sz="2400" b="1" dirty="0">
                <a:solidFill>
                  <a:schemeClr val="tx2"/>
                </a:solidFill>
              </a:rPr>
              <a:t>Note the following</a:t>
            </a:r>
            <a:r>
              <a:rPr lang="en-US" sz="2400" dirty="0">
                <a:solidFill>
                  <a:schemeClr val="accent2"/>
                </a:solidFill>
              </a:rPr>
              <a:t>:</a:t>
            </a:r>
          </a:p>
          <a:p>
            <a:pPr algn="l">
              <a:buFont typeface="Arial" pitchFamily="34" charset="0"/>
              <a:buChar char="•"/>
            </a:pPr>
            <a:r>
              <a:rPr lang="en-US" sz="2400" i="1" dirty="0">
                <a:solidFill>
                  <a:schemeClr val="tx1"/>
                </a:solidFill>
              </a:rPr>
              <a:t>If a constraint on R states that </a:t>
            </a:r>
            <a:r>
              <a:rPr lang="en-US" sz="2400" b="1" i="1" dirty="0">
                <a:solidFill>
                  <a:schemeClr val="accent2"/>
                </a:solidFill>
              </a:rPr>
              <a:t>there cannot be more than one tuple with a given X value</a:t>
            </a:r>
            <a:r>
              <a:rPr lang="en-US" sz="2400" b="1" i="1" dirty="0">
                <a:solidFill>
                  <a:schemeClr val="tx1"/>
                </a:solidFill>
              </a:rPr>
              <a:t> in any relation instance r(R</a:t>
            </a:r>
            <a:r>
              <a:rPr lang="en-US" sz="2400" i="1" dirty="0">
                <a:solidFill>
                  <a:schemeClr val="tx1"/>
                </a:solidFill>
              </a:rPr>
              <a:t>)-that is, </a:t>
            </a:r>
            <a:r>
              <a:rPr lang="en-US" sz="2400" b="1" i="1" dirty="0">
                <a:solidFill>
                  <a:schemeClr val="tx1"/>
                </a:solidFill>
              </a:rPr>
              <a:t>X is a candidate key of R</a:t>
            </a:r>
            <a:r>
              <a:rPr lang="en-US" sz="2400" i="1" dirty="0">
                <a:solidFill>
                  <a:schemeClr val="tx1"/>
                </a:solidFill>
              </a:rPr>
              <a:t>-this </a:t>
            </a:r>
            <a:r>
              <a:rPr lang="en-US" sz="2400" b="1" i="1" dirty="0">
                <a:solidFill>
                  <a:schemeClr val="tx1"/>
                </a:solidFill>
              </a:rPr>
              <a:t>implies that X -&gt;Y for any subset of attributes Y of R (because the key constraint implies that </a:t>
            </a:r>
            <a:r>
              <a:rPr lang="en-US" sz="2400" b="1" i="1" dirty="0">
                <a:solidFill>
                  <a:schemeClr val="accent2"/>
                </a:solidFill>
              </a:rPr>
              <a:t>no two tuples in any legal state r(R) will have the same value of X</a:t>
            </a:r>
            <a:r>
              <a:rPr lang="en-US" sz="2400" b="1" i="1" dirty="0">
                <a:solidFill>
                  <a:schemeClr val="tx1"/>
                </a:solidFill>
              </a:rPr>
              <a:t>).</a:t>
            </a:r>
          </a:p>
          <a:p>
            <a:pPr algn="l"/>
            <a:r>
              <a:rPr lang="en-US" sz="2400" i="1" dirty="0">
                <a:solidFill>
                  <a:schemeClr val="tx1"/>
                </a:solidFill>
              </a:rPr>
              <a:t>• If X-&gt; Y in R, this does not say whether or not Y -&gt;X in R.</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
            <a:ext cx="7772400" cy="457200"/>
          </a:xfrm>
        </p:spPr>
        <p:txBody>
          <a:bodyPr>
            <a:noAutofit/>
          </a:bodyPr>
          <a:lstStyle/>
          <a:p>
            <a:endParaRPr lang="en-US" sz="2400" dirty="0"/>
          </a:p>
        </p:txBody>
      </p:sp>
      <p:sp>
        <p:nvSpPr>
          <p:cNvPr id="3" name="Subtitle 2"/>
          <p:cNvSpPr>
            <a:spLocks noGrp="1"/>
          </p:cNvSpPr>
          <p:nvPr>
            <p:ph type="subTitle" idx="1"/>
          </p:nvPr>
        </p:nvSpPr>
        <p:spPr>
          <a:xfrm>
            <a:off x="152400" y="457200"/>
            <a:ext cx="8991600" cy="6400800"/>
          </a:xfrm>
        </p:spPr>
        <p:txBody>
          <a:bodyPr>
            <a:normAutofit lnSpcReduction="10000"/>
          </a:bodyPr>
          <a:lstStyle/>
          <a:p>
            <a:pPr marL="457200" indent="-457200" algn="l">
              <a:buFont typeface="Wingdings" pitchFamily="2" charset="2"/>
              <a:buChar char="§"/>
            </a:pPr>
            <a:r>
              <a:rPr lang="en-US" sz="2400" dirty="0">
                <a:solidFill>
                  <a:schemeClr val="tx1"/>
                </a:solidFill>
                <a:latin typeface="Times New Roman" pitchFamily="18" charset="0"/>
                <a:cs typeface="Times New Roman" pitchFamily="18" charset="0"/>
              </a:rPr>
              <a:t>A functional dependency is a property of the semantics or meaning of the attributes </a:t>
            </a:r>
          </a:p>
          <a:p>
            <a:pPr marL="457200" indent="-457200" algn="l">
              <a:buFont typeface="Wingdings" pitchFamily="2" charset="2"/>
              <a:buChar char="§"/>
            </a:pPr>
            <a:r>
              <a:rPr lang="en-US" sz="2400" dirty="0">
                <a:solidFill>
                  <a:schemeClr val="tx1"/>
                </a:solidFill>
                <a:latin typeface="Times New Roman" pitchFamily="18" charset="0"/>
                <a:cs typeface="Times New Roman" pitchFamily="18" charset="0"/>
              </a:rPr>
              <a:t>Consider the relation schema EMP_PROJ.</a:t>
            </a:r>
          </a:p>
          <a:p>
            <a:pPr marL="457200" indent="-457200" algn="l">
              <a:buFont typeface="Wingdings" pitchFamily="2" charset="2"/>
              <a:buChar char="§"/>
            </a:pPr>
            <a:r>
              <a:rPr lang="en-US" sz="2400" dirty="0">
                <a:solidFill>
                  <a:schemeClr val="tx1"/>
                </a:solidFill>
                <a:latin typeface="Times New Roman" pitchFamily="18" charset="0"/>
                <a:cs typeface="Times New Roman" pitchFamily="18" charset="0"/>
              </a:rPr>
              <a:t>From the semantics of the attributes, we know that the following functional dependencies should hold</a:t>
            </a:r>
          </a:p>
          <a:p>
            <a:pPr marL="1371600" lvl="2" indent="-457200" algn="just"/>
            <a:r>
              <a:rPr lang="en-US" sz="2000" dirty="0">
                <a:solidFill>
                  <a:schemeClr val="tx1"/>
                </a:solidFill>
                <a:latin typeface="Times New Roman" pitchFamily="18" charset="0"/>
                <a:cs typeface="Times New Roman" pitchFamily="18" charset="0"/>
              </a:rPr>
              <a:t>a. SSN </a:t>
            </a:r>
            <a:r>
              <a:rPr lang="en-US" sz="2000" dirty="0">
                <a:solidFill>
                  <a:schemeClr val="tx1"/>
                </a:solidFill>
                <a:latin typeface="Times New Roman" pitchFamily="18" charset="0"/>
                <a:cs typeface="Times New Roman" pitchFamily="18" charset="0"/>
                <a:sym typeface="Wingdings" pitchFamily="2" charset="2"/>
              </a:rPr>
              <a:t></a:t>
            </a:r>
            <a:r>
              <a:rPr lang="en-US" sz="2000" dirty="0">
                <a:solidFill>
                  <a:schemeClr val="tx1"/>
                </a:solidFill>
                <a:latin typeface="Times New Roman" pitchFamily="18" charset="0"/>
                <a:cs typeface="Times New Roman" pitchFamily="18" charset="0"/>
              </a:rPr>
              <a:t> ENAME</a:t>
            </a:r>
          </a:p>
          <a:p>
            <a:pPr marL="1371600" lvl="2" indent="-457200" algn="just"/>
            <a:r>
              <a:rPr lang="en-US" sz="2000" dirty="0">
                <a:solidFill>
                  <a:schemeClr val="tx1"/>
                </a:solidFill>
                <a:latin typeface="Times New Roman" pitchFamily="18" charset="0"/>
                <a:cs typeface="Times New Roman" pitchFamily="18" charset="0"/>
              </a:rPr>
              <a:t>b. PNUMBER</a:t>
            </a:r>
            <a:r>
              <a:rPr lang="en-US" sz="2000" dirty="0">
                <a:solidFill>
                  <a:schemeClr val="tx1"/>
                </a:solidFill>
                <a:latin typeface="Times New Roman" pitchFamily="18" charset="0"/>
                <a:cs typeface="Times New Roman" pitchFamily="18" charset="0"/>
                <a:sym typeface="Wingdings" pitchFamily="2" charset="2"/>
              </a:rPr>
              <a:t></a:t>
            </a:r>
            <a:r>
              <a:rPr lang="en-US" sz="2000" dirty="0">
                <a:solidFill>
                  <a:schemeClr val="tx1"/>
                </a:solidFill>
                <a:latin typeface="Times New Roman" pitchFamily="18" charset="0"/>
                <a:cs typeface="Times New Roman" pitchFamily="18" charset="0"/>
              </a:rPr>
              <a:t>{PNAME, PLOCATION}</a:t>
            </a:r>
          </a:p>
          <a:p>
            <a:pPr marL="1371600" lvl="2" indent="-457200" algn="just"/>
            <a:r>
              <a:rPr lang="en-US" sz="2000" dirty="0">
                <a:solidFill>
                  <a:schemeClr val="tx1"/>
                </a:solidFill>
                <a:latin typeface="Times New Roman" pitchFamily="18" charset="0"/>
                <a:cs typeface="Times New Roman" pitchFamily="18" charset="0"/>
              </a:rPr>
              <a:t>C. {SSN, PNUMBER}</a:t>
            </a:r>
            <a:r>
              <a:rPr lang="en-US" sz="2000" dirty="0">
                <a:solidFill>
                  <a:schemeClr val="tx1"/>
                </a:solidFill>
                <a:latin typeface="Times New Roman" pitchFamily="18" charset="0"/>
                <a:cs typeface="Times New Roman" pitchFamily="18" charset="0"/>
                <a:sym typeface="Wingdings" pitchFamily="2" charset="2"/>
              </a:rPr>
              <a:t></a:t>
            </a:r>
            <a:r>
              <a:rPr lang="en-US" sz="2000" dirty="0">
                <a:solidFill>
                  <a:schemeClr val="tx1"/>
                </a:solidFill>
                <a:latin typeface="Times New Roman" pitchFamily="18" charset="0"/>
                <a:cs typeface="Times New Roman" pitchFamily="18" charset="0"/>
              </a:rPr>
              <a:t>HOURS</a:t>
            </a:r>
          </a:p>
          <a:p>
            <a:pPr marL="457200" indent="-457200" algn="l">
              <a:buFont typeface="Wingdings" pitchFamily="2" charset="2"/>
              <a:buChar char="§"/>
            </a:pPr>
            <a:r>
              <a:rPr lang="en-US" sz="2400" dirty="0">
                <a:solidFill>
                  <a:schemeClr val="tx1"/>
                </a:solidFill>
                <a:latin typeface="Times New Roman" pitchFamily="18" charset="0"/>
                <a:cs typeface="Times New Roman" pitchFamily="18" charset="0"/>
              </a:rPr>
              <a:t>These functional dependencies specify that</a:t>
            </a:r>
          </a:p>
          <a:p>
            <a:pPr marL="457200" indent="-457200" algn="l">
              <a:buFont typeface="Wingdings" pitchFamily="2" charset="2"/>
              <a:buChar char="§"/>
            </a:pPr>
            <a:r>
              <a:rPr lang="en-US" sz="2400" dirty="0">
                <a:solidFill>
                  <a:schemeClr val="tx1"/>
                </a:solidFill>
                <a:latin typeface="Times New Roman" pitchFamily="18" charset="0"/>
                <a:cs typeface="Times New Roman" pitchFamily="18" charset="0"/>
              </a:rPr>
              <a:t> (a) the value of an employee's social security number (SSN) uniquely determines the employee name (ENAME),</a:t>
            </a:r>
          </a:p>
          <a:p>
            <a:pPr marL="457200" indent="-457200" algn="l">
              <a:buFont typeface="Wingdings" pitchFamily="2" charset="2"/>
              <a:buChar char="§"/>
            </a:pPr>
            <a:r>
              <a:rPr lang="en-US" sz="2400" dirty="0">
                <a:solidFill>
                  <a:schemeClr val="tx1"/>
                </a:solidFill>
                <a:latin typeface="Times New Roman" pitchFamily="18" charset="0"/>
                <a:cs typeface="Times New Roman" pitchFamily="18" charset="0"/>
              </a:rPr>
              <a:t> (b) the value of a project's number (PNUMBER) uniquely determines the project name (PNAME) and location (PLOCATION), and</a:t>
            </a:r>
          </a:p>
          <a:p>
            <a:pPr marL="457200" indent="-457200" algn="l">
              <a:buFont typeface="Wingdings" pitchFamily="2" charset="2"/>
              <a:buChar char="§"/>
            </a:pPr>
            <a:r>
              <a:rPr lang="en-US" sz="2400" dirty="0">
                <a:solidFill>
                  <a:schemeClr val="tx1"/>
                </a:solidFill>
                <a:latin typeface="Times New Roman" pitchFamily="18" charset="0"/>
                <a:cs typeface="Times New Roman" pitchFamily="18" charset="0"/>
              </a:rPr>
              <a:t> (c) a combination of SSN and PNUMBER values uniquely determines the number of hours the employee currently works on the project per week (HOURS).</a:t>
            </a:r>
          </a:p>
          <a:p>
            <a:pPr algn="l">
              <a:buFont typeface="Arial" pitchFamily="34" charset="0"/>
              <a:buChar char="•"/>
            </a:pPr>
            <a:endParaRPr lang="en-US" sz="2400" dirty="0">
              <a:solidFill>
                <a:schemeClr val="tx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
            <a:ext cx="7772400" cy="457200"/>
          </a:xfrm>
        </p:spPr>
        <p:txBody>
          <a:bodyPr>
            <a:noAutofit/>
          </a:bodyPr>
          <a:lstStyle/>
          <a:p>
            <a:endParaRPr lang="en-US" sz="2400" dirty="0"/>
          </a:p>
        </p:txBody>
      </p:sp>
      <p:sp>
        <p:nvSpPr>
          <p:cNvPr id="3" name="Subtitle 2"/>
          <p:cNvSpPr>
            <a:spLocks noGrp="1"/>
          </p:cNvSpPr>
          <p:nvPr>
            <p:ph type="subTitle" idx="1"/>
          </p:nvPr>
        </p:nvSpPr>
        <p:spPr>
          <a:xfrm>
            <a:off x="152400" y="457200"/>
            <a:ext cx="8839200" cy="6400800"/>
          </a:xfrm>
        </p:spPr>
        <p:txBody>
          <a:bodyPr>
            <a:normAutofit/>
          </a:bodyPr>
          <a:lstStyle/>
          <a:p>
            <a:pPr algn="l"/>
            <a:r>
              <a:rPr lang="en-US" sz="2400" b="1" dirty="0">
                <a:solidFill>
                  <a:schemeClr val="tx1"/>
                </a:solidFill>
              </a:rPr>
              <a:t>Example:  </a:t>
            </a:r>
            <a:r>
              <a:rPr lang="en-US" sz="2400" dirty="0">
                <a:solidFill>
                  <a:schemeClr val="tx1"/>
                </a:solidFill>
              </a:rPr>
              <a:t>TEACHER</a:t>
            </a:r>
            <a:r>
              <a:rPr lang="en-US" sz="2400" dirty="0">
                <a:solidFill>
                  <a:schemeClr val="tx1"/>
                </a:solidFill>
                <a:sym typeface="Wingdings" pitchFamily="2" charset="2"/>
              </a:rPr>
              <a:t> </a:t>
            </a:r>
            <a:r>
              <a:rPr lang="en-US" sz="2400" dirty="0">
                <a:solidFill>
                  <a:schemeClr val="tx1"/>
                </a:solidFill>
              </a:rPr>
              <a:t>COURSE, we cannot confirm this unless we know that it is true </a:t>
            </a:r>
            <a:r>
              <a:rPr lang="en-US" sz="2400" i="1" dirty="0">
                <a:solidFill>
                  <a:schemeClr val="tx1"/>
                </a:solidFill>
              </a:rPr>
              <a:t>for all possible legal states of TEACH</a:t>
            </a:r>
            <a:endParaRPr lang="en-US" sz="2400" dirty="0">
              <a:solidFill>
                <a:schemeClr val="tx1"/>
              </a:solidFill>
            </a:endParaRPr>
          </a:p>
          <a:p>
            <a:pPr marL="457200" indent="-457200" algn="l">
              <a:buFont typeface="Wingdings" pitchFamily="2" charset="2"/>
              <a:buChar char="§"/>
            </a:pPr>
            <a:r>
              <a:rPr lang="en-US" sz="2400" dirty="0">
                <a:solidFill>
                  <a:schemeClr val="tx1"/>
                </a:solidFill>
              </a:rPr>
              <a:t>It is, however, sufficient to demonstrate </a:t>
            </a:r>
            <a:r>
              <a:rPr lang="en-US" sz="2400" i="1" dirty="0">
                <a:solidFill>
                  <a:schemeClr val="tx1"/>
                </a:solidFill>
              </a:rPr>
              <a:t>a single counterexample to disprove a functional dependency. </a:t>
            </a:r>
          </a:p>
          <a:p>
            <a:pPr marL="457200" indent="-457200" algn="l">
              <a:buFont typeface="Wingdings" pitchFamily="2" charset="2"/>
              <a:buChar char="§"/>
            </a:pPr>
            <a:r>
              <a:rPr lang="en-US" sz="2400" i="1" dirty="0">
                <a:solidFill>
                  <a:schemeClr val="tx1"/>
                </a:solidFill>
              </a:rPr>
              <a:t>For example, </a:t>
            </a:r>
            <a:r>
              <a:rPr lang="en-US" sz="2400" dirty="0">
                <a:solidFill>
                  <a:schemeClr val="tx1"/>
                </a:solidFill>
              </a:rPr>
              <a:t>because 'Smith' teaches both 'Data Structures' and 'Data Management', we can conclude that TEACHER </a:t>
            </a:r>
            <a:r>
              <a:rPr lang="en-US" sz="2400" i="1" dirty="0">
                <a:solidFill>
                  <a:schemeClr val="tx1"/>
                </a:solidFill>
              </a:rPr>
              <a:t>does not functionally determine COURSE.</a:t>
            </a:r>
          </a:p>
          <a:p>
            <a:pPr marL="457200" indent="-457200" algn="l">
              <a:buFont typeface="Wingdings" pitchFamily="2" charset="2"/>
              <a:buChar char="§"/>
            </a:pPr>
            <a:r>
              <a:rPr lang="en-US" sz="2400" dirty="0">
                <a:solidFill>
                  <a:schemeClr val="tx1"/>
                </a:solidFill>
              </a:rPr>
              <a:t>Figure 10.3 introduces a diagrammatic notation for displaying FDs: Each FD is displayed as a horizontal line.</a:t>
            </a:r>
          </a:p>
          <a:p>
            <a:pPr marL="457200" indent="-457200" algn="l">
              <a:buFont typeface="Wingdings" pitchFamily="2" charset="2"/>
              <a:buChar char="§"/>
            </a:pPr>
            <a:r>
              <a:rPr lang="en-US" sz="2400" dirty="0">
                <a:solidFill>
                  <a:schemeClr val="tx1"/>
                </a:solidFill>
              </a:rPr>
              <a:t> The left-hand-side attributes of the FD are connected by vertical lines to the line representing the FD, while the right-hand-side attributes are connected by arrows pointing toward the attributes, as shown in Figures 10.3a and 10.3b.</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28600"/>
            <a:ext cx="7772400" cy="457200"/>
          </a:xfrm>
        </p:spPr>
        <p:txBody>
          <a:bodyPr>
            <a:noAutofit/>
          </a:bodyPr>
          <a:lstStyle/>
          <a:p>
            <a:r>
              <a:rPr lang="en-US" sz="2400" b="1" dirty="0"/>
              <a:t>Inference Rules for Functional Dependencies</a:t>
            </a:r>
            <a:endParaRPr lang="en-US" sz="2400" dirty="0"/>
          </a:p>
        </p:txBody>
      </p:sp>
      <p:sp>
        <p:nvSpPr>
          <p:cNvPr id="3" name="Subtitle 2"/>
          <p:cNvSpPr>
            <a:spLocks noGrp="1"/>
          </p:cNvSpPr>
          <p:nvPr>
            <p:ph type="subTitle" idx="1"/>
          </p:nvPr>
        </p:nvSpPr>
        <p:spPr>
          <a:xfrm>
            <a:off x="152400" y="762000"/>
            <a:ext cx="8839200" cy="5791200"/>
          </a:xfrm>
        </p:spPr>
        <p:txBody>
          <a:bodyPr>
            <a:noAutofit/>
          </a:bodyPr>
          <a:lstStyle/>
          <a:p>
            <a:pPr marL="457200" indent="-457200" algn="l">
              <a:buFont typeface="Wingdings" pitchFamily="2" charset="2"/>
              <a:buChar char="§"/>
            </a:pPr>
            <a:r>
              <a:rPr lang="en-US" sz="2400" dirty="0">
                <a:solidFill>
                  <a:schemeClr val="tx1"/>
                </a:solidFill>
              </a:rPr>
              <a:t>We denote by F the set of functional dependencies that are specified on relation schema R. </a:t>
            </a:r>
          </a:p>
          <a:p>
            <a:pPr marL="457200" indent="-457200" algn="l">
              <a:buFont typeface="Wingdings" pitchFamily="2" charset="2"/>
              <a:buChar char="§"/>
            </a:pPr>
            <a:r>
              <a:rPr lang="en-US" sz="2400" dirty="0">
                <a:solidFill>
                  <a:schemeClr val="tx1"/>
                </a:solidFill>
              </a:rPr>
              <a:t>Typically, the schema designer specifies the functional dependencies that are </a:t>
            </a:r>
            <a:r>
              <a:rPr lang="en-US" sz="2400" b="1" dirty="0">
                <a:solidFill>
                  <a:schemeClr val="tx1"/>
                </a:solidFill>
              </a:rPr>
              <a:t>semanti</a:t>
            </a:r>
            <a:r>
              <a:rPr lang="en-US" sz="2400" b="1" i="1" dirty="0">
                <a:solidFill>
                  <a:schemeClr val="tx1"/>
                </a:solidFill>
              </a:rPr>
              <a:t>cally obvious</a:t>
            </a:r>
            <a:r>
              <a:rPr lang="en-US" sz="2400" i="1" dirty="0">
                <a:solidFill>
                  <a:schemeClr val="tx1"/>
                </a:solidFill>
              </a:rPr>
              <a:t>; </a:t>
            </a:r>
          </a:p>
          <a:p>
            <a:pPr marL="914400" lvl="1" indent="-457200" algn="l">
              <a:buFont typeface="Wingdings" pitchFamily="2" charset="2"/>
              <a:buChar char="§"/>
            </a:pPr>
            <a:r>
              <a:rPr lang="en-US" sz="2000" i="1" dirty="0">
                <a:solidFill>
                  <a:schemeClr val="tx1"/>
                </a:solidFill>
              </a:rPr>
              <a:t>But still </a:t>
            </a:r>
            <a:r>
              <a:rPr lang="en-US" sz="2000" b="1" i="1" dirty="0">
                <a:solidFill>
                  <a:schemeClr val="tx1"/>
                </a:solidFill>
              </a:rPr>
              <a:t>numerous other functional dependencies hold in all legal </a:t>
            </a:r>
            <a:r>
              <a:rPr lang="en-US" sz="2000" b="1" dirty="0">
                <a:solidFill>
                  <a:schemeClr val="tx1"/>
                </a:solidFill>
              </a:rPr>
              <a:t>relation instances that satisfy the dependencies in F. </a:t>
            </a:r>
          </a:p>
          <a:p>
            <a:pPr marL="457200" indent="-457200" algn="l">
              <a:buFont typeface="Wingdings" pitchFamily="2" charset="2"/>
              <a:buChar char="§"/>
            </a:pPr>
            <a:r>
              <a:rPr lang="en-US" sz="2400" dirty="0">
                <a:solidFill>
                  <a:schemeClr val="tx1"/>
                </a:solidFill>
              </a:rPr>
              <a:t>Those other dependencies can be </a:t>
            </a:r>
            <a:r>
              <a:rPr lang="en-US" sz="2400" b="1" i="1" dirty="0">
                <a:solidFill>
                  <a:schemeClr val="tx1"/>
                </a:solidFill>
              </a:rPr>
              <a:t>inferred or deduced from </a:t>
            </a:r>
            <a:r>
              <a:rPr lang="en-US" sz="2400" i="1" dirty="0">
                <a:solidFill>
                  <a:schemeClr val="tx1"/>
                </a:solidFill>
              </a:rPr>
              <a:t>the FDs in F.</a:t>
            </a:r>
          </a:p>
          <a:p>
            <a:pPr marL="457200" indent="-457200" algn="l">
              <a:buFont typeface="Wingdings" pitchFamily="2" charset="2"/>
              <a:buChar char="§"/>
            </a:pPr>
            <a:r>
              <a:rPr lang="en-US" sz="2400" dirty="0">
                <a:solidFill>
                  <a:schemeClr val="tx1"/>
                </a:solidFill>
              </a:rPr>
              <a:t>For example, if each department has one manager, so that DEPT_NO uniquely determines MANAGER_SSN  </a:t>
            </a:r>
            <a:r>
              <a:rPr lang="en-US" sz="2400" dirty="0" err="1">
                <a:solidFill>
                  <a:schemeClr val="tx1"/>
                </a:solidFill>
              </a:rPr>
              <a:t>i.e</a:t>
            </a:r>
            <a:r>
              <a:rPr lang="en-US" sz="2400" dirty="0">
                <a:solidFill>
                  <a:schemeClr val="tx1"/>
                </a:solidFill>
              </a:rPr>
              <a:t> (DEPT_NO </a:t>
            </a:r>
            <a:r>
              <a:rPr lang="en-US" sz="2400" dirty="0">
                <a:solidFill>
                  <a:schemeClr val="tx1"/>
                </a:solidFill>
                <a:sym typeface="Wingdings" pitchFamily="2" charset="2"/>
              </a:rPr>
              <a:t></a:t>
            </a:r>
            <a:r>
              <a:rPr lang="en-US" sz="2400" dirty="0">
                <a:solidFill>
                  <a:schemeClr val="tx1"/>
                </a:solidFill>
              </a:rPr>
              <a:t> MGR_SSN ), and a Manager has a unique phone number called MGR_PHONE  </a:t>
            </a:r>
            <a:r>
              <a:rPr lang="en-US" sz="2400" dirty="0" err="1">
                <a:solidFill>
                  <a:schemeClr val="tx1"/>
                </a:solidFill>
              </a:rPr>
              <a:t>i.e</a:t>
            </a:r>
            <a:r>
              <a:rPr lang="en-US" sz="2400" dirty="0">
                <a:solidFill>
                  <a:schemeClr val="tx1"/>
                </a:solidFill>
              </a:rPr>
              <a:t> (MGR_SSN </a:t>
            </a:r>
            <a:r>
              <a:rPr lang="en-US" sz="2400" dirty="0">
                <a:solidFill>
                  <a:schemeClr val="tx1"/>
                </a:solidFill>
                <a:sym typeface="Wingdings" pitchFamily="2" charset="2"/>
              </a:rPr>
              <a:t></a:t>
            </a:r>
            <a:r>
              <a:rPr lang="en-US" sz="2400" dirty="0">
                <a:solidFill>
                  <a:schemeClr val="tx1"/>
                </a:solidFill>
              </a:rPr>
              <a:t> MGR_PHONE), then these two dependencies together imply that  DEPT_NO </a:t>
            </a:r>
            <a:r>
              <a:rPr lang="en-US" sz="2400" dirty="0">
                <a:solidFill>
                  <a:schemeClr val="tx1"/>
                </a:solidFill>
                <a:sym typeface="Wingdings" pitchFamily="2" charset="2"/>
              </a:rPr>
              <a:t></a:t>
            </a:r>
            <a:r>
              <a:rPr lang="en-US" sz="2400" dirty="0">
                <a:solidFill>
                  <a:schemeClr val="tx1"/>
                </a:solidFill>
              </a:rPr>
              <a:t> MGR_PHONE. </a:t>
            </a:r>
          </a:p>
          <a:p>
            <a:pPr marL="457200" indent="-457200" algn="l">
              <a:buFont typeface="Wingdings" pitchFamily="2" charset="2"/>
              <a:buChar char="§"/>
            </a:pPr>
            <a:r>
              <a:rPr lang="en-US" sz="2400" dirty="0">
                <a:solidFill>
                  <a:schemeClr val="tx1"/>
                </a:solidFill>
              </a:rPr>
              <a:t>This is an inferred FD and need </a:t>
            </a:r>
            <a:r>
              <a:rPr lang="en-US" sz="2400" i="1" dirty="0">
                <a:solidFill>
                  <a:schemeClr val="tx1"/>
                </a:solidFill>
              </a:rPr>
              <a:t>not be explicitly stated in addition to </a:t>
            </a:r>
            <a:r>
              <a:rPr lang="en-US" sz="2400" dirty="0">
                <a:solidFill>
                  <a:schemeClr val="tx1"/>
                </a:solidFill>
              </a:rPr>
              <a:t>the two given FDS.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
            <a:ext cx="7772400" cy="457200"/>
          </a:xfrm>
        </p:spPr>
        <p:txBody>
          <a:bodyPr>
            <a:noAutofit/>
          </a:bodyPr>
          <a:lstStyle/>
          <a:p>
            <a:endParaRPr lang="en-US" sz="2400" dirty="0"/>
          </a:p>
        </p:txBody>
      </p:sp>
      <p:sp>
        <p:nvSpPr>
          <p:cNvPr id="3" name="Subtitle 2"/>
          <p:cNvSpPr>
            <a:spLocks noGrp="1"/>
          </p:cNvSpPr>
          <p:nvPr>
            <p:ph type="subTitle" idx="1"/>
          </p:nvPr>
        </p:nvSpPr>
        <p:spPr>
          <a:xfrm>
            <a:off x="152400" y="457200"/>
            <a:ext cx="8839200" cy="6400800"/>
          </a:xfrm>
        </p:spPr>
        <p:txBody>
          <a:bodyPr>
            <a:normAutofit/>
          </a:bodyPr>
          <a:lstStyle/>
          <a:p>
            <a:pPr algn="l"/>
            <a:r>
              <a:rPr lang="en-US" sz="2400" b="1" i="1" dirty="0">
                <a:solidFill>
                  <a:schemeClr val="tx1"/>
                </a:solidFill>
              </a:rPr>
              <a:t>Definition</a:t>
            </a:r>
            <a:r>
              <a:rPr lang="en-US" sz="2400" b="1" dirty="0">
                <a:solidFill>
                  <a:schemeClr val="tx1"/>
                </a:solidFill>
              </a:rPr>
              <a:t>: </a:t>
            </a:r>
            <a:r>
              <a:rPr lang="en-US" sz="2400" dirty="0">
                <a:solidFill>
                  <a:schemeClr val="tx1"/>
                </a:solidFill>
              </a:rPr>
              <a:t>Formally, the set of all dependencies that include F as well as all dependencies that </a:t>
            </a:r>
            <a:r>
              <a:rPr lang="en-US" sz="2400" b="1" dirty="0">
                <a:solidFill>
                  <a:schemeClr val="tx1"/>
                </a:solidFill>
              </a:rPr>
              <a:t>can be inferred </a:t>
            </a:r>
            <a:r>
              <a:rPr lang="en-US" sz="2400" dirty="0">
                <a:solidFill>
                  <a:schemeClr val="tx1"/>
                </a:solidFill>
              </a:rPr>
              <a:t>from F is called </a:t>
            </a:r>
            <a:r>
              <a:rPr lang="en-US" sz="2400" b="1" dirty="0">
                <a:solidFill>
                  <a:srgbClr val="FF0000"/>
                </a:solidFill>
              </a:rPr>
              <a:t>the closure of F; it is denoted by P+.</a:t>
            </a:r>
          </a:p>
          <a:p>
            <a:pPr algn="l">
              <a:buFont typeface="Arial" pitchFamily="34" charset="0"/>
              <a:buChar char="•"/>
            </a:pPr>
            <a:r>
              <a:rPr lang="en-US" sz="2400" dirty="0">
                <a:solidFill>
                  <a:schemeClr val="tx1"/>
                </a:solidFill>
              </a:rPr>
              <a:t>We use the notation F=l X</a:t>
            </a:r>
            <a:r>
              <a:rPr lang="en-US" sz="2400" dirty="0">
                <a:solidFill>
                  <a:schemeClr val="tx1"/>
                </a:solidFill>
                <a:sym typeface="Wingdings" pitchFamily="2" charset="2"/>
              </a:rPr>
              <a:t>Y </a:t>
            </a:r>
            <a:r>
              <a:rPr lang="en-US" sz="2400" i="1" dirty="0">
                <a:solidFill>
                  <a:schemeClr val="tx1"/>
                </a:solidFill>
              </a:rPr>
              <a:t>to denote that the functional dependency </a:t>
            </a:r>
            <a:r>
              <a:rPr lang="en-US" sz="2400" b="1" i="1" dirty="0">
                <a:solidFill>
                  <a:schemeClr val="tx1"/>
                </a:solidFill>
              </a:rPr>
              <a:t>X</a:t>
            </a:r>
            <a:r>
              <a:rPr lang="en-US" sz="2400" b="1" i="1" dirty="0">
                <a:solidFill>
                  <a:schemeClr val="tx1"/>
                </a:solidFill>
                <a:sym typeface="Wingdings" pitchFamily="2" charset="2"/>
              </a:rPr>
              <a:t></a:t>
            </a:r>
            <a:r>
              <a:rPr lang="en-US" sz="2400" b="1" i="1" dirty="0">
                <a:solidFill>
                  <a:schemeClr val="tx1"/>
                </a:solidFill>
              </a:rPr>
              <a:t> Y is inferred from the set of functional </a:t>
            </a:r>
            <a:r>
              <a:rPr lang="en-US" sz="2400" b="1" dirty="0">
                <a:solidFill>
                  <a:schemeClr val="tx1"/>
                </a:solidFill>
              </a:rPr>
              <a:t>dependencies F.</a:t>
            </a:r>
          </a:p>
          <a:p>
            <a:pPr algn="l">
              <a:buFont typeface="Arial" pitchFamily="34" charset="0"/>
              <a:buChar char="•"/>
            </a:pPr>
            <a:r>
              <a:rPr lang="en-US" sz="2400" dirty="0">
                <a:solidFill>
                  <a:schemeClr val="tx1"/>
                </a:solidFill>
              </a:rPr>
              <a:t>For example, suppose that we specify the following set F of obvious functional dependencies on the relation schema of Figure 10.3a:</a:t>
            </a:r>
          </a:p>
          <a:p>
            <a:pPr algn="l"/>
            <a:r>
              <a:rPr lang="en-US" sz="2400" dirty="0">
                <a:solidFill>
                  <a:schemeClr val="tx1"/>
                </a:solidFill>
              </a:rPr>
              <a:t>F= {SSN </a:t>
            </a:r>
            <a:r>
              <a:rPr lang="en-US" sz="2400" dirty="0">
                <a:solidFill>
                  <a:schemeClr val="tx1"/>
                </a:solidFill>
                <a:sym typeface="Wingdings" pitchFamily="2" charset="2"/>
              </a:rPr>
              <a:t></a:t>
            </a:r>
            <a:r>
              <a:rPr lang="en-US" sz="2400" dirty="0">
                <a:solidFill>
                  <a:schemeClr val="tx1"/>
                </a:solidFill>
              </a:rPr>
              <a:t> {ENAME, BDATE, ADDRESS, DNUMBER},</a:t>
            </a:r>
          </a:p>
          <a:p>
            <a:pPr algn="l"/>
            <a:r>
              <a:rPr lang="en-US" sz="2400" dirty="0">
                <a:solidFill>
                  <a:schemeClr val="tx1"/>
                </a:solidFill>
              </a:rPr>
              <a:t>DNUMBER </a:t>
            </a:r>
            <a:r>
              <a:rPr lang="en-US" sz="2400" dirty="0">
                <a:solidFill>
                  <a:schemeClr val="tx1"/>
                </a:solidFill>
                <a:sym typeface="Wingdings" pitchFamily="2" charset="2"/>
              </a:rPr>
              <a:t></a:t>
            </a:r>
            <a:r>
              <a:rPr lang="en-US" sz="2400" dirty="0">
                <a:solidFill>
                  <a:schemeClr val="tx1"/>
                </a:solidFill>
              </a:rPr>
              <a:t> {DNAME, DMGRSSN}}</a:t>
            </a:r>
          </a:p>
          <a:p>
            <a:pPr algn="l"/>
            <a:r>
              <a:rPr lang="en-US" sz="2400" dirty="0">
                <a:solidFill>
                  <a:schemeClr val="tx1"/>
                </a:solidFill>
              </a:rPr>
              <a:t>Some of the additional functional dependencies that we can  </a:t>
            </a:r>
            <a:r>
              <a:rPr lang="en-US" sz="2400" i="1" dirty="0">
                <a:solidFill>
                  <a:schemeClr val="tx1"/>
                </a:solidFill>
              </a:rPr>
              <a:t>infer from F are the following:</a:t>
            </a:r>
          </a:p>
          <a:p>
            <a:pPr algn="l"/>
            <a:r>
              <a:rPr lang="en-US" sz="2400" dirty="0">
                <a:solidFill>
                  <a:schemeClr val="tx1"/>
                </a:solidFill>
              </a:rPr>
              <a:t>SSN -</a:t>
            </a:r>
            <a:r>
              <a:rPr lang="en-US" sz="2400" dirty="0">
                <a:solidFill>
                  <a:schemeClr val="tx1"/>
                </a:solidFill>
                <a:sym typeface="Wingdings" pitchFamily="2" charset="2"/>
              </a:rPr>
              <a:t></a:t>
            </a:r>
            <a:r>
              <a:rPr lang="en-US" sz="2400" dirty="0">
                <a:solidFill>
                  <a:schemeClr val="tx1"/>
                </a:solidFill>
              </a:rPr>
              <a:t> {DNAME, DMGRSSN}</a:t>
            </a:r>
          </a:p>
          <a:p>
            <a:pPr algn="l"/>
            <a:r>
              <a:rPr lang="en-US" sz="2400" dirty="0">
                <a:solidFill>
                  <a:schemeClr val="tx1"/>
                </a:solidFill>
              </a:rPr>
              <a:t>SSN </a:t>
            </a:r>
            <a:r>
              <a:rPr lang="en-US" sz="2400" dirty="0">
                <a:solidFill>
                  <a:schemeClr val="tx1"/>
                </a:solidFill>
                <a:sym typeface="Wingdings" pitchFamily="2" charset="2"/>
              </a:rPr>
              <a:t></a:t>
            </a:r>
            <a:r>
              <a:rPr lang="en-US" sz="2400" dirty="0">
                <a:solidFill>
                  <a:schemeClr val="tx1"/>
                </a:solidFill>
              </a:rPr>
              <a:t> SSN</a:t>
            </a:r>
          </a:p>
          <a:p>
            <a:pPr algn="l"/>
            <a:r>
              <a:rPr lang="en-US" sz="2400" dirty="0">
                <a:solidFill>
                  <a:schemeClr val="tx1"/>
                </a:solidFill>
              </a:rPr>
              <a:t>DNUMBER </a:t>
            </a:r>
            <a:r>
              <a:rPr lang="en-US" sz="2400" dirty="0">
                <a:solidFill>
                  <a:schemeClr val="tx1"/>
                </a:solidFill>
                <a:sym typeface="Wingdings" pitchFamily="2" charset="2"/>
              </a:rPr>
              <a:t></a:t>
            </a:r>
            <a:r>
              <a:rPr lang="en-US" sz="2400" dirty="0">
                <a:solidFill>
                  <a:schemeClr val="tx1"/>
                </a:solidFill>
              </a:rPr>
              <a:t> DNAME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
            <a:ext cx="7772400" cy="457200"/>
          </a:xfrm>
        </p:spPr>
        <p:txBody>
          <a:bodyPr>
            <a:noAutofit/>
          </a:bodyPr>
          <a:lstStyle/>
          <a:p>
            <a:endParaRPr lang="en-US" sz="2400" dirty="0"/>
          </a:p>
        </p:txBody>
      </p:sp>
      <p:sp>
        <p:nvSpPr>
          <p:cNvPr id="3" name="Subtitle 2"/>
          <p:cNvSpPr>
            <a:spLocks noGrp="1"/>
          </p:cNvSpPr>
          <p:nvPr>
            <p:ph type="subTitle" idx="1"/>
          </p:nvPr>
        </p:nvSpPr>
        <p:spPr>
          <a:xfrm>
            <a:off x="152400" y="457200"/>
            <a:ext cx="8839200" cy="6400800"/>
          </a:xfrm>
        </p:spPr>
        <p:txBody>
          <a:bodyPr>
            <a:normAutofit/>
          </a:bodyPr>
          <a:lstStyle/>
          <a:p>
            <a:pPr algn="l"/>
            <a:r>
              <a:rPr lang="en-US" sz="2400" dirty="0">
                <a:solidFill>
                  <a:schemeClr val="tx1"/>
                </a:solidFill>
                <a:latin typeface="Times New Roman" pitchFamily="18" charset="0"/>
                <a:cs typeface="Times New Roman" pitchFamily="18" charset="0"/>
              </a:rPr>
              <a:t>The following six rules IR1 through IR6 are well known inference rules for functional dependencies</a:t>
            </a:r>
            <a:r>
              <a:rPr lang="en-US" sz="2400" dirty="0">
                <a:latin typeface="Times New Roman" pitchFamily="18" charset="0"/>
                <a:cs typeface="Times New Roman" pitchFamily="18" charset="0"/>
              </a:rPr>
              <a:t>:</a:t>
            </a:r>
          </a:p>
          <a:p>
            <a:pPr algn="l"/>
            <a:r>
              <a:rPr lang="en-US" sz="2400" dirty="0">
                <a:solidFill>
                  <a:schemeClr val="tx1"/>
                </a:solidFill>
                <a:latin typeface="Times New Roman" pitchFamily="18" charset="0"/>
                <a:cs typeface="Times New Roman" pitchFamily="18" charset="0"/>
              </a:rPr>
              <a:t>IR1 (reflexive rule''}: If X </a:t>
            </a:r>
            <a:r>
              <a:rPr lang="en-US" sz="2400" u="sng" dirty="0" err="1">
                <a:solidFill>
                  <a:schemeClr val="tx1"/>
                </a:solidFill>
                <a:latin typeface="Times New Roman" pitchFamily="18" charset="0"/>
                <a:cs typeface="Times New Roman" pitchFamily="18" charset="0"/>
              </a:rPr>
              <a:t>Ↄ</a:t>
            </a:r>
            <a:r>
              <a:rPr lang="en-US" sz="2400" i="1" dirty="0" err="1">
                <a:solidFill>
                  <a:schemeClr val="tx1"/>
                </a:solidFill>
                <a:latin typeface="Times New Roman" pitchFamily="18" charset="0"/>
                <a:cs typeface="Times New Roman" pitchFamily="18" charset="0"/>
              </a:rPr>
              <a:t>Y</a:t>
            </a:r>
            <a:r>
              <a:rPr lang="en-US" sz="2400" i="1" dirty="0">
                <a:solidFill>
                  <a:schemeClr val="tx1"/>
                </a:solidFill>
                <a:latin typeface="Times New Roman" pitchFamily="18" charset="0"/>
                <a:cs typeface="Times New Roman" pitchFamily="18" charset="0"/>
              </a:rPr>
              <a:t>, then X </a:t>
            </a:r>
            <a:r>
              <a:rPr lang="en-US" sz="2400" i="1" dirty="0">
                <a:solidFill>
                  <a:schemeClr val="tx1"/>
                </a:solidFill>
                <a:latin typeface="Times New Roman" pitchFamily="18" charset="0"/>
                <a:cs typeface="Times New Roman" pitchFamily="18" charset="0"/>
                <a:sym typeface="Wingdings" pitchFamily="2" charset="2"/>
              </a:rPr>
              <a:t></a:t>
            </a:r>
            <a:r>
              <a:rPr lang="en-US" sz="2400" i="1" dirty="0">
                <a:solidFill>
                  <a:schemeClr val="tx1"/>
                </a:solidFill>
                <a:latin typeface="Times New Roman" pitchFamily="18" charset="0"/>
                <a:cs typeface="Times New Roman" pitchFamily="18" charset="0"/>
              </a:rPr>
              <a:t>Y.</a:t>
            </a:r>
          </a:p>
          <a:p>
            <a:pPr algn="l"/>
            <a:r>
              <a:rPr lang="en-US" sz="2400" dirty="0">
                <a:solidFill>
                  <a:schemeClr val="tx1"/>
                </a:solidFill>
                <a:latin typeface="Times New Roman" pitchFamily="18" charset="0"/>
                <a:cs typeface="Times New Roman" pitchFamily="18" charset="0"/>
              </a:rPr>
              <a:t>IR2 (augmentation rule"): {X</a:t>
            </a:r>
            <a:r>
              <a:rPr lang="en-US" sz="2400" dirty="0">
                <a:solidFill>
                  <a:schemeClr val="tx1"/>
                </a:solidFill>
                <a:latin typeface="Times New Roman" pitchFamily="18" charset="0"/>
                <a:cs typeface="Times New Roman" pitchFamily="18" charset="0"/>
                <a:sym typeface="Wingdings" pitchFamily="2" charset="2"/>
              </a:rPr>
              <a:t></a:t>
            </a: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Y}=l  XZ </a:t>
            </a:r>
            <a:r>
              <a:rPr lang="en-US" sz="2400" i="1" dirty="0">
                <a:solidFill>
                  <a:schemeClr val="tx1"/>
                </a:solidFill>
                <a:latin typeface="Times New Roman" pitchFamily="18" charset="0"/>
                <a:cs typeface="Times New Roman" pitchFamily="18" charset="0"/>
                <a:sym typeface="Wingdings" pitchFamily="2" charset="2"/>
              </a:rPr>
              <a:t></a:t>
            </a:r>
            <a:r>
              <a:rPr lang="en-US" sz="2400" i="1" dirty="0">
                <a:solidFill>
                  <a:schemeClr val="tx1"/>
                </a:solidFill>
                <a:latin typeface="Times New Roman" pitchFamily="18" charset="0"/>
                <a:cs typeface="Times New Roman" pitchFamily="18" charset="0"/>
              </a:rPr>
              <a:t> YZ.</a:t>
            </a:r>
          </a:p>
          <a:p>
            <a:pPr algn="l"/>
            <a:r>
              <a:rPr lang="es-ES" sz="2400" dirty="0">
                <a:solidFill>
                  <a:schemeClr val="tx1"/>
                </a:solidFill>
                <a:latin typeface="Times New Roman" pitchFamily="18" charset="0"/>
                <a:cs typeface="Times New Roman" pitchFamily="18" charset="0"/>
              </a:rPr>
              <a:t>IR3 (</a:t>
            </a:r>
            <a:r>
              <a:rPr lang="es-ES" sz="2400" dirty="0" err="1">
                <a:solidFill>
                  <a:schemeClr val="tx1"/>
                </a:solidFill>
                <a:latin typeface="Times New Roman" pitchFamily="18" charset="0"/>
                <a:cs typeface="Times New Roman" pitchFamily="18" charset="0"/>
              </a:rPr>
              <a:t>transitive</a:t>
            </a:r>
            <a:r>
              <a:rPr lang="es-ES" sz="2400" dirty="0">
                <a:solidFill>
                  <a:schemeClr val="tx1"/>
                </a:solidFill>
                <a:latin typeface="Times New Roman" pitchFamily="18" charset="0"/>
                <a:cs typeface="Times New Roman" pitchFamily="18" charset="0"/>
              </a:rPr>
              <a:t> rule): {X </a:t>
            </a:r>
            <a:r>
              <a:rPr lang="es-ES" sz="2400" dirty="0">
                <a:solidFill>
                  <a:schemeClr val="tx1"/>
                </a:solidFill>
                <a:latin typeface="Times New Roman" pitchFamily="18" charset="0"/>
                <a:cs typeface="Times New Roman" pitchFamily="18" charset="0"/>
                <a:sym typeface="Wingdings" pitchFamily="2" charset="2"/>
              </a:rPr>
              <a:t></a:t>
            </a:r>
            <a:r>
              <a:rPr lang="es-ES" sz="2400" dirty="0">
                <a:solidFill>
                  <a:schemeClr val="tx1"/>
                </a:solidFill>
                <a:latin typeface="Times New Roman" pitchFamily="18" charset="0"/>
                <a:cs typeface="Times New Roman" pitchFamily="18" charset="0"/>
              </a:rPr>
              <a:t> </a:t>
            </a:r>
            <a:r>
              <a:rPr lang="es-ES" sz="2400" i="1" dirty="0">
                <a:solidFill>
                  <a:schemeClr val="tx1"/>
                </a:solidFill>
                <a:latin typeface="Times New Roman" pitchFamily="18" charset="0"/>
                <a:cs typeface="Times New Roman" pitchFamily="18" charset="0"/>
              </a:rPr>
              <a:t>Y, Y </a:t>
            </a:r>
            <a:r>
              <a:rPr lang="es-ES" sz="2400" i="1" dirty="0">
                <a:solidFill>
                  <a:schemeClr val="tx1"/>
                </a:solidFill>
                <a:latin typeface="Times New Roman" pitchFamily="18" charset="0"/>
                <a:cs typeface="Times New Roman" pitchFamily="18" charset="0"/>
                <a:sym typeface="Wingdings" pitchFamily="2" charset="2"/>
              </a:rPr>
              <a:t></a:t>
            </a:r>
            <a:r>
              <a:rPr lang="es-ES" sz="2400" i="1" dirty="0">
                <a:solidFill>
                  <a:schemeClr val="tx1"/>
                </a:solidFill>
                <a:latin typeface="Times New Roman" pitchFamily="18" charset="0"/>
                <a:cs typeface="Times New Roman" pitchFamily="18" charset="0"/>
              </a:rPr>
              <a:t> Z} =l X </a:t>
            </a:r>
            <a:r>
              <a:rPr lang="es-ES" sz="2400" i="1" dirty="0">
                <a:solidFill>
                  <a:schemeClr val="tx1"/>
                </a:solidFill>
                <a:latin typeface="Times New Roman" pitchFamily="18" charset="0"/>
                <a:cs typeface="Times New Roman" pitchFamily="18" charset="0"/>
                <a:sym typeface="Wingdings" pitchFamily="2" charset="2"/>
              </a:rPr>
              <a:t></a:t>
            </a:r>
            <a:r>
              <a:rPr lang="es-ES" sz="2400" i="1" dirty="0">
                <a:solidFill>
                  <a:schemeClr val="tx1"/>
                </a:solidFill>
                <a:latin typeface="Times New Roman" pitchFamily="18" charset="0"/>
                <a:cs typeface="Times New Roman" pitchFamily="18" charset="0"/>
              </a:rPr>
              <a:t> Z.</a:t>
            </a:r>
          </a:p>
          <a:p>
            <a:pPr algn="l"/>
            <a:r>
              <a:rPr lang="en-US" sz="2400" dirty="0">
                <a:solidFill>
                  <a:schemeClr val="tx1"/>
                </a:solidFill>
                <a:latin typeface="Times New Roman" pitchFamily="18" charset="0"/>
                <a:cs typeface="Times New Roman" pitchFamily="18" charset="0"/>
              </a:rPr>
              <a:t>IR4 (decomposition, or projective, rule): {X </a:t>
            </a:r>
            <a:r>
              <a:rPr lang="en-US" sz="2400" dirty="0">
                <a:solidFill>
                  <a:schemeClr val="tx1"/>
                </a:solidFill>
                <a:latin typeface="Times New Roman" pitchFamily="18" charset="0"/>
                <a:cs typeface="Times New Roman" pitchFamily="18" charset="0"/>
                <a:sym typeface="Wingdings" pitchFamily="2" charset="2"/>
              </a:rPr>
              <a:t></a:t>
            </a: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YZ}l= X</a:t>
            </a:r>
            <a:r>
              <a:rPr lang="en-US" sz="2400" i="1" dirty="0">
                <a:solidFill>
                  <a:schemeClr val="tx1"/>
                </a:solidFill>
                <a:latin typeface="Times New Roman" pitchFamily="18" charset="0"/>
                <a:cs typeface="Times New Roman" pitchFamily="18" charset="0"/>
                <a:sym typeface="Wingdings" pitchFamily="2" charset="2"/>
              </a:rPr>
              <a:t></a:t>
            </a:r>
            <a:r>
              <a:rPr lang="en-US" sz="2400" i="1" dirty="0">
                <a:solidFill>
                  <a:schemeClr val="tx1"/>
                </a:solidFill>
                <a:latin typeface="Times New Roman" pitchFamily="18" charset="0"/>
                <a:cs typeface="Times New Roman" pitchFamily="18" charset="0"/>
              </a:rPr>
              <a:t> Y.</a:t>
            </a:r>
          </a:p>
          <a:p>
            <a:pPr algn="l"/>
            <a:r>
              <a:rPr lang="en-US" sz="2400" dirty="0">
                <a:solidFill>
                  <a:schemeClr val="tx1"/>
                </a:solidFill>
                <a:latin typeface="Times New Roman" pitchFamily="18" charset="0"/>
                <a:cs typeface="Times New Roman" pitchFamily="18" charset="0"/>
              </a:rPr>
              <a:t>IR5 (union, or additive, rule): {X </a:t>
            </a:r>
            <a:r>
              <a:rPr lang="en-US" sz="2400" dirty="0">
                <a:solidFill>
                  <a:schemeClr val="tx1"/>
                </a:solidFill>
                <a:latin typeface="Times New Roman" pitchFamily="18" charset="0"/>
                <a:cs typeface="Times New Roman" pitchFamily="18" charset="0"/>
                <a:sym typeface="Wingdings" pitchFamily="2" charset="2"/>
              </a:rPr>
              <a:t></a:t>
            </a:r>
            <a:r>
              <a:rPr lang="en-US" sz="2400" dirty="0">
                <a:solidFill>
                  <a:schemeClr val="tx1"/>
                </a:solidFill>
                <a:latin typeface="Times New Roman" pitchFamily="18" charset="0"/>
                <a:cs typeface="Times New Roman" pitchFamily="18" charset="0"/>
              </a:rPr>
              <a:t> Y, X </a:t>
            </a:r>
            <a:r>
              <a:rPr lang="en-US" sz="2400" dirty="0">
                <a:solidFill>
                  <a:schemeClr val="tx1"/>
                </a:solidFill>
                <a:latin typeface="Times New Roman" pitchFamily="18" charset="0"/>
                <a:cs typeface="Times New Roman" pitchFamily="18" charset="0"/>
                <a:sym typeface="Wingdings" pitchFamily="2" charset="2"/>
              </a:rPr>
              <a:t>Z</a:t>
            </a:r>
            <a:r>
              <a:rPr lang="en-US" sz="2400" dirty="0">
                <a:solidFill>
                  <a:schemeClr val="tx1"/>
                </a:solidFill>
                <a:latin typeface="Times New Roman" pitchFamily="18" charset="0"/>
                <a:cs typeface="Times New Roman" pitchFamily="18" charset="0"/>
              </a:rPr>
              <a:t>}=l X </a:t>
            </a:r>
            <a:r>
              <a:rPr lang="en-US" sz="2400" dirty="0">
                <a:solidFill>
                  <a:schemeClr val="tx1"/>
                </a:solidFill>
                <a:latin typeface="Times New Roman" pitchFamily="18" charset="0"/>
                <a:cs typeface="Times New Roman" pitchFamily="18" charset="0"/>
                <a:sym typeface="Wingdings" pitchFamily="2" charset="2"/>
              </a:rPr>
              <a:t></a:t>
            </a:r>
            <a:r>
              <a:rPr lang="en-US" sz="2400" dirty="0">
                <a:solidFill>
                  <a:schemeClr val="tx1"/>
                </a:solidFill>
                <a:latin typeface="Times New Roman" pitchFamily="18" charset="0"/>
                <a:cs typeface="Times New Roman" pitchFamily="18" charset="0"/>
              </a:rPr>
              <a:t> </a:t>
            </a:r>
            <a:r>
              <a:rPr lang="en-US" sz="2400" i="1" dirty="0">
                <a:solidFill>
                  <a:schemeClr val="tx1"/>
                </a:solidFill>
                <a:latin typeface="Times New Roman" pitchFamily="18" charset="0"/>
                <a:cs typeface="Times New Roman" pitchFamily="18" charset="0"/>
              </a:rPr>
              <a:t>YZ.</a:t>
            </a:r>
          </a:p>
          <a:p>
            <a:pPr algn="l"/>
            <a:r>
              <a:rPr lang="en-US" sz="2400" dirty="0">
                <a:latin typeface="Times New Roman" pitchFamily="18" charset="0"/>
                <a:cs typeface="Times New Roman" pitchFamily="18" charset="0"/>
              </a:rPr>
              <a:t>       </a:t>
            </a:r>
          </a:p>
          <a:p>
            <a:r>
              <a:rPr lang="en-US" sz="2400" dirty="0">
                <a:solidFill>
                  <a:schemeClr val="tx1"/>
                </a:solidFill>
                <a:latin typeface="Times New Roman" pitchFamily="18" charset="0"/>
                <a:cs typeface="Times New Roman" pitchFamily="18" charset="0"/>
              </a:rPr>
              <a:t>READING ASSIGNMENT  PROOF ALL OF THEM</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Autofit/>
          </a:bodyPr>
          <a:lstStyle/>
          <a:p>
            <a:r>
              <a:rPr lang="en-US" sz="2400" b="1" dirty="0"/>
              <a:t>Normalization of Relations</a:t>
            </a:r>
            <a:endParaRPr lang="en-US" sz="2400" dirty="0"/>
          </a:p>
        </p:txBody>
      </p:sp>
      <p:sp>
        <p:nvSpPr>
          <p:cNvPr id="3" name="Content Placeholder 2"/>
          <p:cNvSpPr>
            <a:spLocks noGrp="1"/>
          </p:cNvSpPr>
          <p:nvPr>
            <p:ph idx="1"/>
          </p:nvPr>
        </p:nvSpPr>
        <p:spPr>
          <a:xfrm>
            <a:off x="152400" y="533400"/>
            <a:ext cx="8839200" cy="6096000"/>
          </a:xfrm>
        </p:spPr>
        <p:txBody>
          <a:bodyPr>
            <a:normAutofit/>
          </a:bodyPr>
          <a:lstStyle/>
          <a:p>
            <a:r>
              <a:rPr lang="en-US" sz="2400" dirty="0"/>
              <a:t>The normalization process, was first proposed by </a:t>
            </a:r>
            <a:r>
              <a:rPr lang="en-US" sz="2400" dirty="0" err="1"/>
              <a:t>Codd</a:t>
            </a:r>
            <a:r>
              <a:rPr lang="en-US" sz="2400" dirty="0"/>
              <a:t> (l972a)</a:t>
            </a:r>
          </a:p>
          <a:p>
            <a:r>
              <a:rPr lang="en-US" sz="2400" dirty="0"/>
              <a:t>Normalization process, which proceeds in a </a:t>
            </a:r>
            <a:r>
              <a:rPr lang="en-US" sz="2400" b="1" dirty="0"/>
              <a:t>top-down fashion </a:t>
            </a:r>
            <a:r>
              <a:rPr lang="en-US" sz="2400" dirty="0"/>
              <a:t>by </a:t>
            </a:r>
            <a:r>
              <a:rPr lang="en-US" sz="2400" b="1" dirty="0"/>
              <a:t>evaluating each relation against the criteria for normal </a:t>
            </a:r>
            <a:r>
              <a:rPr lang="en-US" sz="2400" dirty="0"/>
              <a:t>forms and decomposing relations as necessary, is considered as </a:t>
            </a:r>
            <a:r>
              <a:rPr lang="en-US" sz="2400" b="1" i="1" dirty="0"/>
              <a:t>relational design by analysis.</a:t>
            </a:r>
          </a:p>
          <a:p>
            <a:r>
              <a:rPr lang="en-US" sz="2400" dirty="0"/>
              <a:t>Normalization of data can be looked upon as a process of analyzing the given relation schemas based on their FDs and primary keys to achieve the desirable properties of:</a:t>
            </a:r>
          </a:p>
          <a:p>
            <a:pPr marL="457200" indent="-457200">
              <a:buAutoNum type="arabicPeriod"/>
            </a:pPr>
            <a:r>
              <a:rPr lang="en-US" sz="2400" dirty="0"/>
              <a:t>minimizing redundancy</a:t>
            </a:r>
          </a:p>
          <a:p>
            <a:pPr>
              <a:buNone/>
            </a:pPr>
            <a:r>
              <a:rPr lang="en-US" sz="2400" dirty="0"/>
              <a:t>2.   minimizing the insertion, deletion, and update anomalies</a:t>
            </a:r>
          </a:p>
          <a:p>
            <a:pPr lvl="1"/>
            <a:r>
              <a:rPr lang="en-US" sz="2000" b="1" dirty="0"/>
              <a:t>Unsatisfactory relation schemas that do not meet certain conditions-the </a:t>
            </a:r>
            <a:r>
              <a:rPr lang="en-US" sz="2000" dirty="0"/>
              <a:t>normal form tests-are </a:t>
            </a:r>
            <a:r>
              <a:rPr lang="en-US" sz="2000" b="1" dirty="0"/>
              <a:t>decomposed into smaller relation schema</a:t>
            </a:r>
            <a:r>
              <a:rPr lang="en-US" sz="2000" dirty="0"/>
              <a:t>s that meet the tests and hence possess the desirable properties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Autofit/>
          </a:bodyPr>
          <a:lstStyle/>
          <a:p>
            <a:pPr algn="l"/>
            <a:r>
              <a:rPr lang="en-US" sz="2400" b="1" dirty="0"/>
              <a:t>Definitions of Keys and Attributes Participating in Keys</a:t>
            </a:r>
            <a:endParaRPr lang="en-US" sz="2400" dirty="0"/>
          </a:p>
        </p:txBody>
      </p:sp>
      <p:sp>
        <p:nvSpPr>
          <p:cNvPr id="3" name="Content Placeholder 2"/>
          <p:cNvSpPr>
            <a:spLocks noGrp="1"/>
          </p:cNvSpPr>
          <p:nvPr>
            <p:ph idx="1"/>
          </p:nvPr>
        </p:nvSpPr>
        <p:spPr>
          <a:xfrm>
            <a:off x="152400" y="533400"/>
            <a:ext cx="8839200" cy="6096000"/>
          </a:xfrm>
        </p:spPr>
        <p:txBody>
          <a:bodyPr>
            <a:normAutofit/>
          </a:bodyPr>
          <a:lstStyle/>
          <a:p>
            <a:r>
              <a:rPr lang="en-US" sz="2400" b="1" dirty="0"/>
              <a:t>Definition: </a:t>
            </a:r>
            <a:r>
              <a:rPr lang="en-US" sz="2400" dirty="0"/>
              <a:t>A</a:t>
            </a:r>
            <a:r>
              <a:rPr lang="en-US" sz="2400" dirty="0">
                <a:solidFill>
                  <a:srgbClr val="FF0000"/>
                </a:solidFill>
              </a:rPr>
              <a:t> </a:t>
            </a:r>
            <a:r>
              <a:rPr lang="en-US" sz="2400" dirty="0" err="1">
                <a:solidFill>
                  <a:srgbClr val="FF0000"/>
                </a:solidFill>
              </a:rPr>
              <a:t>superkey</a:t>
            </a:r>
            <a:r>
              <a:rPr lang="en-US" sz="2400" dirty="0">
                <a:solidFill>
                  <a:srgbClr val="FF0000"/>
                </a:solidFill>
              </a:rPr>
              <a:t> </a:t>
            </a:r>
            <a:r>
              <a:rPr lang="en-US" sz="2400" dirty="0"/>
              <a:t>of a relation schema R = {AI, A2, ... , An} is a set of attributes S </a:t>
            </a:r>
            <a:r>
              <a:rPr lang="en-US" sz="2400" u="sng" dirty="0">
                <a:sym typeface="Wingdings" pitchFamily="2" charset="2"/>
              </a:rPr>
              <a:t>C</a:t>
            </a:r>
            <a:r>
              <a:rPr lang="en-US" sz="2400" dirty="0"/>
              <a:t> R with the property that </a:t>
            </a:r>
            <a:r>
              <a:rPr lang="en-US" sz="2400" b="1" dirty="0"/>
              <a:t>no two tuples </a:t>
            </a:r>
            <a:r>
              <a:rPr lang="en-US" sz="2400" b="1" dirty="0" err="1"/>
              <a:t>tl</a:t>
            </a:r>
            <a:r>
              <a:rPr lang="en-US" sz="2400" b="1" dirty="0"/>
              <a:t> and t2 in any legal relation state r of R will have </a:t>
            </a:r>
            <a:r>
              <a:rPr lang="en-US" sz="2400" b="1" dirty="0" err="1"/>
              <a:t>tl</a:t>
            </a:r>
            <a:r>
              <a:rPr lang="en-US" sz="2400" b="1" dirty="0"/>
              <a:t>[S] = </a:t>
            </a:r>
            <a:r>
              <a:rPr lang="en-US" sz="2400" b="1" i="1" dirty="0"/>
              <a:t>t2[S</a:t>
            </a:r>
            <a:r>
              <a:rPr lang="en-US" sz="2400" i="1" dirty="0"/>
              <a:t>]. </a:t>
            </a:r>
          </a:p>
          <a:p>
            <a:r>
              <a:rPr lang="en-US" sz="2400" i="1" dirty="0"/>
              <a:t>A key K is a </a:t>
            </a:r>
            <a:r>
              <a:rPr lang="en-US" sz="2400" i="1" dirty="0" err="1"/>
              <a:t>superkey</a:t>
            </a:r>
            <a:r>
              <a:rPr lang="en-US" sz="2400" i="1" dirty="0"/>
              <a:t> with the additional property that</a:t>
            </a:r>
            <a:r>
              <a:rPr lang="en-US" sz="2400" b="1" i="1" dirty="0"/>
              <a:t> </a:t>
            </a:r>
            <a:r>
              <a:rPr lang="en-US" sz="2400" b="1" dirty="0">
                <a:solidFill>
                  <a:srgbClr val="FF0000"/>
                </a:solidFill>
              </a:rPr>
              <a:t>removal of any attribute from K will cause K not to be a </a:t>
            </a:r>
            <a:r>
              <a:rPr lang="en-US" sz="2400" b="1" dirty="0" err="1">
                <a:solidFill>
                  <a:srgbClr val="FF0000"/>
                </a:solidFill>
              </a:rPr>
              <a:t>superkey</a:t>
            </a:r>
            <a:r>
              <a:rPr lang="en-US" sz="2400" b="1" dirty="0">
                <a:solidFill>
                  <a:srgbClr val="FF0000"/>
                </a:solidFill>
              </a:rPr>
              <a:t> any m</a:t>
            </a:r>
            <a:r>
              <a:rPr lang="en-US" sz="2400" b="1" dirty="0"/>
              <a:t>ore</a:t>
            </a:r>
            <a:r>
              <a:rPr lang="en-US" sz="2400" dirty="0"/>
              <a:t>.</a:t>
            </a:r>
          </a:p>
          <a:p>
            <a:r>
              <a:rPr lang="en-US" sz="2400" dirty="0"/>
              <a:t>The difference between a key and a </a:t>
            </a:r>
            <a:r>
              <a:rPr lang="en-US" sz="2400" dirty="0" err="1"/>
              <a:t>superkey</a:t>
            </a:r>
            <a:r>
              <a:rPr lang="en-US" sz="2400" dirty="0"/>
              <a:t> is that a </a:t>
            </a:r>
            <a:r>
              <a:rPr lang="en-US" sz="2400" dirty="0">
                <a:solidFill>
                  <a:srgbClr val="FF0000"/>
                </a:solidFill>
              </a:rPr>
              <a:t>key has to be </a:t>
            </a:r>
            <a:r>
              <a:rPr lang="en-US" sz="2400" i="1" dirty="0">
                <a:solidFill>
                  <a:srgbClr val="FF0000"/>
                </a:solidFill>
              </a:rPr>
              <a:t>minimal</a:t>
            </a:r>
            <a:r>
              <a:rPr lang="en-US" sz="2400" i="1" dirty="0"/>
              <a:t>; that is, if </a:t>
            </a:r>
            <a:r>
              <a:rPr lang="en-US" sz="2400" dirty="0"/>
              <a:t>we have a key K = {A1, A2, ... , </a:t>
            </a:r>
            <a:r>
              <a:rPr lang="en-US" sz="2400" dirty="0" err="1"/>
              <a:t>Ak</a:t>
            </a:r>
            <a:r>
              <a:rPr lang="en-US" sz="2400" dirty="0"/>
              <a:t>} of R, then K - {Ai} is not a key of R for any Ai, 1&lt;=</a:t>
            </a:r>
            <a:r>
              <a:rPr lang="en-US" sz="2400" dirty="0" err="1"/>
              <a:t>i</a:t>
            </a:r>
            <a:r>
              <a:rPr lang="en-US" sz="2400" dirty="0"/>
              <a:t>&lt;=k</a:t>
            </a:r>
          </a:p>
          <a:p>
            <a:r>
              <a:rPr lang="en-US" sz="2400" i="1" dirty="0"/>
              <a:t>Ex:  {</a:t>
            </a:r>
            <a:r>
              <a:rPr lang="en-US" sz="2400" b="1" i="1" dirty="0"/>
              <a:t>SSN} is a key </a:t>
            </a:r>
            <a:r>
              <a:rPr lang="en-US" sz="2400" i="1" dirty="0"/>
              <a:t>for EMPLOYEE, whereas  {SSN, ENAME} {SSN, ENAME, BDATE} </a:t>
            </a:r>
            <a:r>
              <a:rPr lang="en-US" sz="2400" dirty="0"/>
              <a:t>and any set of attributes that includes SSN are all </a:t>
            </a:r>
            <a:r>
              <a:rPr lang="en-US" sz="2400" dirty="0" err="1"/>
              <a:t>superkeys</a:t>
            </a:r>
            <a:r>
              <a:rPr lang="en-US" sz="2400" dirty="0"/>
              <a:t>.</a:t>
            </a:r>
          </a:p>
          <a:p>
            <a:r>
              <a:rPr lang="en-US" sz="2400" dirty="0"/>
              <a:t>If a relation schema has more than one key, each is called a </a:t>
            </a:r>
            <a:r>
              <a:rPr lang="en-US" sz="2400" b="1" dirty="0"/>
              <a:t>candidate key.</a:t>
            </a:r>
          </a:p>
          <a:p>
            <a:r>
              <a:rPr lang="en-US" sz="2400" dirty="0"/>
              <a:t> One of the candidate keys is </a:t>
            </a:r>
            <a:r>
              <a:rPr lang="en-US" sz="2400" i="1" dirty="0"/>
              <a:t>arbitrarily designated to be the primary key, and the others are </a:t>
            </a:r>
            <a:r>
              <a:rPr lang="en-US" sz="2400" dirty="0"/>
              <a:t>called </a:t>
            </a:r>
            <a:r>
              <a:rPr lang="en-US" sz="2400" b="1" dirty="0"/>
              <a:t>secondary keys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Autofit/>
          </a:bodyPr>
          <a:lstStyle/>
          <a:p>
            <a:endParaRPr lang="en-US" sz="2400" dirty="0"/>
          </a:p>
        </p:txBody>
      </p:sp>
      <p:sp>
        <p:nvSpPr>
          <p:cNvPr id="3" name="Content Placeholder 2"/>
          <p:cNvSpPr>
            <a:spLocks noGrp="1"/>
          </p:cNvSpPr>
          <p:nvPr>
            <p:ph idx="1"/>
          </p:nvPr>
        </p:nvSpPr>
        <p:spPr>
          <a:xfrm>
            <a:off x="152400" y="533400"/>
            <a:ext cx="8839200" cy="6096000"/>
          </a:xfrm>
        </p:spPr>
        <p:txBody>
          <a:bodyPr>
            <a:normAutofit/>
          </a:bodyPr>
          <a:lstStyle/>
          <a:p>
            <a:r>
              <a:rPr lang="en-US" sz="2400" b="1" dirty="0"/>
              <a:t>Definition. </a:t>
            </a:r>
            <a:r>
              <a:rPr lang="en-US" sz="2400" dirty="0"/>
              <a:t>An attribute of relation schema R is called </a:t>
            </a:r>
            <a:r>
              <a:rPr lang="en-US" sz="2400" b="1" dirty="0"/>
              <a:t>a prime </a:t>
            </a:r>
            <a:r>
              <a:rPr lang="en-US" sz="2400" dirty="0"/>
              <a:t>attribute of R if it </a:t>
            </a:r>
            <a:r>
              <a:rPr lang="en-US" sz="2400" b="1" dirty="0"/>
              <a:t>is a member of </a:t>
            </a:r>
            <a:r>
              <a:rPr lang="en-US" sz="2400" b="1" i="1" dirty="0"/>
              <a:t>some candidate key of R</a:t>
            </a:r>
            <a:r>
              <a:rPr lang="en-US" sz="2400" i="1" dirty="0"/>
              <a:t>.</a:t>
            </a:r>
          </a:p>
          <a:p>
            <a:r>
              <a:rPr lang="en-US" sz="2400" i="1" dirty="0"/>
              <a:t> An attribute is called </a:t>
            </a:r>
            <a:r>
              <a:rPr lang="en-US" sz="2400" b="1" i="1" dirty="0"/>
              <a:t>nonprime</a:t>
            </a:r>
            <a:r>
              <a:rPr lang="en-US" sz="2400" i="1" dirty="0"/>
              <a:t> if it is not a prime </a:t>
            </a:r>
            <a:r>
              <a:rPr lang="en-US" sz="2400" dirty="0"/>
              <a:t>attribute-that is, </a:t>
            </a:r>
            <a:r>
              <a:rPr lang="en-US" sz="2400" b="1" dirty="0"/>
              <a:t>if it is not a member of any candidate key.</a:t>
            </a:r>
          </a:p>
          <a:p>
            <a:r>
              <a:rPr lang="en-US" sz="2400" dirty="0"/>
              <a:t>Ex both SSN and PNUMBER are prime attributes of WORKS_ON, whereas other attributes of WORKS_ON are nonprime</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Autofit/>
          </a:bodyPr>
          <a:lstStyle/>
          <a:p>
            <a:r>
              <a:rPr lang="en-US" sz="2400" b="1" dirty="0"/>
              <a:t>First Normal Form</a:t>
            </a:r>
            <a:endParaRPr lang="en-US" sz="2400" dirty="0"/>
          </a:p>
        </p:txBody>
      </p:sp>
      <p:sp>
        <p:nvSpPr>
          <p:cNvPr id="3" name="Content Placeholder 2"/>
          <p:cNvSpPr>
            <a:spLocks noGrp="1"/>
          </p:cNvSpPr>
          <p:nvPr>
            <p:ph idx="1"/>
          </p:nvPr>
        </p:nvSpPr>
        <p:spPr>
          <a:xfrm>
            <a:off x="152400" y="533400"/>
            <a:ext cx="8839200" cy="6096000"/>
          </a:xfrm>
        </p:spPr>
        <p:txBody>
          <a:bodyPr>
            <a:normAutofit/>
          </a:bodyPr>
          <a:lstStyle/>
          <a:p>
            <a:r>
              <a:rPr lang="en-US" sz="2400" dirty="0"/>
              <a:t>First normal form (INF) is now considered to be part of the formal definition of a relation in the basic (flat) relational model</a:t>
            </a:r>
          </a:p>
          <a:p>
            <a:r>
              <a:rPr lang="en-US" sz="2400" dirty="0"/>
              <a:t>Historically, it was defined to </a:t>
            </a:r>
            <a:r>
              <a:rPr lang="en-US" sz="2400" b="1" dirty="0"/>
              <a:t>disallow </a:t>
            </a:r>
            <a:r>
              <a:rPr lang="en-US" sz="2400" b="1" dirty="0" err="1"/>
              <a:t>multivalued</a:t>
            </a:r>
            <a:r>
              <a:rPr lang="en-US" sz="2400" b="1" dirty="0"/>
              <a:t> attributes</a:t>
            </a:r>
            <a:r>
              <a:rPr lang="en-US" sz="2400" dirty="0"/>
              <a:t>, composite attributes, and their combinations.</a:t>
            </a:r>
          </a:p>
          <a:p>
            <a:r>
              <a:rPr lang="en-US" sz="2400" dirty="0"/>
              <a:t>It states that the domain of </a:t>
            </a:r>
            <a:r>
              <a:rPr lang="en-US" sz="2400" dirty="0" err="1"/>
              <a:t>anattribute</a:t>
            </a:r>
            <a:r>
              <a:rPr lang="en-US" sz="2400" dirty="0"/>
              <a:t> must include </a:t>
            </a:r>
            <a:r>
              <a:rPr lang="en-US" sz="2400" b="1" dirty="0"/>
              <a:t>only </a:t>
            </a:r>
            <a:r>
              <a:rPr lang="en-US" sz="2400" b="1" i="1" dirty="0"/>
              <a:t>atomic (simple, indivisible) values </a:t>
            </a:r>
            <a:r>
              <a:rPr lang="en-US" sz="2400" i="1" dirty="0"/>
              <a:t>and that the value of any </a:t>
            </a:r>
            <a:r>
              <a:rPr lang="en-US" sz="2400" dirty="0"/>
              <a:t>attribute in a tuple must be a </a:t>
            </a:r>
            <a:r>
              <a:rPr lang="en-US" sz="2400" i="1" dirty="0"/>
              <a:t>single value from the domain of that attribute.</a:t>
            </a:r>
          </a:p>
          <a:p>
            <a:r>
              <a:rPr lang="en-US" sz="2400" dirty="0"/>
              <a:t>Hence, INF disallows having a set of values, a tuple of values, or a combination of both as an attribute value for a </a:t>
            </a:r>
            <a:r>
              <a:rPr lang="en-US" sz="2400" i="1" dirty="0"/>
              <a:t>single tuple</a:t>
            </a:r>
          </a:p>
          <a:p>
            <a:r>
              <a:rPr lang="en-US" sz="2400" dirty="0"/>
              <a:t>In other words, INF disallows "relations within relations" or "relations as attribute values within tuples." </a:t>
            </a:r>
            <a:r>
              <a:rPr lang="en-US" sz="2400" b="1" dirty="0"/>
              <a:t>The only attribute values permitted by </a:t>
            </a:r>
            <a:r>
              <a:rPr lang="en-US" sz="2400" b="1" dirty="0" err="1"/>
              <a:t>lNF</a:t>
            </a:r>
            <a:r>
              <a:rPr lang="en-US" sz="2400" b="1" dirty="0"/>
              <a:t> are single atomic (or indivisible) values</a:t>
            </a:r>
          </a:p>
          <a:p>
            <a:endParaRPr lang="en-US" sz="24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Autofit/>
          </a:bodyPr>
          <a:lstStyle/>
          <a:p>
            <a:endParaRPr lang="en-US" sz="2400" dirty="0"/>
          </a:p>
        </p:txBody>
      </p:sp>
      <p:sp>
        <p:nvSpPr>
          <p:cNvPr id="3" name="Content Placeholder 2"/>
          <p:cNvSpPr>
            <a:spLocks noGrp="1"/>
          </p:cNvSpPr>
          <p:nvPr>
            <p:ph idx="1"/>
          </p:nvPr>
        </p:nvSpPr>
        <p:spPr>
          <a:xfrm>
            <a:off x="152400" y="533400"/>
            <a:ext cx="8839200" cy="6096000"/>
          </a:xfrm>
        </p:spPr>
        <p:txBody>
          <a:bodyPr>
            <a:normAutofit/>
          </a:bodyPr>
          <a:lstStyle/>
          <a:p>
            <a:r>
              <a:rPr lang="en-US" sz="2400" dirty="0"/>
              <a:t>Consider the DEPARTMENT relation schema shown in Figure 10.1, whose primary key is DNUMBER, and suppose that we extend it by including the DLOCATIONS attribute as shown in Figure 10.8a. We assume that each department can have </a:t>
            </a:r>
            <a:r>
              <a:rPr lang="en-US" sz="2400" i="1" dirty="0"/>
              <a:t>a number of locations</a:t>
            </a:r>
            <a:endParaRPr lang="en-US" sz="2400" dirty="0"/>
          </a:p>
        </p:txBody>
      </p:sp>
      <p:sp>
        <p:nvSpPr>
          <p:cNvPr id="4" name="Rectangle 3"/>
          <p:cNvSpPr/>
          <p:nvPr/>
        </p:nvSpPr>
        <p:spPr>
          <a:xfrm>
            <a:off x="381000" y="2133600"/>
            <a:ext cx="8610600" cy="43434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7" name="Picture 3"/>
          <p:cNvPicPr>
            <a:picLocks noChangeAspect="1" noChangeArrowheads="1"/>
          </p:cNvPicPr>
          <p:nvPr/>
        </p:nvPicPr>
        <p:blipFill>
          <a:blip r:embed="rId3"/>
          <a:srcRect/>
          <a:stretch>
            <a:fillRect/>
          </a:stretch>
        </p:blipFill>
        <p:spPr bwMode="auto">
          <a:xfrm>
            <a:off x="0" y="2133600"/>
            <a:ext cx="9144000" cy="4724400"/>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Autofit/>
          </a:bodyPr>
          <a:lstStyle/>
          <a:p>
            <a:endParaRPr lang="en-US" sz="2400" dirty="0"/>
          </a:p>
        </p:txBody>
      </p:sp>
      <p:sp>
        <p:nvSpPr>
          <p:cNvPr id="3" name="Content Placeholder 2"/>
          <p:cNvSpPr>
            <a:spLocks noGrp="1"/>
          </p:cNvSpPr>
          <p:nvPr>
            <p:ph idx="1"/>
          </p:nvPr>
        </p:nvSpPr>
        <p:spPr>
          <a:xfrm>
            <a:off x="152400" y="533400"/>
            <a:ext cx="8839200" cy="6096000"/>
          </a:xfrm>
        </p:spPr>
        <p:txBody>
          <a:bodyPr>
            <a:normAutofit/>
          </a:bodyPr>
          <a:lstStyle/>
          <a:p>
            <a:r>
              <a:rPr lang="en-US" sz="2400" dirty="0"/>
              <a:t>As can be seen, this is not in 1NFbecause DLOCATIONS is not an atomic attribute, as illustrated by the first </a:t>
            </a:r>
            <a:r>
              <a:rPr lang="en-US" sz="2400" dirty="0" err="1"/>
              <a:t>tuple</a:t>
            </a:r>
            <a:r>
              <a:rPr lang="en-US" sz="2400" dirty="0"/>
              <a:t> in Figure 1O.8b. There are two ways we can look at the DLOCATIONS attribute</a:t>
            </a:r>
          </a:p>
          <a:p>
            <a:pPr lvl="1"/>
            <a:r>
              <a:rPr lang="en-US" sz="2000" dirty="0"/>
              <a:t>The domain of DLOCATIONS contains atomic values, but some tuples can have a set of these values. </a:t>
            </a:r>
          </a:p>
          <a:p>
            <a:pPr lvl="1"/>
            <a:r>
              <a:rPr lang="en-US" sz="2000" dirty="0"/>
              <a:t>In this case, DLOCATIONS </a:t>
            </a:r>
            <a:r>
              <a:rPr lang="en-US" sz="2000" i="1" dirty="0"/>
              <a:t>is not functionally dependent on the primary key </a:t>
            </a:r>
            <a:r>
              <a:rPr lang="en-US" sz="2000" dirty="0"/>
              <a:t>DNUMBER</a:t>
            </a:r>
          </a:p>
          <a:p>
            <a:pPr lvl="1"/>
            <a:r>
              <a:rPr lang="en-US" sz="2000" dirty="0"/>
              <a:t>The domain of DLOCATIONS contains sets of values and hence is </a:t>
            </a:r>
            <a:r>
              <a:rPr lang="en-US" sz="2000" dirty="0" err="1"/>
              <a:t>nonatomic</a:t>
            </a:r>
            <a:r>
              <a:rPr lang="en-US" sz="2000" dirty="0"/>
              <a:t>. In this case, DNUMBER </a:t>
            </a:r>
            <a:r>
              <a:rPr lang="en-US" sz="2000" dirty="0">
                <a:sym typeface="Wingdings" pitchFamily="2" charset="2"/>
              </a:rPr>
              <a:t></a:t>
            </a:r>
            <a:r>
              <a:rPr lang="en-US" sz="2000" dirty="0"/>
              <a:t> DLOCATIONS, because each set is considered a single member of the attribute domain. </a:t>
            </a:r>
          </a:p>
          <a:p>
            <a:r>
              <a:rPr lang="en-US" sz="2400" dirty="0"/>
              <a:t>In either case, the DEPARTMENT relation of Figure 10.8 is not in 1NF</a:t>
            </a:r>
          </a:p>
          <a:p>
            <a:pPr>
              <a:buNone/>
            </a:pP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228600"/>
          </a:xfrm>
        </p:spPr>
        <p:txBody>
          <a:bodyPr>
            <a:noAutofit/>
          </a:bodyPr>
          <a:lstStyle/>
          <a:p>
            <a:endParaRPr lang="en-US" sz="2400" dirty="0"/>
          </a:p>
        </p:txBody>
      </p:sp>
      <p:sp>
        <p:nvSpPr>
          <p:cNvPr id="3" name="Content Placeholder 2"/>
          <p:cNvSpPr>
            <a:spLocks noGrp="1"/>
          </p:cNvSpPr>
          <p:nvPr>
            <p:ph idx="1"/>
          </p:nvPr>
        </p:nvSpPr>
        <p:spPr>
          <a:xfrm>
            <a:off x="152400" y="304800"/>
            <a:ext cx="8839200" cy="6324600"/>
          </a:xfrm>
        </p:spPr>
        <p:txBody>
          <a:bodyPr>
            <a:normAutofit fontScale="92500" lnSpcReduction="10000"/>
          </a:bodyPr>
          <a:lstStyle/>
          <a:p>
            <a:pPr>
              <a:buNone/>
            </a:pPr>
            <a:r>
              <a:rPr lang="en-US" sz="2400" b="1" dirty="0"/>
              <a:t> Techniques to achieve first normal form for such a relation</a:t>
            </a:r>
            <a:r>
              <a:rPr lang="en-US" sz="2400" dirty="0"/>
              <a:t>:</a:t>
            </a:r>
          </a:p>
          <a:p>
            <a:pPr marL="457200" indent="-457200">
              <a:buAutoNum type="arabicPeriod"/>
            </a:pPr>
            <a:r>
              <a:rPr lang="en-US" sz="2400" dirty="0"/>
              <a:t>Remove the attribute DLOCATIONS that violates 1NF and place it in a separate relation DEPT_LOCATIONS </a:t>
            </a:r>
            <a:r>
              <a:rPr lang="en-US" sz="2400" dirty="0">
                <a:solidFill>
                  <a:srgbClr val="FF0000"/>
                </a:solidFill>
              </a:rPr>
              <a:t>along with the primary key </a:t>
            </a:r>
            <a:r>
              <a:rPr lang="en-US" sz="2400" dirty="0"/>
              <a:t>DNUMBER of DEPARTMENT. The primary key of this relation is the combination {DNUMBER, DLOCATION},as shown in Figure 10.2.A distinct </a:t>
            </a:r>
            <a:r>
              <a:rPr lang="en-US" sz="2400" dirty="0" err="1"/>
              <a:t>tuple</a:t>
            </a:r>
            <a:r>
              <a:rPr lang="en-US" sz="2400" dirty="0"/>
              <a:t> in DEPT_LOCATIONS exists for </a:t>
            </a:r>
            <a:r>
              <a:rPr lang="en-US" sz="2400" i="1" dirty="0"/>
              <a:t>each location of a department. This </a:t>
            </a:r>
            <a:r>
              <a:rPr lang="en-US" sz="2400" dirty="0"/>
              <a:t>decomposes the non-1NF relation into two 1NFrelations</a:t>
            </a:r>
          </a:p>
          <a:p>
            <a:pPr>
              <a:buNone/>
            </a:pPr>
            <a:r>
              <a:rPr lang="en-US" sz="2400" dirty="0"/>
              <a:t>2. Expand the key so that there will be a separate </a:t>
            </a:r>
            <a:r>
              <a:rPr lang="en-US" sz="2400" dirty="0" err="1"/>
              <a:t>tuple</a:t>
            </a:r>
            <a:r>
              <a:rPr lang="en-US" sz="2400" dirty="0"/>
              <a:t> in the original DEPARTMENT relation for each location of a DEPARTMENT, as shown in Figure 10.8c. In this case, the primary key becomes the combination {DNUMBER, DLOCATION}. </a:t>
            </a:r>
          </a:p>
          <a:p>
            <a:pPr>
              <a:buNone/>
            </a:pPr>
            <a:r>
              <a:rPr lang="en-US" sz="2400" dirty="0"/>
              <a:t>      This solution has the disadvantage of </a:t>
            </a:r>
            <a:r>
              <a:rPr lang="en-US" sz="2400" dirty="0">
                <a:solidFill>
                  <a:srgbClr val="FF0000"/>
                </a:solidFill>
              </a:rPr>
              <a:t>introducing </a:t>
            </a:r>
            <a:r>
              <a:rPr lang="en-US" sz="2400" i="1" dirty="0">
                <a:solidFill>
                  <a:srgbClr val="FF0000"/>
                </a:solidFill>
              </a:rPr>
              <a:t>redundancy in the relation</a:t>
            </a:r>
          </a:p>
          <a:p>
            <a:pPr>
              <a:buNone/>
            </a:pPr>
            <a:r>
              <a:rPr lang="en-US" sz="2400" dirty="0"/>
              <a:t>3. If a </a:t>
            </a:r>
            <a:r>
              <a:rPr lang="en-US" sz="2400" i="1" dirty="0"/>
              <a:t>maximum number of values is known for the attribute-for example, if it is </a:t>
            </a:r>
            <a:r>
              <a:rPr lang="en-US" sz="2400" dirty="0"/>
              <a:t>known that </a:t>
            </a:r>
            <a:r>
              <a:rPr lang="en-US" sz="2400" i="1" dirty="0"/>
              <a:t>at most three locations can exist for a department-replace the DLOCA</a:t>
            </a:r>
            <a:r>
              <a:rPr lang="en-US" sz="2400" dirty="0"/>
              <a:t>TIONS attribute by three atomic attributes: DLOCATION1, DLOCATION2, and DLOCATION3. This solution has the disadvantage of introducing </a:t>
            </a:r>
            <a:r>
              <a:rPr lang="en-US" sz="2400" i="1" dirty="0">
                <a:solidFill>
                  <a:srgbClr val="FF0000"/>
                </a:solidFill>
              </a:rPr>
              <a:t>null values if most departments </a:t>
            </a:r>
            <a:r>
              <a:rPr lang="en-US" sz="2400" dirty="0"/>
              <a:t>have fewer than three locations</a:t>
            </a:r>
          </a:p>
          <a:p>
            <a:pPr marL="457200" indent="-457200">
              <a:buAutoNum type="arabicPeriod"/>
            </a:pPr>
            <a:endParaRPr lang="en-US" sz="24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Autofit/>
          </a:bodyPr>
          <a:lstStyle/>
          <a:p>
            <a:r>
              <a:rPr lang="en-US" sz="2400" b="1" dirty="0"/>
              <a:t>Second Normal Form</a:t>
            </a:r>
            <a:endParaRPr lang="en-US" sz="2400" dirty="0"/>
          </a:p>
        </p:txBody>
      </p:sp>
      <p:sp>
        <p:nvSpPr>
          <p:cNvPr id="3" name="Content Placeholder 2"/>
          <p:cNvSpPr>
            <a:spLocks noGrp="1"/>
          </p:cNvSpPr>
          <p:nvPr>
            <p:ph idx="1"/>
          </p:nvPr>
        </p:nvSpPr>
        <p:spPr>
          <a:xfrm>
            <a:off x="152400" y="533400"/>
            <a:ext cx="8839200" cy="6096000"/>
          </a:xfrm>
        </p:spPr>
        <p:txBody>
          <a:bodyPr>
            <a:normAutofit/>
          </a:bodyPr>
          <a:lstStyle/>
          <a:p>
            <a:r>
              <a:rPr lang="en-US" sz="2400" dirty="0"/>
              <a:t>Second normal form (2NF) is based on the concept </a:t>
            </a:r>
            <a:r>
              <a:rPr lang="en-US" sz="2400" b="1" dirty="0"/>
              <a:t>of </a:t>
            </a:r>
            <a:r>
              <a:rPr lang="en-US" sz="2400" b="1" i="1" dirty="0"/>
              <a:t>full functional dependency.</a:t>
            </a:r>
          </a:p>
          <a:p>
            <a:r>
              <a:rPr lang="en-US" sz="2400" i="1" dirty="0"/>
              <a:t> A functional </a:t>
            </a:r>
            <a:r>
              <a:rPr lang="en-US" sz="2400" dirty="0"/>
              <a:t>dependency X </a:t>
            </a:r>
            <a:r>
              <a:rPr lang="en-US" sz="2400" dirty="0">
                <a:sym typeface="Wingdings" pitchFamily="2" charset="2"/>
              </a:rPr>
              <a:t></a:t>
            </a:r>
            <a:r>
              <a:rPr lang="en-US" sz="2400" i="1" dirty="0"/>
              <a:t>Y is a full functional </a:t>
            </a:r>
            <a:r>
              <a:rPr lang="en-US" sz="2400" b="1" i="1" dirty="0"/>
              <a:t>dependency if removal of any attribute A </a:t>
            </a:r>
            <a:r>
              <a:rPr lang="en-US" sz="2400" b="1" dirty="0"/>
              <a:t>from X means that the dependency does not hold any more</a:t>
            </a:r>
            <a:r>
              <a:rPr lang="en-US" sz="2400" dirty="0"/>
              <a:t>; that is, for any attribute A </a:t>
            </a:r>
            <a:r>
              <a:rPr lang="az-Cyrl-AZ" sz="2400" dirty="0"/>
              <a:t>є</a:t>
            </a:r>
            <a:r>
              <a:rPr lang="en-US" sz="2400" dirty="0"/>
              <a:t>X, (X - </a:t>
            </a:r>
            <a:r>
              <a:rPr lang="en-US" sz="2400" i="1" dirty="0"/>
              <a:t>{A}) does not functionally determine Y.</a:t>
            </a:r>
          </a:p>
          <a:p>
            <a:r>
              <a:rPr lang="en-US" sz="2400" i="1" dirty="0"/>
              <a:t>A functional dependency X </a:t>
            </a:r>
            <a:r>
              <a:rPr lang="en-US" sz="2400" i="1" dirty="0">
                <a:sym typeface="Wingdings" pitchFamily="2" charset="2"/>
              </a:rPr>
              <a:t></a:t>
            </a:r>
            <a:r>
              <a:rPr lang="en-US" sz="2400" i="1" dirty="0"/>
              <a:t> Y is a partial </a:t>
            </a:r>
            <a:r>
              <a:rPr lang="en-US" sz="2400" dirty="0"/>
              <a:t>dependency </a:t>
            </a:r>
            <a:r>
              <a:rPr lang="en-US" sz="2400" b="1" dirty="0"/>
              <a:t>if some attribute A </a:t>
            </a:r>
            <a:r>
              <a:rPr lang="az-Cyrl-AZ" sz="2400" b="1" dirty="0"/>
              <a:t>є</a:t>
            </a:r>
            <a:r>
              <a:rPr lang="en-US" sz="2400" b="1" dirty="0"/>
              <a:t> X can be removed from X and the dependency still holds</a:t>
            </a:r>
            <a:r>
              <a:rPr lang="en-US" sz="2400" dirty="0"/>
              <a:t>; that is, for some A E X, (X - </a:t>
            </a:r>
            <a:r>
              <a:rPr lang="en-US" sz="2400" i="1" dirty="0"/>
              <a:t>{A}) </a:t>
            </a:r>
            <a:r>
              <a:rPr lang="en-US" sz="2400" i="1" dirty="0">
                <a:sym typeface="Wingdings" pitchFamily="2" charset="2"/>
              </a:rPr>
              <a:t></a:t>
            </a:r>
            <a:r>
              <a:rPr lang="en-US" sz="2400" i="1" dirty="0"/>
              <a:t> Y.</a:t>
            </a:r>
          </a:p>
          <a:p>
            <a:r>
              <a:rPr lang="en-US" sz="2400" b="1" dirty="0"/>
              <a:t>For example</a:t>
            </a:r>
            <a:r>
              <a:rPr lang="en-US" sz="2400" dirty="0"/>
              <a:t>: in figure 10.3b) {SSN, PNUMBER} </a:t>
            </a:r>
            <a:r>
              <a:rPr lang="en-US" sz="2400" dirty="0">
                <a:sym typeface="Wingdings" pitchFamily="2" charset="2"/>
              </a:rPr>
              <a:t></a:t>
            </a:r>
            <a:r>
              <a:rPr lang="en-US" sz="2400" dirty="0"/>
              <a:t> HOURS is a full dependency (neither SSN </a:t>
            </a:r>
            <a:r>
              <a:rPr lang="en-US" sz="2400" dirty="0">
                <a:sym typeface="Wingdings" pitchFamily="2" charset="2"/>
              </a:rPr>
              <a:t></a:t>
            </a:r>
            <a:r>
              <a:rPr lang="en-US" sz="2400" dirty="0"/>
              <a:t> HOURS nor PNUMBER </a:t>
            </a:r>
            <a:r>
              <a:rPr lang="en-US" sz="2400" dirty="0">
                <a:sym typeface="Wingdings" pitchFamily="2" charset="2"/>
              </a:rPr>
              <a:t></a:t>
            </a:r>
            <a:r>
              <a:rPr lang="en-US" sz="2400" dirty="0"/>
              <a:t>HOURS holds). </a:t>
            </a:r>
          </a:p>
          <a:p>
            <a:r>
              <a:rPr lang="en-US" sz="2400" dirty="0"/>
              <a:t>However, the dependency {SSN, PNUMBER} </a:t>
            </a:r>
            <a:r>
              <a:rPr lang="en-US" sz="2400" dirty="0">
                <a:sym typeface="Wingdings" pitchFamily="2" charset="2"/>
              </a:rPr>
              <a:t></a:t>
            </a:r>
            <a:r>
              <a:rPr lang="en-US" sz="2400" dirty="0"/>
              <a:t> ENAME is partial because SSN </a:t>
            </a:r>
            <a:r>
              <a:rPr lang="en-US" sz="2400" dirty="0">
                <a:sym typeface="Wingdings" pitchFamily="2" charset="2"/>
              </a:rPr>
              <a:t></a:t>
            </a:r>
            <a:r>
              <a:rPr lang="en-US" sz="2400" dirty="0"/>
              <a:t> ENAME holds.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Autofit/>
          </a:bodyPr>
          <a:lstStyle/>
          <a:p>
            <a:endParaRPr lang="en-US" sz="2400" dirty="0"/>
          </a:p>
        </p:txBody>
      </p:sp>
      <p:sp>
        <p:nvSpPr>
          <p:cNvPr id="3" name="Content Placeholder 2"/>
          <p:cNvSpPr>
            <a:spLocks noGrp="1"/>
          </p:cNvSpPr>
          <p:nvPr>
            <p:ph idx="1"/>
          </p:nvPr>
        </p:nvSpPr>
        <p:spPr>
          <a:xfrm>
            <a:off x="152400" y="533400"/>
            <a:ext cx="8839200" cy="6096000"/>
          </a:xfrm>
        </p:spPr>
        <p:txBody>
          <a:bodyPr>
            <a:normAutofit/>
          </a:bodyPr>
          <a:lstStyle/>
          <a:p>
            <a:r>
              <a:rPr lang="en-US" sz="2400" b="1" dirty="0"/>
              <a:t>Definition. </a:t>
            </a:r>
            <a:r>
              <a:rPr lang="en-US" sz="2400" dirty="0"/>
              <a:t>A relation schema R is in 2NF if every nonprime attribute A in R is </a:t>
            </a:r>
            <a:r>
              <a:rPr lang="en-US" sz="2400" b="1" i="1" dirty="0"/>
              <a:t>fully functionally dependent on the primary key of R.</a:t>
            </a:r>
          </a:p>
          <a:p>
            <a:r>
              <a:rPr lang="en-US" sz="2400" dirty="0"/>
              <a:t>The test for 2NF involves testing for functional dependencies whose left-hand side attributes are part of the primary key. </a:t>
            </a:r>
          </a:p>
          <a:p>
            <a:r>
              <a:rPr lang="en-US" sz="2400" b="1" dirty="0"/>
              <a:t>If the primary key contains a single attribute, the test need not be applied at all</a:t>
            </a:r>
          </a:p>
          <a:p>
            <a:r>
              <a:rPr lang="en-US" sz="2400" dirty="0"/>
              <a:t>The EMP_PROJ relation in Figure 10.3b is in INF but is not in 2NF. The nonprime attribute ENAME violates 2NF because of FD2, as do the nonprime attributes PNAME and PLOCATION because of FD3. </a:t>
            </a:r>
          </a:p>
          <a:p>
            <a:r>
              <a:rPr lang="en-US" sz="2400" dirty="0"/>
              <a:t>The functional dependencies FD2 and FD3 make ENAME, PNAME, and PLOCATION p</a:t>
            </a:r>
            <a:r>
              <a:rPr lang="en-US" sz="2400" dirty="0">
                <a:solidFill>
                  <a:srgbClr val="FF0000"/>
                </a:solidFill>
              </a:rPr>
              <a:t>artially dependent on the primary key {SSN, PNUMBER} of EMP_PROJ, thus violating the 2NFtest.</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1"/>
            <a:ext cx="7772400" cy="457200"/>
          </a:xfrm>
        </p:spPr>
        <p:txBody>
          <a:bodyPr>
            <a:noAutofit/>
          </a:bodyPr>
          <a:lstStyle/>
          <a:p>
            <a:endParaRPr lang="en-US" sz="2400" dirty="0"/>
          </a:p>
        </p:txBody>
      </p:sp>
      <p:sp>
        <p:nvSpPr>
          <p:cNvPr id="3" name="Subtitle 2"/>
          <p:cNvSpPr>
            <a:spLocks noGrp="1"/>
          </p:cNvSpPr>
          <p:nvPr>
            <p:ph type="subTitle" idx="1"/>
          </p:nvPr>
        </p:nvSpPr>
        <p:spPr>
          <a:xfrm>
            <a:off x="152400" y="457200"/>
            <a:ext cx="8839200" cy="6400800"/>
          </a:xfrm>
        </p:spPr>
        <p:txBody>
          <a:bodyPr>
            <a:normAutofit/>
          </a:bodyPr>
          <a:lstStyle/>
          <a:p>
            <a:pPr algn="l">
              <a:buFont typeface="Arial" pitchFamily="34" charset="0"/>
              <a:buChar char="•"/>
            </a:pPr>
            <a:endParaRPr lang="en-US" sz="2400" dirty="0">
              <a:solidFill>
                <a:schemeClr val="tx1"/>
              </a:solidFill>
            </a:endParaRPr>
          </a:p>
        </p:txBody>
      </p:sp>
      <p:sp>
        <p:nvSpPr>
          <p:cNvPr id="5" name="Rectangle 4"/>
          <p:cNvSpPr/>
          <p:nvPr/>
        </p:nvSpPr>
        <p:spPr>
          <a:xfrm>
            <a:off x="152400" y="2133600"/>
            <a:ext cx="8839200" cy="45720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051" name="Picture 3"/>
          <p:cNvPicPr>
            <a:picLocks noChangeAspect="1" noChangeArrowheads="1"/>
          </p:cNvPicPr>
          <p:nvPr/>
        </p:nvPicPr>
        <p:blipFill>
          <a:blip r:embed="rId2"/>
          <a:srcRect/>
          <a:stretch>
            <a:fillRect/>
          </a:stretch>
        </p:blipFill>
        <p:spPr bwMode="auto">
          <a:xfrm>
            <a:off x="0" y="533400"/>
            <a:ext cx="9144000" cy="5486400"/>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Autofit/>
          </a:bodyPr>
          <a:lstStyle/>
          <a:p>
            <a:endParaRPr lang="en-US" sz="2400" dirty="0"/>
          </a:p>
        </p:txBody>
      </p:sp>
      <p:sp>
        <p:nvSpPr>
          <p:cNvPr id="3" name="Content Placeholder 2"/>
          <p:cNvSpPr>
            <a:spLocks noGrp="1"/>
          </p:cNvSpPr>
          <p:nvPr>
            <p:ph idx="1"/>
          </p:nvPr>
        </p:nvSpPr>
        <p:spPr>
          <a:xfrm>
            <a:off x="152400" y="533400"/>
            <a:ext cx="8839200" cy="6096000"/>
          </a:xfrm>
        </p:spPr>
        <p:txBody>
          <a:bodyPr>
            <a:normAutofit/>
          </a:bodyPr>
          <a:lstStyle/>
          <a:p>
            <a:r>
              <a:rPr lang="en-US" sz="2400" dirty="0"/>
              <a:t>If a relation schema is not in 2NF, it can be "second normalized" or "2NFnormalized" into a number of 2NFrelations in which nonprime attributes are associated </a:t>
            </a:r>
            <a:r>
              <a:rPr lang="en-US" sz="2400" b="1" dirty="0"/>
              <a:t>only </a:t>
            </a:r>
            <a:r>
              <a:rPr lang="en-US" sz="2400" b="1" dirty="0">
                <a:solidFill>
                  <a:srgbClr val="FF0000"/>
                </a:solidFill>
              </a:rPr>
              <a:t>with the part of the primary key </a:t>
            </a:r>
            <a:r>
              <a:rPr lang="en-US" sz="2400" dirty="0">
                <a:solidFill>
                  <a:srgbClr val="FF0000"/>
                </a:solidFill>
              </a:rPr>
              <a:t>on which they are fully functionally dependent</a:t>
            </a:r>
            <a:r>
              <a:rPr lang="en-US" sz="2400" dirty="0"/>
              <a:t>.</a:t>
            </a:r>
          </a:p>
          <a:p>
            <a:r>
              <a:rPr lang="en-US" sz="2400" dirty="0"/>
              <a:t> The functional dependencies FDI, m2, and FD3 in Figure IO.3b hence lead to the decomposition of EMP_PROJ into the three relation schemas </a:t>
            </a:r>
            <a:r>
              <a:rPr lang="en-US" sz="2400" dirty="0" err="1"/>
              <a:t>EPl</a:t>
            </a:r>
            <a:r>
              <a:rPr lang="en-US" sz="2400" dirty="0"/>
              <a:t>, EP2, and EP3 shown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533400"/>
          </a:xfrm>
        </p:spPr>
        <p:txBody>
          <a:bodyPr>
            <a:noAutofit/>
          </a:bodyPr>
          <a:lstStyle/>
          <a:p>
            <a:endParaRPr lang="en-US" sz="2400" dirty="0"/>
          </a:p>
        </p:txBody>
      </p:sp>
      <p:pic>
        <p:nvPicPr>
          <p:cNvPr id="2050" name="Picture 2"/>
          <p:cNvPicPr>
            <a:picLocks noGrp="1" noChangeAspect="1" noChangeArrowheads="1"/>
          </p:cNvPicPr>
          <p:nvPr>
            <p:ph idx="1"/>
          </p:nvPr>
        </p:nvPicPr>
        <p:blipFill>
          <a:blip r:embed="rId2"/>
          <a:srcRect/>
          <a:stretch>
            <a:fillRect/>
          </a:stretch>
        </p:blipFill>
        <p:spPr bwMode="auto">
          <a:xfrm>
            <a:off x="152400" y="1262676"/>
            <a:ext cx="8839200" cy="4637447"/>
          </a:xfrm>
          <a:prstGeom prst="rect">
            <a:avLst/>
          </a:prstGeom>
          <a:noFill/>
          <a:ln w="9525">
            <a:noFill/>
            <a:miter lim="800000"/>
            <a:headEnd/>
            <a:tailEnd/>
          </a:ln>
          <a:effectLst/>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12F17-D69C-C6A6-901A-66E8648247A9}"/>
              </a:ext>
            </a:extLst>
          </p:cNvPr>
          <p:cNvSpPr>
            <a:spLocks noGrp="1"/>
          </p:cNvSpPr>
          <p:nvPr>
            <p:ph type="title"/>
          </p:nvPr>
        </p:nvSpPr>
        <p:spPr/>
        <p:txBody>
          <a:bodyPr/>
          <a:lstStyle/>
          <a:p>
            <a:r>
              <a:rPr lang="en-US" b="1" dirty="0"/>
              <a:t>Third Normal Form (3NF)</a:t>
            </a:r>
            <a:endParaRPr lang="en-ET" dirty="0"/>
          </a:p>
        </p:txBody>
      </p:sp>
      <p:sp>
        <p:nvSpPr>
          <p:cNvPr id="3" name="Content Placeholder 2">
            <a:extLst>
              <a:ext uri="{FF2B5EF4-FFF2-40B4-BE49-F238E27FC236}">
                <a16:creationId xmlns:a16="http://schemas.microsoft.com/office/drawing/2014/main" id="{722EAD54-713C-108D-6A54-4D5B75D72219}"/>
              </a:ext>
            </a:extLst>
          </p:cNvPr>
          <p:cNvSpPr>
            <a:spLocks noGrp="1"/>
          </p:cNvSpPr>
          <p:nvPr>
            <p:ph idx="1"/>
          </p:nvPr>
        </p:nvSpPr>
        <p:spPr>
          <a:xfrm>
            <a:off x="304800" y="1600200"/>
            <a:ext cx="8610600" cy="4876800"/>
          </a:xfrm>
        </p:spPr>
        <p:txBody>
          <a:bodyPr/>
          <a:lstStyle/>
          <a:p>
            <a:r>
              <a:rPr lang="en-US" b="1" dirty="0"/>
              <a:t>Third Normal Form (3NF)</a:t>
            </a:r>
            <a:r>
              <a:rPr lang="en-US" dirty="0"/>
              <a:t> is a level of database normalization that ensures a table is free from </a:t>
            </a:r>
            <a:r>
              <a:rPr lang="en-US" b="1" dirty="0"/>
              <a:t>transitive dependencies</a:t>
            </a:r>
            <a:r>
              <a:rPr lang="en-US" dirty="0"/>
              <a:t>.</a:t>
            </a:r>
          </a:p>
          <a:p>
            <a:pPr marL="0" indent="0">
              <a:buNone/>
            </a:pPr>
            <a:r>
              <a:rPr lang="en-US" dirty="0"/>
              <a:t>A table is in </a:t>
            </a:r>
            <a:r>
              <a:rPr lang="en-US" b="1" dirty="0"/>
              <a:t>3NF</a:t>
            </a:r>
            <a:r>
              <a:rPr lang="en-US" dirty="0"/>
              <a:t> if:</a:t>
            </a:r>
          </a:p>
          <a:p>
            <a:pPr lvl="1"/>
            <a:r>
              <a:rPr lang="en-US" dirty="0"/>
              <a:t>It is already in </a:t>
            </a:r>
            <a:r>
              <a:rPr lang="en-US" b="1" dirty="0"/>
              <a:t>Second Normal Form (2NF)</a:t>
            </a:r>
            <a:r>
              <a:rPr lang="en-US" dirty="0"/>
              <a:t> </a:t>
            </a:r>
          </a:p>
          <a:p>
            <a:pPr lvl="1"/>
            <a:r>
              <a:rPr lang="en-US" b="1" dirty="0"/>
              <a:t>No non-key attribute depends on another non-key attribute</a:t>
            </a:r>
            <a:br>
              <a:rPr lang="en-US" dirty="0"/>
            </a:br>
            <a:r>
              <a:rPr lang="en-US" dirty="0"/>
              <a:t>(i.e., every non-key attribute depends </a:t>
            </a:r>
            <a:r>
              <a:rPr lang="en-US" i="1" dirty="0"/>
              <a:t>only</a:t>
            </a:r>
            <a:r>
              <a:rPr lang="en-US" dirty="0"/>
              <a:t> on the primary key)</a:t>
            </a:r>
          </a:p>
          <a:p>
            <a:endParaRPr lang="en-ET" dirty="0"/>
          </a:p>
        </p:txBody>
      </p:sp>
    </p:spTree>
    <p:extLst>
      <p:ext uri="{BB962C8B-B14F-4D97-AF65-F5344CB8AC3E}">
        <p14:creationId xmlns:p14="http://schemas.microsoft.com/office/powerpoint/2010/main" val="30987612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12F17-D69C-C6A6-901A-66E8648247A9}"/>
              </a:ext>
            </a:extLst>
          </p:cNvPr>
          <p:cNvSpPr>
            <a:spLocks noGrp="1"/>
          </p:cNvSpPr>
          <p:nvPr>
            <p:ph type="title"/>
          </p:nvPr>
        </p:nvSpPr>
        <p:spPr/>
        <p:txBody>
          <a:bodyPr/>
          <a:lstStyle/>
          <a:p>
            <a:r>
              <a:rPr lang="en-US" b="1" dirty="0"/>
              <a:t>Third Normal Form (3NF)</a:t>
            </a:r>
            <a:endParaRPr lang="en-ET" dirty="0"/>
          </a:p>
        </p:txBody>
      </p:sp>
      <p:sp>
        <p:nvSpPr>
          <p:cNvPr id="3" name="Content Placeholder 2">
            <a:extLst>
              <a:ext uri="{FF2B5EF4-FFF2-40B4-BE49-F238E27FC236}">
                <a16:creationId xmlns:a16="http://schemas.microsoft.com/office/drawing/2014/main" id="{722EAD54-713C-108D-6A54-4D5B75D72219}"/>
              </a:ext>
            </a:extLst>
          </p:cNvPr>
          <p:cNvSpPr>
            <a:spLocks noGrp="1"/>
          </p:cNvSpPr>
          <p:nvPr>
            <p:ph idx="1"/>
          </p:nvPr>
        </p:nvSpPr>
        <p:spPr>
          <a:xfrm>
            <a:off x="304800" y="1600200"/>
            <a:ext cx="8610600" cy="4876800"/>
          </a:xfrm>
        </p:spPr>
        <p:txBody>
          <a:bodyPr/>
          <a:lstStyle/>
          <a:p>
            <a:pPr marL="457200" lvl="1" indent="0">
              <a:buNone/>
            </a:pPr>
            <a:br>
              <a:rPr lang="en-US" dirty="0"/>
            </a:br>
            <a:endParaRPr lang="en-ET" dirty="0"/>
          </a:p>
        </p:txBody>
      </p:sp>
      <p:pic>
        <p:nvPicPr>
          <p:cNvPr id="5" name="Picture 4">
            <a:extLst>
              <a:ext uri="{FF2B5EF4-FFF2-40B4-BE49-F238E27FC236}">
                <a16:creationId xmlns:a16="http://schemas.microsoft.com/office/drawing/2014/main" id="{025C3D0E-F4DC-E30F-D447-C8192CF87FC2}"/>
              </a:ext>
            </a:extLst>
          </p:cNvPr>
          <p:cNvPicPr>
            <a:picLocks noChangeAspect="1"/>
          </p:cNvPicPr>
          <p:nvPr/>
        </p:nvPicPr>
        <p:blipFill>
          <a:blip r:embed="rId2"/>
          <a:stretch>
            <a:fillRect/>
          </a:stretch>
        </p:blipFill>
        <p:spPr>
          <a:xfrm>
            <a:off x="363020" y="2435417"/>
            <a:ext cx="7772400" cy="2258821"/>
          </a:xfrm>
          <a:prstGeom prst="rect">
            <a:avLst/>
          </a:prstGeom>
        </p:spPr>
      </p:pic>
      <p:sp>
        <p:nvSpPr>
          <p:cNvPr id="6" name="TextBox 5">
            <a:extLst>
              <a:ext uri="{FF2B5EF4-FFF2-40B4-BE49-F238E27FC236}">
                <a16:creationId xmlns:a16="http://schemas.microsoft.com/office/drawing/2014/main" id="{3E29D3EA-EDBF-2CAF-9640-892DBFA29045}"/>
              </a:ext>
            </a:extLst>
          </p:cNvPr>
          <p:cNvSpPr txBox="1"/>
          <p:nvPr/>
        </p:nvSpPr>
        <p:spPr>
          <a:xfrm>
            <a:off x="397267" y="4876800"/>
            <a:ext cx="8458200" cy="1477328"/>
          </a:xfrm>
          <a:prstGeom prst="rect">
            <a:avLst/>
          </a:prstGeom>
          <a:noFill/>
        </p:spPr>
        <p:txBody>
          <a:bodyPr wrap="square" rtlCol="0">
            <a:spAutoFit/>
          </a:bodyPr>
          <a:lstStyle/>
          <a:p>
            <a:r>
              <a:rPr lang="en-US" b="1" dirty="0" err="1"/>
              <a:t>DeptName</a:t>
            </a:r>
            <a:r>
              <a:rPr lang="en-US" dirty="0"/>
              <a:t> and </a:t>
            </a:r>
            <a:r>
              <a:rPr lang="en-US" b="1" dirty="0" err="1"/>
              <a:t>DeptLocation</a:t>
            </a:r>
            <a:r>
              <a:rPr lang="en-US" dirty="0"/>
              <a:t> depend on </a:t>
            </a:r>
            <a:r>
              <a:rPr lang="en-US" b="1" dirty="0" err="1"/>
              <a:t>DeptID</a:t>
            </a:r>
            <a:r>
              <a:rPr lang="en-US" dirty="0"/>
              <a:t>, not directly on </a:t>
            </a:r>
            <a:r>
              <a:rPr lang="en-US" b="1" dirty="0" err="1"/>
              <a:t>EmpID</a:t>
            </a:r>
            <a:r>
              <a:rPr lang="en-US" dirty="0"/>
              <a:t> . This creates a </a:t>
            </a:r>
            <a:r>
              <a:rPr lang="en-US" b="1" dirty="0"/>
              <a:t>transitive dependency</a:t>
            </a:r>
            <a:r>
              <a:rPr lang="en-US" dirty="0"/>
              <a:t>:</a:t>
            </a:r>
          </a:p>
          <a:p>
            <a:endParaRPr lang="en-US" dirty="0"/>
          </a:p>
          <a:p>
            <a:pPr rtl="0"/>
            <a:r>
              <a:rPr lang="en-US" dirty="0" err="1"/>
              <a:t>EmpID</a:t>
            </a:r>
            <a:r>
              <a:rPr lang="en-US" dirty="0"/>
              <a:t> → </a:t>
            </a:r>
            <a:r>
              <a:rPr lang="en-US" dirty="0" err="1"/>
              <a:t>DeptID</a:t>
            </a:r>
            <a:r>
              <a:rPr lang="en-US" dirty="0"/>
              <a:t> → </a:t>
            </a:r>
            <a:r>
              <a:rPr lang="en-US" dirty="0" err="1"/>
              <a:t>DeptName</a:t>
            </a:r>
            <a:r>
              <a:rPr lang="en-US" dirty="0"/>
              <a:t>, </a:t>
            </a:r>
            <a:r>
              <a:rPr lang="en-US" dirty="0" err="1"/>
              <a:t>DeptLocation</a:t>
            </a:r>
            <a:endParaRPr lang="en-US" dirty="0"/>
          </a:p>
          <a:p>
            <a:endParaRPr lang="en-ET" dirty="0"/>
          </a:p>
        </p:txBody>
      </p:sp>
      <p:sp>
        <p:nvSpPr>
          <p:cNvPr id="7" name="TextBox 6">
            <a:extLst>
              <a:ext uri="{FF2B5EF4-FFF2-40B4-BE49-F238E27FC236}">
                <a16:creationId xmlns:a16="http://schemas.microsoft.com/office/drawing/2014/main" id="{520F2F61-DD87-FC7F-B737-BC929CC72C85}"/>
              </a:ext>
            </a:extLst>
          </p:cNvPr>
          <p:cNvSpPr txBox="1"/>
          <p:nvPr/>
        </p:nvSpPr>
        <p:spPr>
          <a:xfrm>
            <a:off x="457200" y="1914959"/>
            <a:ext cx="3452117" cy="369332"/>
          </a:xfrm>
          <a:prstGeom prst="rect">
            <a:avLst/>
          </a:prstGeom>
          <a:noFill/>
        </p:spPr>
        <p:txBody>
          <a:bodyPr wrap="square" rtlCol="0">
            <a:spAutoFit/>
          </a:bodyPr>
          <a:lstStyle/>
          <a:p>
            <a:r>
              <a:rPr lang="en-US" dirty="0">
                <a:solidFill>
                  <a:srgbClr val="002060"/>
                </a:solidFill>
              </a:rPr>
              <a:t>Before 3NF</a:t>
            </a:r>
            <a:endParaRPr lang="en-ET" dirty="0">
              <a:solidFill>
                <a:srgbClr val="002060"/>
              </a:solidFill>
            </a:endParaRPr>
          </a:p>
        </p:txBody>
      </p:sp>
    </p:spTree>
    <p:extLst>
      <p:ext uri="{BB962C8B-B14F-4D97-AF65-F5344CB8AC3E}">
        <p14:creationId xmlns:p14="http://schemas.microsoft.com/office/powerpoint/2010/main" val="268165024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E12F17-D69C-C6A6-901A-66E8648247A9}"/>
              </a:ext>
            </a:extLst>
          </p:cNvPr>
          <p:cNvSpPr>
            <a:spLocks noGrp="1"/>
          </p:cNvSpPr>
          <p:nvPr>
            <p:ph type="title"/>
          </p:nvPr>
        </p:nvSpPr>
        <p:spPr/>
        <p:txBody>
          <a:bodyPr/>
          <a:lstStyle/>
          <a:p>
            <a:r>
              <a:rPr lang="en-US" b="1" dirty="0"/>
              <a:t>Third Normal Form (3NF)</a:t>
            </a:r>
            <a:endParaRPr lang="en-ET" dirty="0"/>
          </a:p>
        </p:txBody>
      </p:sp>
      <p:sp>
        <p:nvSpPr>
          <p:cNvPr id="3" name="Content Placeholder 2">
            <a:extLst>
              <a:ext uri="{FF2B5EF4-FFF2-40B4-BE49-F238E27FC236}">
                <a16:creationId xmlns:a16="http://schemas.microsoft.com/office/drawing/2014/main" id="{722EAD54-713C-108D-6A54-4D5B75D72219}"/>
              </a:ext>
            </a:extLst>
          </p:cNvPr>
          <p:cNvSpPr>
            <a:spLocks noGrp="1"/>
          </p:cNvSpPr>
          <p:nvPr>
            <p:ph idx="1"/>
          </p:nvPr>
        </p:nvSpPr>
        <p:spPr>
          <a:xfrm>
            <a:off x="266700" y="1881883"/>
            <a:ext cx="8610600" cy="4876800"/>
          </a:xfrm>
        </p:spPr>
        <p:txBody>
          <a:bodyPr/>
          <a:lstStyle/>
          <a:p>
            <a:pPr marL="457200" lvl="1" indent="0">
              <a:buNone/>
            </a:pPr>
            <a:br>
              <a:rPr lang="en-US" dirty="0"/>
            </a:br>
            <a:endParaRPr lang="en-ET" dirty="0"/>
          </a:p>
        </p:txBody>
      </p:sp>
      <p:pic>
        <p:nvPicPr>
          <p:cNvPr id="4" name="Picture 3">
            <a:extLst>
              <a:ext uri="{FF2B5EF4-FFF2-40B4-BE49-F238E27FC236}">
                <a16:creationId xmlns:a16="http://schemas.microsoft.com/office/drawing/2014/main" id="{1EE02F57-0838-55B9-0C23-3442D6E610D3}"/>
              </a:ext>
            </a:extLst>
          </p:cNvPr>
          <p:cNvPicPr>
            <a:picLocks noChangeAspect="1"/>
          </p:cNvPicPr>
          <p:nvPr/>
        </p:nvPicPr>
        <p:blipFill>
          <a:blip r:embed="rId2"/>
          <a:stretch>
            <a:fillRect/>
          </a:stretch>
        </p:blipFill>
        <p:spPr>
          <a:xfrm>
            <a:off x="685800" y="1905000"/>
            <a:ext cx="7772400" cy="4053348"/>
          </a:xfrm>
          <a:prstGeom prst="rect">
            <a:avLst/>
          </a:prstGeom>
        </p:spPr>
      </p:pic>
      <p:sp>
        <p:nvSpPr>
          <p:cNvPr id="7" name="TextBox 6">
            <a:extLst>
              <a:ext uri="{FF2B5EF4-FFF2-40B4-BE49-F238E27FC236}">
                <a16:creationId xmlns:a16="http://schemas.microsoft.com/office/drawing/2014/main" id="{218B5A64-DDBC-66E3-F23F-522F88A25CEE}"/>
              </a:ext>
            </a:extLst>
          </p:cNvPr>
          <p:cNvSpPr txBox="1"/>
          <p:nvPr/>
        </p:nvSpPr>
        <p:spPr>
          <a:xfrm>
            <a:off x="762000" y="1458735"/>
            <a:ext cx="5735548" cy="369332"/>
          </a:xfrm>
          <a:prstGeom prst="rect">
            <a:avLst/>
          </a:prstGeom>
          <a:noFill/>
        </p:spPr>
        <p:txBody>
          <a:bodyPr wrap="square" rtlCol="0">
            <a:spAutoFit/>
          </a:bodyPr>
          <a:lstStyle/>
          <a:p>
            <a:r>
              <a:rPr lang="en-US" b="1" dirty="0">
                <a:solidFill>
                  <a:srgbClr val="002060"/>
                </a:solidFill>
              </a:rPr>
              <a:t>After 3NF (Properly normalized)</a:t>
            </a:r>
            <a:endParaRPr lang="en-ET" b="1" dirty="0">
              <a:solidFill>
                <a:srgbClr val="002060"/>
              </a:solidFill>
            </a:endParaRPr>
          </a:p>
        </p:txBody>
      </p:sp>
    </p:spTree>
    <p:extLst>
      <p:ext uri="{BB962C8B-B14F-4D97-AF65-F5344CB8AC3E}">
        <p14:creationId xmlns:p14="http://schemas.microsoft.com/office/powerpoint/2010/main" val="29842274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2815</TotalTime>
  <Words>4039</Words>
  <Application>Microsoft Macintosh PowerPoint</Application>
  <PresentationFormat>On-screen Show (4:3)</PresentationFormat>
  <Paragraphs>192</Paragraphs>
  <Slides>37</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Arial</vt:lpstr>
      <vt:lpstr>Calibri</vt:lpstr>
      <vt:lpstr>Times New Roman</vt:lpstr>
      <vt:lpstr>Wingdings</vt:lpstr>
      <vt:lpstr>Office Theme</vt:lpstr>
      <vt:lpstr>PowerPoint Presentation</vt:lpstr>
      <vt:lpstr>Functional Dependency and Normalization</vt:lpstr>
      <vt:lpstr>PowerPoint Presentation</vt:lpstr>
      <vt:lpstr>INFORMAL DESIGN GUIDELINES FOR RELATION SCHEMAS</vt:lpstr>
      <vt:lpstr>Example</vt:lpstr>
      <vt:lpstr>PowerPoint Presentation</vt:lpstr>
      <vt:lpstr>PowerPoint Presentation</vt:lpstr>
      <vt:lpstr>PowerPoint Presentation</vt:lpstr>
      <vt:lpstr>Redundant Information in Tuples and Update Anomalies</vt:lpstr>
      <vt:lpstr>PowerPoint Presentation</vt:lpstr>
      <vt:lpstr>PowerPoint Presentation</vt:lpstr>
      <vt:lpstr>PowerPoint Presentation</vt:lpstr>
      <vt:lpstr>PowerPoint Presentation</vt:lpstr>
      <vt:lpstr>PowerPoint Presentation</vt:lpstr>
      <vt:lpstr>PowerPoint Presentation</vt:lpstr>
      <vt:lpstr>FUNCTIONAL DEPENDENCIES</vt:lpstr>
      <vt:lpstr>PowerPoint Presentation</vt:lpstr>
      <vt:lpstr>PowerPoint Presentation</vt:lpstr>
      <vt:lpstr>PowerPoint Presentation</vt:lpstr>
      <vt:lpstr>Inference Rules for Functional Dependencies</vt:lpstr>
      <vt:lpstr>PowerPoint Presentation</vt:lpstr>
      <vt:lpstr>PowerPoint Presentation</vt:lpstr>
      <vt:lpstr>Normalization of Relations</vt:lpstr>
      <vt:lpstr>Definitions of Keys and Attributes Participating in Keys</vt:lpstr>
      <vt:lpstr>PowerPoint Presentation</vt:lpstr>
      <vt:lpstr>First Normal Form</vt:lpstr>
      <vt:lpstr>PowerPoint Presentation</vt:lpstr>
      <vt:lpstr>PowerPoint Presentation</vt:lpstr>
      <vt:lpstr>PowerPoint Presentation</vt:lpstr>
      <vt:lpstr>Second Normal Form</vt:lpstr>
      <vt:lpstr>PowerPoint Presentation</vt:lpstr>
      <vt:lpstr>PowerPoint Presentation</vt:lpstr>
      <vt:lpstr>PowerPoint Presentation</vt:lpstr>
      <vt:lpstr>PowerPoint Presentation</vt:lpstr>
      <vt:lpstr>Third Normal Form (3NF)</vt:lpstr>
      <vt:lpstr>Third Normal Form (3NF)</vt:lpstr>
      <vt:lpstr>Third Normal Form (3NF)</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Functional Dependency and Normalization</dc:title>
  <dc:creator>xuse</dc:creator>
  <cp:lastModifiedBy>kasahun Abdisa</cp:lastModifiedBy>
  <cp:revision>50</cp:revision>
  <dcterms:created xsi:type="dcterms:W3CDTF">2014-11-20T23:13:27Z</dcterms:created>
  <dcterms:modified xsi:type="dcterms:W3CDTF">2026-04-20T08:39:00Z</dcterms:modified>
</cp:coreProperties>
</file>