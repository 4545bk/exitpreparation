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321" r:id="rId4"/>
    <p:sldId id="258" r:id="rId5"/>
    <p:sldId id="322" r:id="rId6"/>
    <p:sldId id="323" r:id="rId7"/>
    <p:sldId id="324" r:id="rId8"/>
    <p:sldId id="325" r:id="rId9"/>
    <p:sldId id="326" r:id="rId10"/>
    <p:sldId id="329" r:id="rId11"/>
    <p:sldId id="328" r:id="rId12"/>
    <p:sldId id="327" r:id="rId13"/>
    <p:sldId id="333" r:id="rId14"/>
    <p:sldId id="334" r:id="rId15"/>
    <p:sldId id="335" r:id="rId16"/>
    <p:sldId id="337" r:id="rId17"/>
    <p:sldId id="336" r:id="rId18"/>
    <p:sldId id="330" r:id="rId19"/>
    <p:sldId id="331" r:id="rId20"/>
    <p:sldId id="261" r:id="rId21"/>
    <p:sldId id="262" r:id="rId22"/>
    <p:sldId id="263" r:id="rId23"/>
    <p:sldId id="298" r:id="rId24"/>
    <p:sldId id="265" r:id="rId25"/>
    <p:sldId id="266" r:id="rId26"/>
    <p:sldId id="267" r:id="rId27"/>
    <p:sldId id="268" r:id="rId28"/>
    <p:sldId id="270" r:id="rId29"/>
    <p:sldId id="264" r:id="rId30"/>
    <p:sldId id="272" r:id="rId31"/>
    <p:sldId id="303" r:id="rId32"/>
    <p:sldId id="273" r:id="rId33"/>
    <p:sldId id="274" r:id="rId34"/>
    <p:sldId id="304" r:id="rId35"/>
    <p:sldId id="275" r:id="rId36"/>
    <p:sldId id="305" r:id="rId37"/>
    <p:sldId id="306" r:id="rId38"/>
    <p:sldId id="307" r:id="rId39"/>
    <p:sldId id="308" r:id="rId40"/>
    <p:sldId id="309" r:id="rId41"/>
    <p:sldId id="310" r:id="rId42"/>
    <p:sldId id="291" r:id="rId43"/>
    <p:sldId id="276" r:id="rId44"/>
    <p:sldId id="277" r:id="rId45"/>
    <p:sldId id="278" r:id="rId46"/>
    <p:sldId id="280" r:id="rId47"/>
    <p:sldId id="311" r:id="rId48"/>
    <p:sldId id="279" r:id="rId49"/>
    <p:sldId id="312" r:id="rId50"/>
    <p:sldId id="281" r:id="rId51"/>
    <p:sldId id="282" r:id="rId52"/>
    <p:sldId id="289" r:id="rId53"/>
    <p:sldId id="283" r:id="rId54"/>
    <p:sldId id="284" r:id="rId55"/>
    <p:sldId id="285" r:id="rId56"/>
    <p:sldId id="293" r:id="rId57"/>
    <p:sldId id="294" r:id="rId58"/>
    <p:sldId id="295" r:id="rId59"/>
    <p:sldId id="313" r:id="rId60"/>
    <p:sldId id="297" r:id="rId61"/>
    <p:sldId id="315" r:id="rId62"/>
    <p:sldId id="299" r:id="rId63"/>
    <p:sldId id="300" r:id="rId64"/>
    <p:sldId id="301" r:id="rId65"/>
    <p:sldId id="302" r:id="rId66"/>
    <p:sldId id="320" r:id="rId67"/>
    <p:sldId id="316" r:id="rId68"/>
    <p:sldId id="317" r:id="rId69"/>
    <p:sldId id="318" r:id="rId70"/>
    <p:sldId id="319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866" autoAdjust="0"/>
  </p:normalViewPr>
  <p:slideViewPr>
    <p:cSldViewPr snapToGrid="0">
      <p:cViewPr varScale="1">
        <p:scale>
          <a:sx n="64" d="100"/>
          <a:sy n="64" d="100"/>
        </p:scale>
        <p:origin x="13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E178A-F0ED-4CE5-BD83-FE73BE0421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A5184-4123-4030-BCC8-87DE01370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01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 A linear ordering is any relationship where any two objects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dirty="0" smtClean="0"/>
              <a:t>and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 smtClean="0"/>
              <a:t> that can be compared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A5184-4123-4030-BCC8-87DE01370B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13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A5184-4123-4030-BCC8-87DE01370B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64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kern="1200" dirty="0" smtClean="0">
                <a:solidFill>
                  <a:schemeClr val="tx1"/>
                </a:solidFill>
                <a:latin typeface="StoneSerif"/>
                <a:ea typeface="+mn-ea"/>
                <a:cs typeface="+mn-cs"/>
              </a:rPr>
              <a:t>The previous example showed that the inner loop is Q(n), thus the outer loop is</a:t>
            </a:r>
          </a:p>
          <a:p>
            <a:r>
              <a:rPr lang="en-US" sz="2000" kern="1200" dirty="0" smtClean="0">
                <a:solidFill>
                  <a:schemeClr val="tx1"/>
                </a:solidFill>
                <a:latin typeface="StoneSerif"/>
                <a:ea typeface="+mn-ea"/>
                <a:cs typeface="+mn-cs"/>
              </a:rPr>
              <a:t>		</a:t>
            </a:r>
            <a:r>
              <a:rPr lang="en-US" sz="2000" b="1" dirty="0" smtClean="0">
                <a:latin typeface="Symbol" pitchFamily="18" charset="2"/>
                <a:cs typeface="Arial" charset="0"/>
              </a:rPr>
              <a:t>Q</a:t>
            </a:r>
            <a:r>
              <a:rPr lang="en-US" sz="2000" kern="1200" dirty="0" smtClean="0">
                <a:solidFill>
                  <a:schemeClr val="tx1"/>
                </a:solidFill>
                <a:latin typeface="StoneSerif"/>
                <a:ea typeface="+mn-ea"/>
                <a:cs typeface="+mn-cs"/>
              </a:rPr>
              <a:t>(</a:t>
            </a:r>
            <a:r>
              <a:rPr lang="en-US" sz="2000" kern="1200" dirty="0" err="1" smtClean="0">
                <a:solidFill>
                  <a:schemeClr val="tx1"/>
                </a:solidFill>
                <a:latin typeface="StoneSerif"/>
                <a:ea typeface="+mn-ea"/>
                <a:cs typeface="+mn-cs"/>
              </a:rPr>
              <a:t>n·n</a:t>
            </a:r>
            <a:r>
              <a:rPr lang="en-US" sz="2000" kern="1200" dirty="0" smtClean="0">
                <a:solidFill>
                  <a:schemeClr val="tx1"/>
                </a:solidFill>
                <a:latin typeface="StoneSerif"/>
                <a:ea typeface="+mn-ea"/>
                <a:cs typeface="+mn-cs"/>
              </a:rPr>
              <a:t>) = Q(n2)</a:t>
            </a:r>
          </a:p>
          <a:p>
            <a:endParaRPr lang="en-US" sz="2000" kern="1200" dirty="0">
              <a:solidFill>
                <a:schemeClr val="tx1"/>
              </a:solidFill>
              <a:latin typeface="StoneSerif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A5184-4123-4030-BCC8-87DE01370BD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72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Why we do not use arrays for everything?</a:t>
            </a:r>
          </a:p>
          <a:p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 smtClean="0"/>
              <a:t>- </a:t>
            </a:r>
            <a:r>
              <a:rPr lang="en-US" sz="120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</a:t>
            </a:r>
            <a:r>
              <a:rPr lang="en-US" sz="1200" b="0" i="0" u="none" strike="noStrike" baseline="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heir size is fixed</a:t>
            </a:r>
            <a:r>
              <a:rPr lang="en-US" sz="1200" b="0" i="0" u="none" strike="noStrike" baseline="0" dirty="0" smtClean="0">
                <a:latin typeface="StoneSerif"/>
              </a:rPr>
              <a:t>:- other data structures are more flexible and can expand to hold the number of items inserted in them.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A5184-4123-4030-BCC8-87DE01370BD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22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ADE0-EAA2-F5AF-896E-7B1F1AFEF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6180E-D80B-E0B4-6F9E-C00AE41BF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3AB24-E0E1-884D-9FAA-360D4ABD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82A3A-CB1F-5C56-01C4-CE86684BC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3FA41-57CC-6272-C352-5EA11E60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95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B810-63F3-B29F-5C2E-F37DE33B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232BD-52DC-4F0F-DAC4-D4F609F0E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61741-C2D2-5DC2-CA0F-55401058B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77FC4-0307-ACCF-43A0-9899BB1C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2EC14-5EBE-F990-3B26-E03AE605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7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8A53-1FDA-ED65-D64B-8F3D6C9F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09366-D117-83B6-0311-9E557A2A3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6D81D-7166-1D8E-F658-9958FB630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1C1F1-CEFC-974B-1067-93F12A547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F4391-5CC6-72C1-33D6-DB397D52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19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A7283-3F91-B5B6-77BE-707128FC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BB42A-FE80-9B2B-9D79-17897B304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25D43-8851-EE34-ED1E-0EB638DDF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93572-7590-19CE-B39F-703673BE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33985-B66C-299D-A458-DD10E710F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D2C85-E34F-9415-3D7A-D843EDC8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1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DE9C-8C88-CD5F-DCE6-CECA55F4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8C6FA-D62E-9084-EF2A-CED2CE0EF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E5CDE-5031-C884-B13E-5E2AD9E40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687EC-B08D-6437-0C82-902D3A0AB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DF909-F8EA-B14E-11E1-F2D5737D3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A5AF2-84D7-2E13-28A5-196C6069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6C944A-3648-4BEF-74AA-A81A5AD66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1E1E8-4AA3-739D-FB5E-C774D389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12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4F08-F447-FB1B-8479-F6E81611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101904-6453-E315-50A2-785AF481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11DB9-3B6F-633B-7ED5-BB2B8AE3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47D1-7CE1-CAA0-1575-256DB518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44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BE1EA-6F25-F2D0-CB4B-4BC1EB5A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097F7-7B29-6D91-89C5-1B73870F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ACD90-78F8-45E3-1076-61E6A7EB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60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B4EF-F01A-09A8-BBD7-AA466363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24787-54FB-6032-429F-BF2DA5C1A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106DD-8C12-EB7A-5558-097329F98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966D6-FAD5-2150-56E0-3B6B1864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30C2E-E7D4-F4F4-B6D9-7C404CD6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0D212-D608-57FE-879A-956723DE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36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899E-CA22-85AB-B57F-80EC77B4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46A08-B035-BCFC-367C-E1BC745742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9E0BE-AE0E-9DD1-6A67-77CBA0012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6DE23-683E-1463-A57B-A564B9F1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6182A-167A-EDC9-D1AE-552214841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3F6BA-7632-D1C4-921B-ADE7962AF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97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0D35-33EC-4497-899F-FE26A405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71C58-5B38-8CBE-054E-B69CDCB2A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0BA92-69A9-044A-FD8D-FE81FAED4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FD95D-9D97-C5D8-CD4E-19E52FED4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FC1A0-5A55-4771-9D43-CC120681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31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E4AF2-0C47-2670-CBAE-65571957B2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46B71-6230-FE55-F840-D98ED649A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0CD89-9518-2FC3-9D35-7CBC860A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7F3F1-B01F-61C5-47E2-81ACA831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593BF-F3B3-BD00-61E5-57838C55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D1FB2E-D7C8-4707-6404-38DA7C35A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74641-7ECA-96D8-A862-5DAB829ED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D83DC-F393-FC85-B14A-18FC0115C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F57E-4398-49A5-89B5-C2EBBBCD67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2EE99-240B-F8C5-A16C-B1BF0ED39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10E8C-DE2B-775D-BDFC-4CB91A9F9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8E42B-BD65-4AC3-B036-4D789EA55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27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F15C-BFE8-72B7-DAF3-7A0AFC46E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</a:rPr>
              <a:t>Data Structure and Algorithms: An Overview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B88F1-0748-AC04-676D-AEE2C89B14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Adane</a:t>
            </a:r>
            <a:r>
              <a:rPr lang="en-US" dirty="0"/>
              <a:t> </a:t>
            </a:r>
            <a:r>
              <a:rPr lang="en-US" dirty="0" smtClean="0"/>
              <a:t>Letta (PhD) </a:t>
            </a:r>
            <a:endParaRPr lang="en-US" dirty="0"/>
          </a:p>
          <a:p>
            <a:r>
              <a:rPr lang="en-US" dirty="0" smtClean="0"/>
              <a:t>April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03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DEAD-29C8-158A-D89E-C9D59BB2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7E9D9-0BF8-5ACF-D49E-B93007787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Background on DSA</a:t>
            </a:r>
          </a:p>
          <a:p>
            <a:r>
              <a:rPr lang="en-US" sz="2400" dirty="0"/>
              <a:t>Arrays </a:t>
            </a:r>
          </a:p>
          <a:p>
            <a:r>
              <a:rPr lang="en-US" sz="2400" dirty="0"/>
              <a:t>Sorting </a:t>
            </a:r>
          </a:p>
          <a:p>
            <a:r>
              <a:rPr lang="en-US" sz="2400" dirty="0"/>
              <a:t>Stacks and Queues </a:t>
            </a:r>
          </a:p>
          <a:p>
            <a:r>
              <a:rPr lang="en-US" sz="2400" dirty="0"/>
              <a:t>Linked Lists</a:t>
            </a:r>
          </a:p>
          <a:p>
            <a:r>
              <a:rPr lang="en-US" sz="2400" dirty="0"/>
              <a:t>Tree</a:t>
            </a:r>
          </a:p>
          <a:p>
            <a:r>
              <a:rPr lang="en-US" sz="2400" dirty="0"/>
              <a:t>Hash tables </a:t>
            </a:r>
          </a:p>
          <a:p>
            <a:r>
              <a:rPr lang="en-US" sz="2400" dirty="0" smtClean="0"/>
              <a:t>Heaps </a:t>
            </a:r>
            <a:endParaRPr lang="en-US" sz="2400" dirty="0"/>
          </a:p>
          <a:p>
            <a:r>
              <a:rPr lang="en-US" sz="2400" dirty="0"/>
              <a:t>Graphs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91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Background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StoneSerif"/>
              </a:rPr>
              <a:t>The focus of the course :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Algorithms for solving problems efficiently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Data structures for efficiently storing, accessing, and modifying data</a:t>
            </a:r>
          </a:p>
          <a:p>
            <a:pPr>
              <a:buNone/>
            </a:pPr>
            <a:r>
              <a:rPr lang="en-US" sz="2000" dirty="0">
                <a:latin typeface="StoneSerif"/>
              </a:rPr>
              <a:t>	</a:t>
            </a:r>
            <a:endParaRPr lang="en-US" sz="2000" dirty="0" smtClean="0">
              <a:latin typeface="StoneSerif"/>
            </a:endParaRPr>
          </a:p>
          <a:p>
            <a:pPr>
              <a:buNone/>
            </a:pPr>
            <a:r>
              <a:rPr lang="en-US" sz="2000" dirty="0" smtClean="0">
                <a:latin typeface="StoneSerif"/>
              </a:rPr>
              <a:t>We </a:t>
            </a:r>
            <a:r>
              <a:rPr lang="en-US" sz="2000" dirty="0">
                <a:latin typeface="StoneSerif"/>
              </a:rPr>
              <a:t>will see that all data structures have trade-offs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There is no ultimate data structure</a:t>
            </a:r>
            <a:r>
              <a:rPr lang="en-US" sz="2000" dirty="0">
                <a:latin typeface="StoneSerif"/>
              </a:rPr>
              <a:t>...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The choice depends on our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18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870A-A5C4-F074-989E-1AAF06B4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365125"/>
            <a:ext cx="10418618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Data Structure and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9567-A039-EC2A-462A-1EEA25D9C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0" i="0" u="none" strike="noStrike" baseline="0" dirty="0">
                <a:latin typeface="StoneSerif"/>
              </a:rPr>
              <a:t>A </a:t>
            </a:r>
            <a:r>
              <a:rPr lang="en-US" sz="2000" b="0" i="1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data structure </a:t>
            </a:r>
            <a:r>
              <a:rPr lang="en-US" sz="2000" b="0" i="0" u="none" strike="noStrike" baseline="0" dirty="0">
                <a:latin typeface="StoneSerif"/>
              </a:rPr>
              <a:t>is an arrangement of data in a computer’s memory</a:t>
            </a:r>
          </a:p>
          <a:p>
            <a:pPr algn="l"/>
            <a:endParaRPr lang="en-US" sz="2000" b="0" i="0" u="none" strike="noStrike" baseline="0" dirty="0">
              <a:latin typeface="StoneSerif"/>
            </a:endParaRPr>
          </a:p>
          <a:p>
            <a:pPr algn="l"/>
            <a:r>
              <a:rPr lang="en-US" sz="2000" b="0" i="0" u="none" strike="noStrike" baseline="0" dirty="0">
                <a:latin typeface="StoneSerif"/>
              </a:rPr>
              <a:t>Data structures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include arrays, linked lists, stacks, binary trees, and hash tables</a:t>
            </a:r>
            <a:r>
              <a:rPr lang="en-US" sz="2000" b="0" i="0" u="none" strike="noStrike" baseline="0" dirty="0">
                <a:latin typeface="StoneSerif"/>
              </a:rPr>
              <a:t>, among others. </a:t>
            </a:r>
          </a:p>
          <a:p>
            <a:pPr marL="0" indent="0" algn="l">
              <a:buNone/>
            </a:pPr>
            <a:endParaRPr lang="en-US" sz="2000" i="1" dirty="0">
              <a:latin typeface="StoneSerif-Italic"/>
            </a:endParaRPr>
          </a:p>
          <a:p>
            <a:pPr algn="l"/>
            <a:r>
              <a:rPr lang="en-US" sz="2000" b="0" i="1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Algorithms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manipulate </a:t>
            </a:r>
            <a:r>
              <a:rPr lang="en-US" sz="2000" b="0" i="0" u="none" strike="noStrike" baseline="0" dirty="0">
                <a:latin typeface="StoneSerif"/>
              </a:rPr>
              <a:t>the data in these structures in various ways, such as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searching for a particular data item and sorting the data</a:t>
            </a:r>
            <a:r>
              <a:rPr lang="en-US" sz="20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2000" b="0" i="0" u="none" strike="noStrike" baseline="0" dirty="0">
              <a:latin typeface="StoneSerif"/>
            </a:endParaRPr>
          </a:p>
          <a:p>
            <a:pPr algn="l"/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The correct choice of data structure allows major improvements in program efficiency.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94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Data Structure and Algorithms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StoneSans"/>
              </a:rPr>
              <a:t>Any form of information processing or communication requires that data must be stored in and accessed from either main or secondary memory</a:t>
            </a:r>
          </a:p>
          <a:p>
            <a:pPr>
              <a:buNone/>
            </a:pPr>
            <a:endParaRPr lang="en-US" sz="2000" dirty="0">
              <a:latin typeface="StoneSans"/>
            </a:endParaRPr>
          </a:p>
          <a:p>
            <a:r>
              <a:rPr lang="en-US" sz="2000" dirty="0" smtClean="0">
                <a:latin typeface="StoneSans"/>
              </a:rPr>
              <a:t>There </a:t>
            </a:r>
            <a:r>
              <a:rPr lang="en-US" sz="2000" dirty="0">
                <a:latin typeface="StoneSans"/>
              </a:rPr>
              <a:t>are two questions we should ask: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What do we want to do?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How can we do it?</a:t>
            </a:r>
          </a:p>
          <a:p>
            <a:r>
              <a:rPr lang="en-US" sz="2000" dirty="0">
                <a:latin typeface="StoneSans"/>
              </a:rPr>
              <a:t>This topic will cover 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Abstract Data Types</a:t>
            </a:r>
            <a:r>
              <a:rPr lang="en-US" sz="2000" dirty="0">
                <a:latin typeface="StoneSans"/>
              </a:rPr>
              <a:t>:</a:t>
            </a:r>
          </a:p>
          <a:p>
            <a:pPr lvl="1"/>
            <a:r>
              <a:rPr lang="en-US" sz="2000" dirty="0" smtClean="0">
                <a:latin typeface="StoneSans"/>
              </a:rPr>
              <a:t>Models </a:t>
            </a:r>
            <a:r>
              <a:rPr lang="en-US" sz="2000" dirty="0">
                <a:latin typeface="StoneSans"/>
              </a:rPr>
              <a:t>of the storage and access of </a:t>
            </a:r>
            <a:r>
              <a:rPr lang="en-US" sz="2000" dirty="0" smtClean="0">
                <a:latin typeface="StoneSans"/>
              </a:rPr>
              <a:t>information</a:t>
            </a:r>
          </a:p>
          <a:p>
            <a:endParaRPr lang="en-US" sz="2000" dirty="0" smtClean="0">
              <a:latin typeface="StoneSans"/>
            </a:endParaRPr>
          </a:p>
          <a:p>
            <a:r>
              <a:rPr lang="en-US" sz="2000" dirty="0" smtClean="0">
                <a:latin typeface="StoneSans"/>
              </a:rPr>
              <a:t>The </a:t>
            </a:r>
            <a:r>
              <a:rPr lang="en-US" sz="2000" dirty="0">
                <a:latin typeface="StoneSans"/>
              </a:rPr>
              <a:t>most abstract data types are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container</a:t>
            </a:r>
          </a:p>
          <a:p>
            <a:endParaRPr lang="en-US" sz="2000" dirty="0">
              <a:latin typeface="StoneSans"/>
            </a:endParaRP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A container describes structures that store and give access to objects</a:t>
            </a:r>
          </a:p>
          <a:p>
            <a:pPr marL="0" indent="0">
              <a:buNone/>
            </a:pPr>
            <a:endParaRPr lang="en-US" sz="2000" dirty="0">
              <a:solidFill>
                <a:schemeClr val="accent2">
                  <a:lumMod val="75000"/>
                </a:schemeClr>
              </a:solidFill>
              <a:latin typeface="StoneSerif-Italic"/>
            </a:endParaRPr>
          </a:p>
          <a:p>
            <a:pPr lvl="1"/>
            <a:endParaRPr lang="en-US" sz="2000" dirty="0">
              <a:latin typeface="StoneSerif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71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Data Structure and Algorithms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dirty="0">
                <a:latin typeface="StoneSans"/>
              </a:rPr>
              <a:t>The operations we may wish to perform on a container are:</a:t>
            </a:r>
          </a:p>
          <a:p>
            <a:pPr lvl="1"/>
            <a:endParaRPr lang="en-US" sz="2000" dirty="0" smtClean="0">
              <a:latin typeface="StoneSans"/>
            </a:endParaRPr>
          </a:p>
          <a:p>
            <a:pPr lvl="1"/>
            <a:r>
              <a:rPr lang="en-US" sz="2000" dirty="0" smtClean="0">
                <a:latin typeface="StoneSans"/>
              </a:rPr>
              <a:t>Create </a:t>
            </a:r>
            <a:r>
              <a:rPr lang="en-US" sz="2000" dirty="0">
                <a:latin typeface="StoneSans"/>
              </a:rPr>
              <a:t>a new container, copy or destroy an existing container, empty a container, query how many objects are in a container, query what is the maximum number of objects a container can hold, given two </a:t>
            </a:r>
            <a:r>
              <a:rPr lang="en-US" sz="2000" dirty="0" smtClean="0">
                <a:latin typeface="StoneSans"/>
              </a:rPr>
              <a:t>containers, find </a:t>
            </a:r>
            <a:r>
              <a:rPr lang="en-US" sz="2000" dirty="0">
                <a:latin typeface="StoneSans"/>
              </a:rPr>
              <a:t>the union (merge</a:t>
            </a:r>
            <a:r>
              <a:rPr lang="en-US" sz="2000" dirty="0" smtClean="0">
                <a:latin typeface="StoneSans"/>
              </a:rPr>
              <a:t>), find </a:t>
            </a:r>
            <a:r>
              <a:rPr lang="en-US" sz="2000" dirty="0">
                <a:latin typeface="StoneSans"/>
              </a:rPr>
              <a:t>the </a:t>
            </a:r>
            <a:r>
              <a:rPr lang="en-US" sz="2000" dirty="0" smtClean="0">
                <a:latin typeface="StoneSans"/>
              </a:rPr>
              <a:t>intersection</a:t>
            </a:r>
          </a:p>
          <a:p>
            <a:pPr lvl="1"/>
            <a:endParaRPr lang="en-US" sz="2000" dirty="0">
              <a:latin typeface="StoneSans"/>
            </a:endParaRPr>
          </a:p>
          <a:p>
            <a:pPr lvl="1"/>
            <a:r>
              <a:rPr lang="en-US" sz="2100" dirty="0" smtClean="0">
                <a:latin typeface="StoneSans"/>
              </a:rPr>
              <a:t>In </a:t>
            </a:r>
            <a:r>
              <a:rPr lang="en-US" sz="2100" dirty="0">
                <a:latin typeface="StoneSans"/>
              </a:rPr>
              <a:t>software in </a:t>
            </a:r>
            <a:r>
              <a:rPr lang="en-US" sz="2100" dirty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storing objects and relationships in containers</a:t>
            </a:r>
            <a:r>
              <a:rPr lang="en-US" sz="2100" dirty="0">
                <a:latin typeface="StoneSans"/>
              </a:rPr>
              <a:t>, there are reoccurring containers of objects and associated relationships where the actual queries and operations are restricted</a:t>
            </a:r>
          </a:p>
          <a:p>
            <a:pPr lvl="2"/>
            <a:endParaRPr lang="en-US" sz="1700" dirty="0" smtClean="0">
              <a:latin typeface="StoneSans"/>
            </a:endParaRPr>
          </a:p>
          <a:p>
            <a:pPr lvl="2"/>
            <a:r>
              <a:rPr lang="en-US" sz="2100" dirty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We model such containers by Abstract Data Types or ADTs</a:t>
            </a:r>
          </a:p>
          <a:p>
            <a:pPr lvl="1"/>
            <a:endParaRPr lang="en-US" sz="2000" dirty="0" smtClean="0">
              <a:solidFill>
                <a:schemeClr val="accent2">
                  <a:lumMod val="75000"/>
                </a:schemeClr>
              </a:solidFill>
              <a:latin typeface="StoneSans"/>
            </a:endParaRPr>
          </a:p>
          <a:p>
            <a:pPr lvl="1"/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Any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of the Abstract Data Types </a:t>
            </a:r>
            <a:r>
              <a:rPr lang="en-US" sz="2000" dirty="0">
                <a:latin typeface="StoneSans"/>
              </a:rPr>
              <a:t>we will discuss can be implemented as either a simple container or an associative </a:t>
            </a:r>
            <a:r>
              <a:rPr lang="en-US" sz="2000" dirty="0" smtClean="0">
                <a:latin typeface="StoneSans"/>
              </a:rPr>
              <a:t>container</a:t>
            </a:r>
          </a:p>
          <a:p>
            <a:pPr lvl="1"/>
            <a:endParaRPr lang="en-US" dirty="0" smtClean="0"/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Another design requirement may be to either</a:t>
            </a:r>
            <a:r>
              <a:rPr lang="en-US" dirty="0" smtClean="0"/>
              <a:t>: require </a:t>
            </a:r>
            <a:r>
              <a:rPr lang="en-US" dirty="0"/>
              <a:t>that all objects in the container are unique, </a:t>
            </a:r>
            <a:r>
              <a:rPr lang="en-US" dirty="0" smtClean="0"/>
              <a:t>or allow </a:t>
            </a:r>
            <a:r>
              <a:rPr lang="en-US" dirty="0"/>
              <a:t>duplicate objects</a:t>
            </a:r>
          </a:p>
          <a:p>
            <a:pPr lvl="1"/>
            <a:endParaRPr lang="en-US" sz="2000" dirty="0">
              <a:latin typeface="StoneSans"/>
            </a:endParaRPr>
          </a:p>
          <a:p>
            <a:pPr marL="457200" lvl="1" indent="0">
              <a:buNone/>
            </a:pPr>
            <a:endParaRPr lang="en-US" sz="2000" dirty="0">
              <a:latin typeface="StoneSans"/>
            </a:endParaRPr>
          </a:p>
          <a:p>
            <a:endParaRPr lang="en-US" dirty="0">
              <a:latin typeface="StoneSans"/>
            </a:endParaRPr>
          </a:p>
        </p:txBody>
      </p:sp>
    </p:spTree>
    <p:extLst>
      <p:ext uri="{BB962C8B-B14F-4D97-AF65-F5344CB8AC3E}">
        <p14:creationId xmlns:p14="http://schemas.microsoft.com/office/powerpoint/2010/main" val="253422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545" y="7778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Data Structure and Algorithms 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433946" y="156902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dirty="0" smtClean="0"/>
              <a:t>	</a:t>
            </a:r>
            <a:r>
              <a:rPr lang="en-US" sz="2000" dirty="0">
                <a:latin typeface="StoneSans"/>
              </a:rPr>
              <a:t>We will look at six relationships:</a:t>
            </a:r>
          </a:p>
          <a:p>
            <a:pPr lvl="1"/>
            <a:r>
              <a:rPr lang="en-US" sz="2000" dirty="0">
                <a:latin typeface="StoneSans"/>
              </a:rPr>
              <a:t>Linear orderings</a:t>
            </a:r>
          </a:p>
          <a:p>
            <a:pPr lvl="1"/>
            <a:endParaRPr lang="en-US" sz="2000" dirty="0">
              <a:latin typeface="StoneSans"/>
            </a:endParaRPr>
          </a:p>
          <a:p>
            <a:pPr lvl="1"/>
            <a:r>
              <a:rPr lang="en-US" sz="2000" dirty="0">
                <a:latin typeface="StoneSans"/>
              </a:rPr>
              <a:t>Hierarchical orderings</a:t>
            </a:r>
          </a:p>
          <a:p>
            <a:pPr lvl="1"/>
            <a:endParaRPr lang="en-US" sz="2000" dirty="0">
              <a:latin typeface="StoneSans"/>
            </a:endParaRPr>
          </a:p>
          <a:p>
            <a:pPr lvl="1"/>
            <a:r>
              <a:rPr lang="en-US" sz="2000" dirty="0">
                <a:latin typeface="StoneSans"/>
              </a:rPr>
              <a:t>Partial orderings</a:t>
            </a:r>
          </a:p>
          <a:p>
            <a:pPr lvl="1"/>
            <a:endParaRPr lang="en-US" sz="2000" dirty="0">
              <a:latin typeface="StoneSans"/>
            </a:endParaRPr>
          </a:p>
          <a:p>
            <a:pPr lvl="1"/>
            <a:r>
              <a:rPr lang="en-US" sz="2000" dirty="0">
                <a:latin typeface="StoneSans"/>
              </a:rPr>
              <a:t>Equivalence relations</a:t>
            </a:r>
          </a:p>
          <a:p>
            <a:pPr lvl="1"/>
            <a:endParaRPr lang="en-US" sz="2000" dirty="0">
              <a:latin typeface="StoneSans"/>
            </a:endParaRPr>
          </a:p>
          <a:p>
            <a:pPr lvl="1"/>
            <a:r>
              <a:rPr lang="en-US" sz="2000" dirty="0">
                <a:latin typeface="StoneSans"/>
              </a:rPr>
              <a:t>Weak orderings</a:t>
            </a:r>
          </a:p>
          <a:p>
            <a:pPr lvl="1"/>
            <a:endParaRPr lang="en-US" sz="2000" dirty="0">
              <a:latin typeface="StoneSans"/>
            </a:endParaRPr>
          </a:p>
          <a:p>
            <a:pPr lvl="1"/>
            <a:r>
              <a:rPr lang="en-US" sz="2000" dirty="0">
                <a:latin typeface="StoneSans"/>
              </a:rPr>
              <a:t>Adjacency relations</a:t>
            </a:r>
          </a:p>
        </p:txBody>
      </p:sp>
      <p:pic>
        <p:nvPicPr>
          <p:cNvPr id="5" name="Picture 3" descr="C:\Users\dwharder\Desktop\Picturex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93429" y="2150917"/>
            <a:ext cx="2129832" cy="394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3998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Data Structure and Algorithms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In abstract data types any time you are intending to store objects, you must ask</a:t>
            </a:r>
            <a:r>
              <a:rPr lang="en-US" dirty="0"/>
              <a:t>:</a:t>
            </a:r>
          </a:p>
          <a:p>
            <a:pPr lvl="1"/>
            <a:r>
              <a:rPr lang="en-US" sz="2000" dirty="0">
                <a:latin typeface="StoneSans"/>
              </a:rPr>
              <a:t>What are the relationships on the objects?</a:t>
            </a:r>
          </a:p>
          <a:p>
            <a:pPr lvl="1"/>
            <a:endParaRPr lang="en-US" sz="2000" dirty="0" smtClean="0">
              <a:latin typeface="StoneSans"/>
            </a:endParaRPr>
          </a:p>
          <a:p>
            <a:pPr lvl="1"/>
            <a:r>
              <a:rPr lang="en-US" sz="2000" dirty="0" smtClean="0">
                <a:latin typeface="StoneSans"/>
              </a:rPr>
              <a:t>What </a:t>
            </a:r>
            <a:r>
              <a:rPr lang="en-US" sz="2000" dirty="0">
                <a:latin typeface="StoneSans"/>
              </a:rPr>
              <a:t>queries will be made about the objects in the container?</a:t>
            </a:r>
          </a:p>
          <a:p>
            <a:pPr lvl="1"/>
            <a:endParaRPr lang="en-US" sz="2000" dirty="0">
              <a:latin typeface="StoneSans"/>
            </a:endParaRPr>
          </a:p>
          <a:p>
            <a:pPr lvl="1"/>
            <a:r>
              <a:rPr lang="en-US" sz="2000" dirty="0" smtClean="0">
                <a:latin typeface="StoneSans"/>
              </a:rPr>
              <a:t>What </a:t>
            </a:r>
            <a:r>
              <a:rPr lang="en-US" sz="2000" dirty="0">
                <a:latin typeface="StoneSans"/>
              </a:rPr>
              <a:t>operations will be performed on the objects in the container?</a:t>
            </a:r>
          </a:p>
          <a:p>
            <a:pPr lvl="1"/>
            <a:endParaRPr lang="en-US" sz="2000" dirty="0" smtClean="0">
              <a:latin typeface="StoneSans"/>
            </a:endParaRPr>
          </a:p>
          <a:p>
            <a:pPr lvl="1"/>
            <a:r>
              <a:rPr lang="en-US" sz="2000" dirty="0" smtClean="0">
                <a:latin typeface="StoneSans"/>
              </a:rPr>
              <a:t>What </a:t>
            </a:r>
            <a:r>
              <a:rPr lang="en-US" sz="2000" dirty="0">
                <a:latin typeface="StoneSans"/>
              </a:rPr>
              <a:t>operations may be performed on the container as a whole?</a:t>
            </a:r>
          </a:p>
          <a:p>
            <a:pPr lvl="1"/>
            <a:endParaRPr lang="en-US" sz="2000" dirty="0" smtClean="0">
              <a:latin typeface="StoneSans"/>
            </a:endParaRPr>
          </a:p>
          <a:p>
            <a:pPr lvl="1"/>
            <a:r>
              <a:rPr lang="en-US" sz="2000" dirty="0" smtClean="0">
                <a:latin typeface="StoneSans"/>
              </a:rPr>
              <a:t>What </a:t>
            </a:r>
            <a:r>
              <a:rPr lang="en-US" sz="2000" dirty="0">
                <a:latin typeface="StoneSans"/>
              </a:rPr>
              <a:t>queries will be made about the relationships between the objects in the container?</a:t>
            </a:r>
          </a:p>
          <a:p>
            <a:pPr lvl="1"/>
            <a:endParaRPr lang="en-US" sz="2000" dirty="0" smtClean="0">
              <a:latin typeface="StoneSans"/>
            </a:endParaRPr>
          </a:p>
          <a:p>
            <a:pPr lvl="1"/>
            <a:r>
              <a:rPr lang="en-US" sz="2000" dirty="0" smtClean="0">
                <a:latin typeface="StoneSans"/>
              </a:rPr>
              <a:t>What </a:t>
            </a:r>
            <a:r>
              <a:rPr lang="en-US" sz="2000" dirty="0">
                <a:latin typeface="StoneSans"/>
              </a:rPr>
              <a:t>operations may be made on the relationships themselves between the objects in the container?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3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</a:rPr>
              <a:t>Algorithms 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Analysis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000" dirty="0">
                <a:latin typeface="StoneSerif"/>
              </a:rPr>
              <a:t>Suppose we have two algorithms, how can we tell which is better?</a:t>
            </a:r>
          </a:p>
          <a:p>
            <a:pPr>
              <a:buFont typeface="Arial" charset="0"/>
              <a:buNone/>
            </a:pPr>
            <a:endParaRPr lang="en-US" sz="2000" dirty="0">
              <a:latin typeface="StoneSerif"/>
            </a:endParaRPr>
          </a:p>
          <a:p>
            <a:pPr>
              <a:buFont typeface="Arial" charset="0"/>
              <a:buNone/>
            </a:pPr>
            <a:r>
              <a:rPr lang="en-US" sz="2000" dirty="0" smtClean="0">
                <a:latin typeface="StoneSerif"/>
              </a:rPr>
              <a:t>We </a:t>
            </a:r>
            <a:r>
              <a:rPr lang="en-US" sz="2000" dirty="0">
                <a:latin typeface="StoneSerif"/>
              </a:rPr>
              <a:t>could implement both algorithms, run them both</a:t>
            </a:r>
          </a:p>
          <a:p>
            <a:pPr lvl="1"/>
            <a:r>
              <a:rPr lang="en-US" sz="2000" dirty="0">
                <a:latin typeface="StoneSerif"/>
              </a:rPr>
              <a:t>Expensive and error prone</a:t>
            </a:r>
          </a:p>
          <a:p>
            <a:pPr>
              <a:buFont typeface="Arial" charset="0"/>
              <a:buNone/>
            </a:pPr>
            <a:endParaRPr lang="en-US" sz="2000" dirty="0">
              <a:latin typeface="StoneSerif"/>
            </a:endParaRPr>
          </a:p>
          <a:p>
            <a:pPr>
              <a:buFont typeface="Arial" charset="0"/>
              <a:buNone/>
            </a:pPr>
            <a:r>
              <a:rPr lang="en-US" sz="2000" dirty="0" smtClean="0">
                <a:latin typeface="StoneSerif"/>
              </a:rPr>
              <a:t>Preferably</a:t>
            </a:r>
            <a:r>
              <a:rPr lang="en-US" sz="2000" dirty="0">
                <a:latin typeface="StoneSerif"/>
              </a:rPr>
              <a:t>, we should analyze them mathematically</a:t>
            </a:r>
          </a:p>
          <a:p>
            <a:pPr lvl="1"/>
            <a:r>
              <a:rPr lang="en-US" sz="2000" dirty="0">
                <a:latin typeface="StoneSerif"/>
              </a:rPr>
              <a:t>Algorithm </a:t>
            </a:r>
            <a:r>
              <a:rPr lang="en-US" sz="2000" dirty="0" smtClean="0">
                <a:latin typeface="StoneSerif"/>
              </a:rPr>
              <a:t>analysis</a:t>
            </a:r>
          </a:p>
          <a:p>
            <a:pPr>
              <a:buFont typeface="Arial" charset="0"/>
              <a:buNone/>
            </a:pPr>
            <a:r>
              <a:rPr lang="en-US" sz="2100" dirty="0">
                <a:latin typeface="StoneSerif"/>
              </a:rPr>
              <a:t>We will begin with one variable:</a:t>
            </a:r>
          </a:p>
          <a:p>
            <a:pPr lvl="1"/>
            <a:r>
              <a:rPr lang="en-US" sz="2000" dirty="0">
                <a:latin typeface="StoneSerif"/>
              </a:rPr>
              <a:t>The number of items n currently stored in an array or other data structure</a:t>
            </a:r>
          </a:p>
          <a:p>
            <a:pPr lvl="1"/>
            <a:r>
              <a:rPr lang="en-US" sz="2000" dirty="0">
                <a:latin typeface="StoneSerif"/>
              </a:rPr>
              <a:t>The number of items expected to be stored in an array or other data structure</a:t>
            </a:r>
          </a:p>
          <a:p>
            <a:pPr lvl="1"/>
            <a:r>
              <a:rPr lang="en-US" sz="2000" dirty="0">
                <a:latin typeface="StoneSerif"/>
              </a:rPr>
              <a:t>The dimensions of an n × n matrix</a:t>
            </a:r>
          </a:p>
          <a:p>
            <a:pPr marL="0" indent="0">
              <a:buNone/>
            </a:pPr>
            <a:endParaRPr lang="en-US" sz="2400" dirty="0">
              <a:latin typeface="StoneSerif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Algorithms Analysis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9254111"/>
              </p:ext>
            </p:extLst>
          </p:nvPr>
        </p:nvGraphicFramePr>
        <p:xfrm>
          <a:off x="753979" y="2096294"/>
          <a:ext cx="10515600" cy="28956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8597144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478206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627811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06163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Notation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Mathematical Name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What it tells you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Real-world Analogy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308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O(n)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Big-O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Upper Bound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"It will take 1 hour </a:t>
                      </a:r>
                      <a:r>
                        <a:rPr lang="en-US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 less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."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10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Ω(n)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Big-Omega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Lower Bound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"It will take </a:t>
                      </a:r>
                      <a:r>
                        <a:rPr lang="en-US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at least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1 hour."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737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 smtClean="0">
                          <a:latin typeface="Symbol" pitchFamily="18" charset="2"/>
                          <a:cs typeface="Arial" charset="0"/>
                        </a:rPr>
                        <a:t>Q</a:t>
                      </a:r>
                      <a:r>
                        <a:rPr lang="en-US" b="1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(n)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Big-Theta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Tight Bound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"It will take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exactly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1 hour."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542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8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Algorithms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Analysis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Big Theta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Symbol" pitchFamily="18" charset="2"/>
                <a:cs typeface="Arial" charset="0"/>
              </a:rPr>
              <a:t>Q)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used to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describe the Time Complexity </a:t>
            </a:r>
            <a:r>
              <a:rPr lang="en-US" sz="2000" dirty="0"/>
              <a:t>of an algorithm—essentially answering: </a:t>
            </a:r>
            <a:r>
              <a:rPr lang="en-US" sz="2000" i="1" dirty="0"/>
              <a:t>"How much slower does this get as the input ($n$) gets bigger?</a:t>
            </a:r>
            <a:endParaRPr lang="en-US" sz="2000" dirty="0"/>
          </a:p>
          <a:p>
            <a:pPr>
              <a:buFont typeface="Arial" charset="0"/>
              <a:buNone/>
            </a:pPr>
            <a:endParaRPr lang="en-US" sz="2000" dirty="0">
              <a:latin typeface="StoneSerif"/>
            </a:endParaRPr>
          </a:p>
          <a:p>
            <a:pPr>
              <a:buFont typeface="Arial" charset="0"/>
              <a:buNone/>
            </a:pPr>
            <a:r>
              <a:rPr lang="en-US" sz="2200" dirty="0" smtClean="0">
                <a:latin typeface="Arial" charset="0"/>
                <a:cs typeface="Arial" charset="0"/>
              </a:rPr>
              <a:t>The </a:t>
            </a:r>
            <a:r>
              <a:rPr lang="en-US" sz="2200" dirty="0">
                <a:latin typeface="Arial" charset="0"/>
                <a:cs typeface="Arial" charset="0"/>
              </a:rPr>
              <a:t>most common classes are given names:</a:t>
            </a:r>
          </a:p>
          <a:p>
            <a:pPr>
              <a:buFontTx/>
              <a:buNone/>
            </a:pPr>
            <a:r>
              <a:rPr lang="en-US" sz="2200" dirty="0">
                <a:latin typeface="Arial" charset="0"/>
                <a:cs typeface="Arial" charset="0"/>
              </a:rPr>
              <a:t>		 </a:t>
            </a:r>
            <a:r>
              <a:rPr lang="en-US" sz="2200" b="1" dirty="0">
                <a:latin typeface="Symbol" pitchFamily="18" charset="2"/>
                <a:cs typeface="Arial" charset="0"/>
              </a:rPr>
              <a:t>Q</a:t>
            </a:r>
            <a:r>
              <a:rPr lang="en-US" sz="2200" dirty="0">
                <a:latin typeface="Times New Roman" pitchFamily="18" charset="0"/>
                <a:cs typeface="Arial" charset="0"/>
              </a:rPr>
              <a:t>(1)			</a:t>
            </a:r>
            <a:r>
              <a:rPr lang="en-US" sz="2200" dirty="0">
                <a:latin typeface="Arial" charset="0"/>
                <a:cs typeface="Arial" charset="0"/>
              </a:rPr>
              <a:t>constant</a:t>
            </a:r>
          </a:p>
          <a:p>
            <a:pPr>
              <a:buFontTx/>
              <a:buNone/>
            </a:pPr>
            <a:r>
              <a:rPr lang="en-US" sz="2200" dirty="0">
                <a:latin typeface="Arial" charset="0"/>
                <a:cs typeface="Arial" charset="0"/>
              </a:rPr>
              <a:t>		 </a:t>
            </a:r>
            <a:r>
              <a:rPr lang="en-US" sz="2200" b="1" dirty="0">
                <a:latin typeface="Symbol" pitchFamily="18" charset="2"/>
                <a:cs typeface="Arial" charset="0"/>
              </a:rPr>
              <a:t>Q</a:t>
            </a:r>
            <a:r>
              <a:rPr lang="en-US" sz="2200" dirty="0">
                <a:latin typeface="Times New Roman" pitchFamily="18" charset="0"/>
                <a:cs typeface="Arial" charset="0"/>
              </a:rPr>
              <a:t>(ln(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200" dirty="0">
                <a:latin typeface="Times New Roman" pitchFamily="18" charset="0"/>
                <a:cs typeface="Arial" charset="0"/>
              </a:rPr>
              <a:t>))		</a:t>
            </a:r>
            <a:r>
              <a:rPr lang="en-US" sz="2200" dirty="0">
                <a:latin typeface="Arial" charset="0"/>
                <a:cs typeface="Arial" charset="0"/>
              </a:rPr>
              <a:t>logarithmic</a:t>
            </a:r>
          </a:p>
          <a:p>
            <a:pPr>
              <a:buFontTx/>
              <a:buNone/>
            </a:pPr>
            <a:r>
              <a:rPr lang="en-US" sz="2200" dirty="0">
                <a:latin typeface="Arial" charset="0"/>
                <a:cs typeface="Arial" charset="0"/>
              </a:rPr>
              <a:t>		 </a:t>
            </a:r>
            <a:r>
              <a:rPr lang="en-US" sz="2200" b="1" dirty="0">
                <a:latin typeface="Symbol" pitchFamily="18" charset="2"/>
                <a:cs typeface="Arial" charset="0"/>
              </a:rPr>
              <a:t>Q</a:t>
            </a:r>
            <a:r>
              <a:rPr lang="en-US" sz="2200" dirty="0">
                <a:latin typeface="Times New Roman" pitchFamily="18" charset="0"/>
                <a:cs typeface="Arial" charset="0"/>
              </a:rPr>
              <a:t>(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200" dirty="0">
                <a:latin typeface="Times New Roman" pitchFamily="18" charset="0"/>
                <a:cs typeface="Arial" charset="0"/>
              </a:rPr>
              <a:t>)			</a:t>
            </a:r>
            <a:r>
              <a:rPr lang="en-US" sz="2200" dirty="0">
                <a:latin typeface="Arial" charset="0"/>
                <a:cs typeface="Arial" charset="0"/>
              </a:rPr>
              <a:t>linear</a:t>
            </a:r>
          </a:p>
          <a:p>
            <a:pPr>
              <a:buFontTx/>
              <a:buNone/>
            </a:pPr>
            <a:r>
              <a:rPr lang="en-US" sz="2200" dirty="0">
                <a:latin typeface="Arial" charset="0"/>
                <a:cs typeface="Arial" charset="0"/>
              </a:rPr>
              <a:t>		 </a:t>
            </a:r>
            <a:r>
              <a:rPr lang="en-US" sz="2200" b="1" dirty="0">
                <a:latin typeface="Symbol" pitchFamily="18" charset="2"/>
                <a:cs typeface="Arial" charset="0"/>
              </a:rPr>
              <a:t>Q</a:t>
            </a:r>
            <a:r>
              <a:rPr lang="en-US" sz="2200" dirty="0">
                <a:latin typeface="Times New Roman" pitchFamily="18" charset="0"/>
                <a:cs typeface="Arial" charset="0"/>
              </a:rPr>
              <a:t>(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n </a:t>
            </a:r>
            <a:r>
              <a:rPr lang="en-US" sz="2200" dirty="0">
                <a:latin typeface="Times New Roman" pitchFamily="18" charset="0"/>
                <a:cs typeface="Arial" charset="0"/>
              </a:rPr>
              <a:t>ln(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200" dirty="0">
                <a:latin typeface="Times New Roman" pitchFamily="18" charset="0"/>
                <a:cs typeface="Arial" charset="0"/>
              </a:rPr>
              <a:t>))		</a:t>
            </a:r>
            <a:r>
              <a:rPr lang="en-US" sz="2200" dirty="0">
                <a:latin typeface="Arial" charset="0"/>
                <a:cs typeface="Arial" charset="0"/>
              </a:rPr>
              <a:t>“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200" dirty="0">
                <a:latin typeface="Arial" charset="0"/>
                <a:cs typeface="Arial" charset="0"/>
              </a:rPr>
              <a:t> log 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200" i="1" dirty="0">
                <a:latin typeface="Arial" charset="0"/>
                <a:cs typeface="Arial" charset="0"/>
              </a:rPr>
              <a:t>”</a:t>
            </a:r>
            <a:endParaRPr lang="en-US" sz="2200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sz="2200" dirty="0">
                <a:latin typeface="Arial" charset="0"/>
                <a:cs typeface="Arial" charset="0"/>
              </a:rPr>
              <a:t>		 </a:t>
            </a:r>
            <a:r>
              <a:rPr lang="en-US" sz="2200" b="1" dirty="0">
                <a:latin typeface="Symbol" pitchFamily="18" charset="2"/>
                <a:cs typeface="Arial" charset="0"/>
              </a:rPr>
              <a:t>Q</a:t>
            </a:r>
            <a:r>
              <a:rPr lang="en-US" sz="2200" dirty="0">
                <a:latin typeface="Times New Roman" pitchFamily="18" charset="0"/>
                <a:cs typeface="Arial" charset="0"/>
              </a:rPr>
              <a:t>(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200" baseline="30000" dirty="0">
                <a:latin typeface="Times New Roman" pitchFamily="18" charset="0"/>
                <a:cs typeface="Arial" charset="0"/>
              </a:rPr>
              <a:t>2</a:t>
            </a:r>
            <a:r>
              <a:rPr lang="en-US" sz="2200" dirty="0">
                <a:latin typeface="Times New Roman" pitchFamily="18" charset="0"/>
                <a:cs typeface="Arial" charset="0"/>
              </a:rPr>
              <a:t>)			</a:t>
            </a:r>
            <a:r>
              <a:rPr lang="en-US" sz="2200" dirty="0">
                <a:latin typeface="Arial" charset="0"/>
                <a:cs typeface="Arial" charset="0"/>
              </a:rPr>
              <a:t>quadratic</a:t>
            </a:r>
          </a:p>
          <a:p>
            <a:pPr>
              <a:buFontTx/>
              <a:buNone/>
            </a:pPr>
            <a:r>
              <a:rPr lang="en-US" sz="2200" dirty="0">
                <a:latin typeface="Arial" charset="0"/>
                <a:cs typeface="Arial" charset="0"/>
              </a:rPr>
              <a:t>		 </a:t>
            </a:r>
            <a:r>
              <a:rPr lang="en-US" sz="2200" b="1" dirty="0">
                <a:latin typeface="Symbol" pitchFamily="18" charset="2"/>
                <a:cs typeface="Arial" charset="0"/>
              </a:rPr>
              <a:t>Q</a:t>
            </a:r>
            <a:r>
              <a:rPr lang="en-US" sz="2200" dirty="0">
                <a:latin typeface="Times New Roman" pitchFamily="18" charset="0"/>
                <a:cs typeface="Arial" charset="0"/>
              </a:rPr>
              <a:t>(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200" baseline="30000" dirty="0">
                <a:latin typeface="Times New Roman" pitchFamily="18" charset="0"/>
                <a:cs typeface="Arial" charset="0"/>
              </a:rPr>
              <a:t>3</a:t>
            </a:r>
            <a:r>
              <a:rPr lang="en-US" sz="2200" dirty="0">
                <a:latin typeface="Times New Roman" pitchFamily="18" charset="0"/>
                <a:cs typeface="Arial" charset="0"/>
              </a:rPr>
              <a:t>)			</a:t>
            </a:r>
            <a:r>
              <a:rPr lang="en-US" sz="2200" dirty="0">
                <a:latin typeface="Arial" charset="0"/>
                <a:cs typeface="Arial" charset="0"/>
              </a:rPr>
              <a:t>cubic</a:t>
            </a:r>
          </a:p>
          <a:p>
            <a:pPr>
              <a:buFontTx/>
              <a:buNone/>
            </a:pPr>
            <a:r>
              <a:rPr lang="en-US" sz="2200" dirty="0">
                <a:latin typeface="Arial" charset="0"/>
                <a:cs typeface="Arial" charset="0"/>
              </a:rPr>
              <a:t>		 </a:t>
            </a:r>
            <a:r>
              <a:rPr lang="en-US" sz="2200" dirty="0">
                <a:latin typeface="Times New Roman" pitchFamily="18" charset="0"/>
                <a:cs typeface="Arial" charset="0"/>
              </a:rPr>
              <a:t>2</a:t>
            </a:r>
            <a:r>
              <a:rPr lang="en-US" sz="2200" i="1" baseline="30000" dirty="0">
                <a:latin typeface="Times New Roman" pitchFamily="18" charset="0"/>
                <a:cs typeface="Arial" charset="0"/>
              </a:rPr>
              <a:t>n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, </a:t>
            </a:r>
            <a:r>
              <a:rPr lang="en-US" sz="2200" i="1" dirty="0" err="1">
                <a:latin typeface="Times New Roman" pitchFamily="18" charset="0"/>
                <a:cs typeface="Arial" charset="0"/>
              </a:rPr>
              <a:t>e</a:t>
            </a:r>
            <a:r>
              <a:rPr lang="en-US" sz="2200" i="1" baseline="30000" dirty="0" err="1">
                <a:latin typeface="Times New Roman" pitchFamily="18" charset="0"/>
                <a:cs typeface="Arial" charset="0"/>
              </a:rPr>
              <a:t>n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, </a:t>
            </a:r>
            <a:r>
              <a:rPr lang="en-US" sz="2200" dirty="0">
                <a:latin typeface="Times New Roman" pitchFamily="18" charset="0"/>
                <a:cs typeface="Arial" charset="0"/>
              </a:rPr>
              <a:t>4</a:t>
            </a:r>
            <a:r>
              <a:rPr lang="en-US" sz="2200" i="1" baseline="30000" dirty="0">
                <a:latin typeface="Times New Roman" pitchFamily="18" charset="0"/>
                <a:cs typeface="Arial" charset="0"/>
              </a:rPr>
              <a:t>n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, ...</a:t>
            </a:r>
            <a:r>
              <a:rPr lang="en-US" sz="2200" dirty="0">
                <a:latin typeface="Times New Roman" pitchFamily="18" charset="0"/>
                <a:cs typeface="Arial" charset="0"/>
              </a:rPr>
              <a:t>		</a:t>
            </a:r>
            <a:r>
              <a:rPr lang="en-US" sz="2200" dirty="0">
                <a:latin typeface="Arial" charset="0"/>
                <a:cs typeface="Arial" charset="0"/>
              </a:rPr>
              <a:t>exponential</a:t>
            </a:r>
            <a:endParaRPr lang="en-US" sz="2200" baseline="30000" dirty="0">
              <a:latin typeface="Arial" charset="0"/>
              <a:cs typeface="Arial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7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Algorithms Analysis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CA" sz="2200" dirty="0">
                <a:latin typeface="Arial" charset="0"/>
                <a:cs typeface="Arial" charset="0"/>
              </a:rPr>
              <a:t>We will use Landau symbols to describe the complexity of algorithms</a:t>
            </a:r>
          </a:p>
          <a:p>
            <a:pPr lvl="1"/>
            <a:r>
              <a:rPr lang="en-CA" sz="2200" dirty="0">
                <a:latin typeface="Arial" charset="0"/>
                <a:cs typeface="Arial" charset="0"/>
              </a:rPr>
              <a:t>E.g., adding a list of </a:t>
            </a:r>
            <a:r>
              <a:rPr lang="en-CA" sz="22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sz="2200" dirty="0">
                <a:latin typeface="Arial" charset="0"/>
                <a:cs typeface="Arial" charset="0"/>
              </a:rPr>
              <a:t> doubles will be said to be a </a:t>
            </a:r>
            <a:r>
              <a:rPr lang="en-CA" sz="2200" dirty="0" smtClean="0">
                <a:latin typeface="Symbol" pitchFamily="18" charset="2"/>
                <a:cs typeface="Arial" charset="0"/>
              </a:rPr>
              <a:t>Q</a:t>
            </a:r>
            <a:r>
              <a:rPr lang="en-CA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sz="2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CA" sz="2200" dirty="0">
                <a:latin typeface="Arial" charset="0"/>
                <a:cs typeface="Arial" charset="0"/>
              </a:rPr>
              <a:t> algorithm</a:t>
            </a:r>
          </a:p>
          <a:p>
            <a:pPr lvl="1"/>
            <a:endParaRPr lang="en-CA" sz="22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CA" sz="2200" dirty="0">
                <a:latin typeface="Arial" charset="0"/>
                <a:cs typeface="Arial" charset="0"/>
              </a:rPr>
              <a:t>	An algorithm is said to have </a:t>
            </a:r>
            <a:r>
              <a:rPr lang="en-CA" sz="2200" i="1" dirty="0">
                <a:latin typeface="Arial" charset="0"/>
                <a:cs typeface="Arial" charset="0"/>
              </a:rPr>
              <a:t>polynomial time complexity</a:t>
            </a:r>
            <a:r>
              <a:rPr lang="en-CA" sz="2200" dirty="0">
                <a:latin typeface="Arial" charset="0"/>
                <a:cs typeface="Arial" charset="0"/>
              </a:rPr>
              <a:t> if its run-time may be described by </a:t>
            </a:r>
            <a:r>
              <a:rPr lang="en-CA" sz="2200" dirty="0">
                <a:latin typeface="Times New Roman" pitchFamily="18" charset="0"/>
                <a:cs typeface="Times New Roman" pitchFamily="18" charset="0"/>
              </a:rPr>
              <a:t>O(</a:t>
            </a:r>
            <a:r>
              <a:rPr lang="en-CA" sz="2200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sz="2200" i="1" baseline="30000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CA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CA" sz="2200" dirty="0">
                <a:latin typeface="Arial" charset="0"/>
                <a:cs typeface="Arial" charset="0"/>
              </a:rPr>
              <a:t> for some fixed </a:t>
            </a:r>
            <a:r>
              <a:rPr lang="en-CA" sz="2200" i="1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CA" sz="2200" dirty="0">
                <a:latin typeface="Times New Roman" pitchFamily="18" charset="0"/>
                <a:cs typeface="Times New Roman" pitchFamily="18" charset="0"/>
              </a:rPr>
              <a:t>≥ 0</a:t>
            </a:r>
          </a:p>
          <a:p>
            <a:pPr lvl="1"/>
            <a:r>
              <a:rPr lang="en-CA" sz="2200" dirty="0">
                <a:latin typeface="Arial" charset="0"/>
                <a:cs typeface="Arial" charset="0"/>
              </a:rPr>
              <a:t>We will consider such algorithms to be </a:t>
            </a:r>
            <a:r>
              <a:rPr lang="en-CA" sz="2200" i="1" dirty="0">
                <a:latin typeface="Arial" charset="0"/>
                <a:cs typeface="Arial" charset="0"/>
              </a:rPr>
              <a:t>efficient</a:t>
            </a:r>
            <a:endParaRPr lang="en-CA" sz="2200" dirty="0">
              <a:latin typeface="Arial" charset="0"/>
              <a:cs typeface="Arial" charset="0"/>
            </a:endParaRPr>
          </a:p>
          <a:p>
            <a:pPr lvl="1"/>
            <a:endParaRPr lang="en-CA" sz="22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CA" sz="2200" dirty="0">
                <a:latin typeface="Arial" charset="0"/>
                <a:cs typeface="Arial" charset="0"/>
              </a:rPr>
              <a:t>	Problems that have no known polynomial-time algorithms are said to be </a:t>
            </a:r>
            <a:r>
              <a:rPr lang="en-CA" sz="2200" i="1" dirty="0">
                <a:latin typeface="Arial" charset="0"/>
                <a:cs typeface="Arial" charset="0"/>
              </a:rPr>
              <a:t>intractable</a:t>
            </a:r>
          </a:p>
          <a:p>
            <a:pPr lvl="1"/>
            <a:r>
              <a:rPr lang="en-CA" sz="2200" dirty="0">
                <a:latin typeface="Arial" charset="0"/>
                <a:cs typeface="Arial" charset="0"/>
              </a:rPr>
              <a:t>Traveling salesman problem:  find the shortest path that visits </a:t>
            </a:r>
            <a:r>
              <a:rPr lang="en-CA" sz="22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sz="2200" i="1" dirty="0">
                <a:latin typeface="Arial" charset="0"/>
                <a:cs typeface="Arial" charset="0"/>
              </a:rPr>
              <a:t> </a:t>
            </a:r>
            <a:r>
              <a:rPr lang="en-CA" sz="2200" dirty="0">
                <a:latin typeface="Arial" charset="0"/>
                <a:cs typeface="Arial" charset="0"/>
              </a:rPr>
              <a:t>cities</a:t>
            </a:r>
          </a:p>
          <a:p>
            <a:pPr lvl="1"/>
            <a:r>
              <a:rPr lang="en-CA" sz="2200" dirty="0">
                <a:latin typeface="Arial" charset="0"/>
                <a:cs typeface="Arial" charset="0"/>
              </a:rPr>
              <a:t>Best run time:  </a:t>
            </a:r>
            <a:r>
              <a:rPr lang="en-CA" sz="2200" dirty="0" smtClean="0">
                <a:latin typeface="Symbol" pitchFamily="18" charset="2"/>
                <a:cs typeface="Times New Roman" pitchFamily="18" charset="0"/>
              </a:rPr>
              <a:t>Q</a:t>
            </a:r>
            <a:r>
              <a:rPr lang="en-CA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sz="2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sz="2200" baseline="30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CA" sz="22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CA" sz="2200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CA" sz="2200" dirty="0">
              <a:latin typeface="Arial" charset="0"/>
              <a:cs typeface="Arial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29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Algorithms Analysis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latin typeface="Arial" charset="0"/>
                <a:cs typeface="Arial" charset="0"/>
              </a:rPr>
              <a:t>The time required for any operator is </a:t>
            </a:r>
            <a:r>
              <a:rPr lang="en-US" b="1" dirty="0">
                <a:latin typeface="Symbol" pitchFamily="18" charset="2"/>
                <a:cs typeface="Arial" charset="0"/>
              </a:rPr>
              <a:t>Q</a:t>
            </a:r>
            <a:r>
              <a:rPr lang="en-US" dirty="0">
                <a:latin typeface="Times New Roman" pitchFamily="18" charset="0"/>
                <a:cs typeface="Arial" charset="0"/>
              </a:rPr>
              <a:t>(1)</a:t>
            </a:r>
            <a:r>
              <a:rPr lang="en-US" dirty="0">
                <a:latin typeface="Arial" charset="0"/>
                <a:cs typeface="Arial" charset="0"/>
              </a:rPr>
              <a:t>  including:</a:t>
            </a:r>
          </a:p>
          <a:p>
            <a:pPr lvl="2"/>
            <a:endParaRPr lang="en-US" dirty="0" smtClean="0">
              <a:latin typeface="Arial" charset="0"/>
              <a:cs typeface="Arial" charset="0"/>
            </a:endParaRPr>
          </a:p>
          <a:p>
            <a:pPr lvl="2"/>
            <a:r>
              <a:rPr lang="en-US" dirty="0" smtClean="0">
                <a:latin typeface="Arial" charset="0"/>
                <a:cs typeface="Arial" charset="0"/>
              </a:rPr>
              <a:t>Retrieving/storing </a:t>
            </a:r>
            <a:r>
              <a:rPr lang="en-US" dirty="0">
                <a:latin typeface="Arial" charset="0"/>
                <a:cs typeface="Arial" charset="0"/>
              </a:rPr>
              <a:t>variables from memory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Variable assignment		</a:t>
            </a:r>
            <a:r>
              <a:rPr lang="en-US" sz="1400" dirty="0">
                <a:latin typeface="Arial" charset="0"/>
                <a:cs typeface="Arial" charset="0"/>
              </a:rPr>
              <a:t>	 </a:t>
            </a:r>
            <a:r>
              <a:rPr lang="en-US" b="1" dirty="0">
                <a:latin typeface="Courier New" pitchFamily="49" charset="0"/>
                <a:cs typeface="Arial" charset="0"/>
              </a:rPr>
              <a:t>=</a:t>
            </a:r>
            <a:endParaRPr lang="en-US" dirty="0">
              <a:latin typeface="Arial" charset="0"/>
              <a:cs typeface="Arial" charset="0"/>
            </a:endParaRPr>
          </a:p>
          <a:p>
            <a:pPr lvl="2"/>
            <a:r>
              <a:rPr lang="en-US" dirty="0">
                <a:latin typeface="Arial" charset="0"/>
                <a:cs typeface="Arial" charset="0"/>
              </a:rPr>
              <a:t>Integer operations			 </a:t>
            </a:r>
            <a:r>
              <a:rPr lang="en-US" b="1" dirty="0">
                <a:latin typeface="Courier New" pitchFamily="49" charset="0"/>
                <a:cs typeface="Arial" charset="0"/>
              </a:rPr>
              <a:t>+ - * / % ++ --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Logical operations			 </a:t>
            </a:r>
            <a:r>
              <a:rPr lang="en-US" b="1" dirty="0">
                <a:latin typeface="Courier New" pitchFamily="49" charset="0"/>
                <a:cs typeface="Arial" charset="0"/>
              </a:rPr>
              <a:t>&amp;&amp; || !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Bitwise operations			 </a:t>
            </a:r>
            <a:r>
              <a:rPr lang="en-US" b="1" dirty="0">
                <a:latin typeface="Courier New" pitchFamily="49" charset="0"/>
                <a:cs typeface="Arial" charset="0"/>
              </a:rPr>
              <a:t>&amp; | ^ ~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Relational operations			 </a:t>
            </a:r>
            <a:r>
              <a:rPr lang="en-US" b="1" dirty="0">
                <a:latin typeface="Courier New" pitchFamily="49" charset="0"/>
                <a:cs typeface="Arial" charset="0"/>
              </a:rPr>
              <a:t>== != &lt; &lt;= =&gt; &gt;</a:t>
            </a:r>
          </a:p>
          <a:p>
            <a:pPr lvl="2"/>
            <a:r>
              <a:rPr lang="en-US" dirty="0">
                <a:latin typeface="Arial" charset="0"/>
                <a:cs typeface="Arial" charset="0"/>
              </a:rPr>
              <a:t>Memory allocation and deallocation		</a:t>
            </a:r>
            <a:r>
              <a:rPr lang="en-US" b="1" dirty="0">
                <a:latin typeface="Courier New" pitchFamily="49" charset="0"/>
                <a:cs typeface="Arial" charset="0"/>
              </a:rPr>
              <a:t>new delete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82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758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Algorithms Analysis </a:t>
            </a:r>
            <a:endParaRPr lang="en-US" dirty="0"/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457200" y="1600200"/>
            <a:ext cx="10972800" cy="5065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</a:t>
            </a:r>
            <a:r>
              <a:rPr lang="en-US" sz="2000" dirty="0" smtClean="0">
                <a:latin typeface="Arial" charset="0"/>
                <a:cs typeface="Arial" charset="0"/>
              </a:rPr>
              <a:t>Suppose you have now analyzed a number of blocks of code run in sequence</a:t>
            </a:r>
          </a:p>
          <a:p>
            <a:pPr lvl="2">
              <a:buFont typeface="Arial" charset="0"/>
              <a:buNone/>
            </a:pPr>
            <a:endParaRPr lang="en-US" sz="1400" dirty="0" smtClean="0">
              <a:latin typeface="Consolas" pitchFamily="49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US" sz="1400" dirty="0" smtClean="0">
                <a:latin typeface="Consolas" pitchFamily="49" charset="0"/>
                <a:cs typeface="Arial" charset="0"/>
              </a:rPr>
              <a:t>template &lt;</a:t>
            </a:r>
            <a:r>
              <a:rPr lang="en-US" sz="1400" dirty="0" err="1" smtClean="0">
                <a:latin typeface="Consolas" pitchFamily="49" charset="0"/>
                <a:cs typeface="Arial" charset="0"/>
              </a:rPr>
              <a:t>typename</a:t>
            </a:r>
            <a:r>
              <a:rPr lang="en-US" sz="1400" dirty="0" smtClean="0">
                <a:latin typeface="Consolas" pitchFamily="49" charset="0"/>
                <a:cs typeface="Arial" charset="0"/>
              </a:rPr>
              <a:t> T&gt;</a:t>
            </a:r>
          </a:p>
          <a:p>
            <a:pPr lvl="2">
              <a:buFont typeface="Arial" charset="0"/>
              <a:buNone/>
            </a:pPr>
            <a:r>
              <a:rPr lang="en-US" sz="1400" dirty="0" smtClean="0">
                <a:latin typeface="Consolas" pitchFamily="49" charset="0"/>
                <a:cs typeface="Arial" charset="0"/>
              </a:rPr>
              <a:t>void </a:t>
            </a:r>
            <a:r>
              <a:rPr lang="en-US" sz="1400" dirty="0" err="1" smtClean="0">
                <a:latin typeface="Consolas" pitchFamily="49" charset="0"/>
                <a:cs typeface="Arial" charset="0"/>
              </a:rPr>
              <a:t>update_capacity</a:t>
            </a:r>
            <a:r>
              <a:rPr lang="en-US" sz="1400" dirty="0" smtClean="0">
                <a:latin typeface="Consolas" pitchFamily="49" charset="0"/>
                <a:cs typeface="Arial" charset="0"/>
              </a:rPr>
              <a:t>( </a:t>
            </a:r>
            <a:r>
              <a:rPr lang="en-US" sz="1400" dirty="0" err="1" smtClean="0">
                <a:latin typeface="Consolas" pitchFamily="49" charset="0"/>
                <a:cs typeface="Arial" charset="0"/>
              </a:rPr>
              <a:t>int</a:t>
            </a:r>
            <a:r>
              <a:rPr lang="en-US" sz="1400" dirty="0" smtClean="0">
                <a:latin typeface="Consolas" pitchFamily="49" charset="0"/>
                <a:cs typeface="Arial" charset="0"/>
              </a:rPr>
              <a:t> delta ) {</a:t>
            </a:r>
          </a:p>
          <a:p>
            <a:pPr lvl="2">
              <a:buFont typeface="Arial" charset="0"/>
              <a:buNone/>
            </a:pPr>
            <a:r>
              <a:rPr lang="en-US" sz="1400" dirty="0" smtClean="0">
                <a:latin typeface="Consolas" pitchFamily="49" charset="0"/>
                <a:cs typeface="Arial" charset="0"/>
              </a:rPr>
              <a:t>	</a:t>
            </a: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T *</a:t>
            </a:r>
            <a:r>
              <a:rPr lang="en-US" sz="1400" dirty="0" err="1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array_old</a:t>
            </a: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 = array;</a:t>
            </a:r>
          </a:p>
          <a:p>
            <a:pPr lvl="2">
              <a:buFont typeface="Arial" charset="0"/>
              <a:buNone/>
            </a:pP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	</a:t>
            </a:r>
            <a:r>
              <a:rPr lang="en-US" sz="1400" dirty="0" err="1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int</a:t>
            </a: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capacity_old</a:t>
            </a: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 = </a:t>
            </a:r>
            <a:r>
              <a:rPr lang="en-US" sz="1400" dirty="0" err="1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array_capacity</a:t>
            </a: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;</a:t>
            </a:r>
            <a:br>
              <a:rPr lang="en-US" sz="1400" dirty="0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</a:br>
            <a:r>
              <a:rPr lang="en-US" sz="1400" dirty="0" err="1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array_capacity</a:t>
            </a: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 += delta;</a:t>
            </a:r>
          </a:p>
          <a:p>
            <a:pPr lvl="2">
              <a:buFont typeface="Arial" charset="0"/>
              <a:buNone/>
            </a:pP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	array = new T[</a:t>
            </a:r>
            <a:r>
              <a:rPr lang="en-US" sz="1400" dirty="0" err="1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array_capacity</a:t>
            </a:r>
            <a:r>
              <a:rPr lang="en-US" sz="1400" dirty="0" smtClean="0">
                <a:solidFill>
                  <a:srgbClr val="FF0000"/>
                </a:solidFill>
                <a:latin typeface="Consolas" pitchFamily="49" charset="0"/>
                <a:cs typeface="Arial" charset="0"/>
              </a:rPr>
              <a:t>];</a:t>
            </a:r>
          </a:p>
          <a:p>
            <a:pPr lvl="2">
              <a:buFont typeface="Arial" charset="0"/>
              <a:buNone/>
            </a:pPr>
            <a:endParaRPr lang="en-US" sz="1400" dirty="0" smtClean="0">
              <a:latin typeface="Consolas" pitchFamily="49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US" sz="1400" dirty="0" smtClean="0">
                <a:latin typeface="Consolas" pitchFamily="49" charset="0"/>
                <a:cs typeface="Arial" charset="0"/>
              </a:rPr>
              <a:t>	</a:t>
            </a: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for ( </a:t>
            </a:r>
            <a:r>
              <a:rPr lang="en-US" sz="1400" dirty="0" err="1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int</a:t>
            </a: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 </a:t>
            </a:r>
            <a:r>
              <a:rPr lang="en-US" sz="1400" dirty="0" err="1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</a:t>
            </a: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 = 0; </a:t>
            </a:r>
            <a:r>
              <a:rPr lang="en-US" sz="1400" dirty="0" err="1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</a:t>
            </a: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 &lt; </a:t>
            </a:r>
            <a:r>
              <a:rPr lang="en-US" sz="1400" dirty="0" err="1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capacity_old</a:t>
            </a: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; ++</a:t>
            </a:r>
            <a:r>
              <a:rPr lang="en-US" sz="1400" dirty="0" err="1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</a:t>
            </a: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 ) {</a:t>
            </a:r>
          </a:p>
          <a:p>
            <a:pPr lvl="2">
              <a:buFont typeface="Arial" charset="0"/>
              <a:buNone/>
            </a:pP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		array[</a:t>
            </a:r>
            <a:r>
              <a:rPr lang="en-US" sz="1400" dirty="0" err="1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</a:t>
            </a: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] = </a:t>
            </a:r>
            <a:r>
              <a:rPr lang="en-US" sz="1400" dirty="0" err="1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array_old</a:t>
            </a: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[</a:t>
            </a:r>
            <a:r>
              <a:rPr lang="en-US" sz="1400" dirty="0" err="1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i</a:t>
            </a: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];</a:t>
            </a:r>
          </a:p>
          <a:p>
            <a:pPr lvl="2">
              <a:buFont typeface="Arial" charset="0"/>
              <a:buNone/>
            </a:pPr>
            <a:r>
              <a:rPr lang="en-US" sz="1400" dirty="0" smtClean="0">
                <a:solidFill>
                  <a:srgbClr val="3333CC"/>
                </a:solidFill>
                <a:latin typeface="Consolas" pitchFamily="49" charset="0"/>
                <a:cs typeface="Arial" charset="0"/>
              </a:rPr>
              <a:t>	}</a:t>
            </a:r>
          </a:p>
          <a:p>
            <a:pPr lvl="2">
              <a:buFont typeface="Arial" charset="0"/>
              <a:buNone/>
            </a:pPr>
            <a:endParaRPr lang="en-US" sz="1400" dirty="0" smtClean="0">
              <a:latin typeface="Consolas" pitchFamily="49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US" sz="1400" dirty="0" smtClean="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	delete[] </a:t>
            </a:r>
            <a:r>
              <a:rPr lang="en-US" sz="1400" dirty="0" err="1" smtClean="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array_old</a:t>
            </a:r>
            <a:r>
              <a:rPr lang="en-US" sz="1400" dirty="0" smtClean="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;</a:t>
            </a:r>
          </a:p>
          <a:p>
            <a:pPr lvl="2">
              <a:buFont typeface="Arial" charset="0"/>
              <a:buNone/>
            </a:pPr>
            <a:r>
              <a:rPr lang="en-US" sz="1400" dirty="0" smtClean="0">
                <a:latin typeface="Consolas" pitchFamily="49" charset="0"/>
                <a:cs typeface="Arial" charset="0"/>
              </a:rPr>
              <a:t>}</a:t>
            </a:r>
          </a:p>
          <a:p>
            <a:pPr lvl="2">
              <a:buFont typeface="Arial" charset="0"/>
              <a:buNone/>
            </a:pPr>
            <a:endParaRPr lang="en-US" sz="1400" dirty="0" smtClean="0">
              <a:latin typeface="Consolas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 smtClean="0">
                <a:latin typeface="Arial" charset="0"/>
                <a:cs typeface="Arial" charset="0"/>
              </a:rPr>
              <a:t>	</a:t>
            </a:r>
            <a:r>
              <a:rPr lang="en-US" sz="2000" dirty="0" smtClean="0">
                <a:latin typeface="Arial" charset="0"/>
                <a:cs typeface="Arial" charset="0"/>
              </a:rPr>
              <a:t>To calculate the total run time, add the entries:  </a:t>
            </a:r>
            <a:r>
              <a:rPr lang="en-CA" sz="2000" b="1" dirty="0" smtClean="0">
                <a:latin typeface="Symbol" pitchFamily="18" charset="2"/>
                <a:cs typeface="Arial" charset="0"/>
              </a:rPr>
              <a:t>Q</a:t>
            </a:r>
            <a:r>
              <a:rPr lang="en-CA" sz="2000" dirty="0" smtClean="0">
                <a:latin typeface="Times New Roman" pitchFamily="18" charset="0"/>
                <a:cs typeface="Times New Roman" pitchFamily="18" charset="0"/>
              </a:rPr>
              <a:t>(1 + </a:t>
            </a:r>
            <a:r>
              <a:rPr lang="en-CA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sz="2000" dirty="0" smtClean="0">
                <a:latin typeface="Times New Roman" pitchFamily="18" charset="0"/>
                <a:cs typeface="Times New Roman" pitchFamily="18" charset="0"/>
              </a:rPr>
              <a:t> + 1) = </a:t>
            </a:r>
            <a:r>
              <a:rPr lang="en-CA" sz="2000" b="1" dirty="0" smtClean="0">
                <a:solidFill>
                  <a:srgbClr val="000000"/>
                </a:solidFill>
                <a:latin typeface="Symbol" pitchFamily="18" charset="2"/>
                <a:cs typeface="Arial" charset="0"/>
              </a:rPr>
              <a:t>Q</a:t>
            </a:r>
            <a:r>
              <a:rPr lang="en-CA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sz="20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sz="400" b="1" dirty="0" smtClean="0">
              <a:latin typeface="Consolas" pitchFamily="49" charset="0"/>
              <a:cs typeface="Arial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950075" y="2336963"/>
            <a:ext cx="646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  <a:latin typeface="Symbol" pitchFamily="18" charset="2"/>
              </a:rPr>
              <a:t>Q</a:t>
            </a:r>
            <a:r>
              <a:rPr lang="en-C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(1)</a:t>
            </a: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6948488" y="3910176"/>
            <a:ext cx="6254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>
                <a:solidFill>
                  <a:srgbClr val="3333CC"/>
                </a:solidFill>
                <a:latin typeface="Symbol" pitchFamily="18" charset="2"/>
              </a:rPr>
              <a:t>Q</a:t>
            </a:r>
            <a:r>
              <a:rPr lang="en-CA" dirty="0">
                <a:solidFill>
                  <a:srgbClr val="3333CC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>
                <a:solidFill>
                  <a:srgbClr val="3333C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>
                <a:solidFill>
                  <a:srgbClr val="3333CC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6948488" y="4702338"/>
            <a:ext cx="14382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b="1" dirty="0">
                <a:solidFill>
                  <a:srgbClr val="7030A0"/>
                </a:solidFill>
                <a:latin typeface="Symbol" pitchFamily="18" charset="2"/>
              </a:rPr>
              <a:t>Q</a:t>
            </a:r>
            <a:r>
              <a:rPr lang="en-CA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(1</a:t>
            </a:r>
            <a:r>
              <a:rPr lang="en-CA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 or </a:t>
            </a:r>
            <a:r>
              <a:rPr lang="en-CA" b="1" dirty="0" smtClean="0">
                <a:solidFill>
                  <a:srgbClr val="7030A0"/>
                </a:solidFill>
                <a:latin typeface="Symbol" pitchFamily="18" charset="2"/>
              </a:rPr>
              <a:t>W</a:t>
            </a:r>
            <a:r>
              <a:rPr lang="en-CA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CA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CA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CA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58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Algorithms Analysis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Given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a condition-controlled loops example </a:t>
            </a:r>
            <a:endParaRPr lang="en-US" sz="20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   </a:t>
            </a:r>
            <a:r>
              <a:rPr lang="en-US" sz="20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2000" b="1" dirty="0">
                <a:latin typeface="Courier New" pitchFamily="49" charset="0"/>
                <a:cs typeface="Arial" charset="0"/>
              </a:rPr>
              <a:t> sum = 0; </a:t>
            </a:r>
          </a:p>
          <a:p>
            <a:pPr>
              <a:buFont typeface="Arial" charset="0"/>
              <a:buNone/>
            </a:pPr>
            <a:r>
              <a:rPr lang="en-US" sz="2000" b="1" dirty="0">
                <a:latin typeface="Courier New" pitchFamily="49" charset="0"/>
                <a:cs typeface="Arial" charset="0"/>
              </a:rPr>
              <a:t>       for ( </a:t>
            </a:r>
            <a:r>
              <a:rPr lang="en-US" sz="20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2000" b="1" dirty="0">
                <a:latin typeface="Courier New" pitchFamily="49" charset="0"/>
                <a:cs typeface="Arial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2000" b="1" dirty="0">
                <a:latin typeface="Courier New" pitchFamily="49" charset="0"/>
                <a:cs typeface="Arial" charset="0"/>
              </a:rPr>
              <a:t> = 0; </a:t>
            </a:r>
            <a:r>
              <a:rPr lang="en-US" sz="20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2000" b="1" dirty="0">
                <a:latin typeface="Courier New" pitchFamily="49" charset="0"/>
                <a:cs typeface="Arial" charset="0"/>
              </a:rPr>
              <a:t> &lt;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n</a:t>
            </a:r>
            <a:r>
              <a:rPr lang="en-US" sz="2000" b="1" dirty="0">
                <a:latin typeface="Courier New" pitchFamily="49" charset="0"/>
                <a:cs typeface="Arial" charset="0"/>
              </a:rPr>
              <a:t>; ++</a:t>
            </a:r>
            <a:r>
              <a:rPr lang="en-US" sz="20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2000" b="1" dirty="0">
                <a:latin typeface="Courier New" pitchFamily="49" charset="0"/>
                <a:cs typeface="Arial" charset="0"/>
              </a:rPr>
              <a:t> ) { </a:t>
            </a:r>
          </a:p>
          <a:p>
            <a:pPr>
              <a:buFont typeface="Arial" charset="0"/>
              <a:buNone/>
            </a:pPr>
            <a:r>
              <a:rPr lang="en-US" sz="2000" b="1" dirty="0">
                <a:latin typeface="Courier New" pitchFamily="49" charset="0"/>
                <a:cs typeface="Arial" charset="0"/>
              </a:rPr>
              <a:t>           for ( </a:t>
            </a:r>
            <a:r>
              <a:rPr lang="en-US" sz="2000" b="1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2000" b="1" dirty="0">
                <a:latin typeface="Courier New" pitchFamily="49" charset="0"/>
                <a:cs typeface="Arial" charset="0"/>
              </a:rPr>
              <a:t> j = 0; j &lt; n; ++j ) {</a:t>
            </a:r>
          </a:p>
          <a:p>
            <a:pPr>
              <a:buFont typeface="Arial" charset="0"/>
              <a:buNone/>
            </a:pPr>
            <a:r>
              <a:rPr lang="en-US" sz="2000" b="1" dirty="0">
                <a:latin typeface="Courier New" pitchFamily="49" charset="0"/>
                <a:cs typeface="Arial" charset="0"/>
              </a:rPr>
              <a:t>               sum += 1;     Theta(1)</a:t>
            </a:r>
          </a:p>
          <a:p>
            <a:pPr>
              <a:buFont typeface="Arial" charset="0"/>
              <a:buNone/>
            </a:pPr>
            <a:r>
              <a:rPr lang="en-US" sz="2000" b="1" dirty="0">
                <a:latin typeface="Courier New" pitchFamily="49" charset="0"/>
                <a:cs typeface="Arial" charset="0"/>
              </a:rPr>
              <a:t>           }</a:t>
            </a:r>
            <a:endParaRPr lang="en-US" sz="20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sz="2000" b="1" dirty="0">
                <a:latin typeface="Courier New" pitchFamily="49" charset="0"/>
                <a:cs typeface="Arial" charset="0"/>
              </a:rPr>
              <a:t>       </a:t>
            </a:r>
            <a:r>
              <a:rPr lang="en-US" sz="2000" b="1" dirty="0" smtClean="0">
                <a:latin typeface="Courier New" pitchFamily="49" charset="0"/>
                <a:cs typeface="Arial" charset="0"/>
              </a:rPr>
              <a:t>}</a:t>
            </a:r>
            <a:endParaRPr lang="en-US" sz="2000" b="1" dirty="0">
              <a:latin typeface="Courier New" pitchFamily="49" charset="0"/>
              <a:cs typeface="Arial" charset="0"/>
            </a:endParaRPr>
          </a:p>
          <a:p>
            <a:pPr marL="0" indent="0"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endParaRPr lang="en-US" dirty="0" smtClean="0">
              <a:latin typeface="Arial" charset="0"/>
              <a:cs typeface="Arial" charset="0"/>
            </a:endParaRPr>
          </a:p>
          <a:p>
            <a:r>
              <a:rPr lang="en-US" sz="2000" dirty="0" smtClean="0"/>
              <a:t>What </a:t>
            </a:r>
            <a:r>
              <a:rPr lang="en-US" sz="2000" dirty="0"/>
              <a:t>is the time complexity?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28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Memory usage versus run times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2503" y="1690688"/>
            <a:ext cx="11285621" cy="4993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  <a:cs typeface="Arial" charset="0"/>
              </a:rPr>
              <a:t>As well as determining run times, we are also interested in memory usage</a:t>
            </a:r>
          </a:p>
          <a:p>
            <a:r>
              <a:rPr lang="en-US" altLang="en-US" sz="2000" dirty="0" smtClean="0">
                <a:latin typeface="Arial" charset="0"/>
                <a:cs typeface="Arial" charset="0"/>
              </a:rPr>
              <a:t>There is an interesting relationship between memory and time efficiency</a:t>
            </a:r>
          </a:p>
          <a:p>
            <a:endParaRPr lang="en-US" altLang="en-US" sz="2000" dirty="0" smtClean="0">
              <a:latin typeface="Arial" charset="0"/>
              <a:cs typeface="Arial" charset="0"/>
            </a:endParaRPr>
          </a:p>
          <a:p>
            <a:pPr marL="0" indent="0">
              <a:buNone/>
            </a:pPr>
            <a:r>
              <a:rPr lang="en-US" altLang="en-US" sz="2000" dirty="0" smtClean="0">
                <a:latin typeface="Arial" charset="0"/>
                <a:cs typeface="Arial" charset="0"/>
              </a:rPr>
              <a:t>	</a:t>
            </a:r>
          </a:p>
          <a:p>
            <a:r>
              <a:rPr lang="en-US" altLang="en-US" sz="2000" dirty="0" smtClean="0">
                <a:latin typeface="Arial" charset="0"/>
                <a:cs typeface="Arial" charset="0"/>
              </a:rPr>
              <a:t>For a data structure/algorithm:</a:t>
            </a:r>
          </a:p>
          <a:p>
            <a:pPr lvl="1"/>
            <a:r>
              <a:rPr lang="en-US" altLang="en-US" sz="2000" dirty="0">
                <a:latin typeface="Arial" charset="0"/>
                <a:cs typeface="Arial" charset="0"/>
              </a:rPr>
              <a:t>Improving the run time usually requires more memory</a:t>
            </a:r>
          </a:p>
          <a:p>
            <a:pPr lvl="1"/>
            <a:r>
              <a:rPr lang="en-US" altLang="en-US" sz="2000" dirty="0">
                <a:latin typeface="Arial" charset="0"/>
                <a:cs typeface="Arial" charset="0"/>
              </a:rPr>
              <a:t>Reducing the required memory usually requires more run </a:t>
            </a:r>
            <a:r>
              <a:rPr lang="en-US" altLang="en-US" sz="2000" dirty="0" smtClean="0">
                <a:latin typeface="Arial" charset="0"/>
                <a:cs typeface="Arial" charset="0"/>
              </a:rPr>
              <a:t>time</a:t>
            </a:r>
          </a:p>
          <a:p>
            <a:pPr lvl="1"/>
            <a:endParaRPr lang="en-US" altLang="en-US" sz="2000" dirty="0">
              <a:latin typeface="Arial" charset="0"/>
              <a:cs typeface="Arial" charset="0"/>
            </a:endParaRPr>
          </a:p>
          <a:p>
            <a:endParaRPr lang="en-US" altLang="en-US" sz="2000" dirty="0" smtClean="0">
              <a:latin typeface="Arial" charset="0"/>
              <a:cs typeface="Arial" charset="0"/>
            </a:endParaRPr>
          </a:p>
          <a:p>
            <a:endParaRPr lang="en-US" altLang="en-US" sz="2000" dirty="0">
              <a:latin typeface="Arial" charset="0"/>
              <a:cs typeface="Arial" charset="0"/>
            </a:endParaRPr>
          </a:p>
          <a:p>
            <a:r>
              <a:rPr lang="en-US" altLang="en-US" sz="2000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  <a:cs typeface="Arial" charset="0"/>
              </a:rPr>
              <a:t>Warning</a:t>
            </a:r>
            <a:r>
              <a:rPr lang="en-US" altLang="en-US" sz="2000" dirty="0">
                <a:latin typeface="Arial" charset="0"/>
                <a:cs typeface="Arial" charset="0"/>
              </a:rPr>
              <a:t>:  programmers often mistake this to suggest that given any solution to a problem, any solution which may be faster must require more memory</a:t>
            </a:r>
          </a:p>
          <a:p>
            <a:endParaRPr lang="en-US" altLang="en-US" sz="2000" dirty="0">
              <a:latin typeface="Arial" charset="0"/>
              <a:cs typeface="Arial" charset="0"/>
            </a:endParaRPr>
          </a:p>
        </p:txBody>
      </p:sp>
      <p:pic>
        <p:nvPicPr>
          <p:cNvPr id="5" name="Picture 4" descr="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819" y="2520614"/>
            <a:ext cx="2719139" cy="271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085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Operations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99411" y="2057402"/>
            <a:ext cx="877101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</a:t>
            </a:r>
            <a:r>
              <a:rPr lang="en-US" altLang="en-US" sz="2000" dirty="0" smtClean="0">
                <a:latin typeface="Arial" charset="0"/>
                <a:cs typeface="Arial" charset="0"/>
              </a:rPr>
              <a:t>Operations at the </a:t>
            </a:r>
            <a:r>
              <a:rPr lang="en-US" altLang="en-US" sz="20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en-US" sz="2000" baseline="30000" dirty="0" smtClean="0">
                <a:latin typeface="Arial" charset="0"/>
                <a:cs typeface="Arial" charset="0"/>
              </a:rPr>
              <a:t>th</a:t>
            </a:r>
            <a:r>
              <a:rPr lang="en-US" altLang="en-US" sz="2000" dirty="0" smtClean="0">
                <a:latin typeface="Arial" charset="0"/>
                <a:cs typeface="Arial" charset="0"/>
              </a:rPr>
              <a:t> entry of the list include:</a:t>
            </a:r>
          </a:p>
          <a:p>
            <a:pPr>
              <a:buFont typeface="Arial" charset="0"/>
              <a:buNone/>
            </a:pPr>
            <a:endParaRPr lang="en-US" altLang="en-US" sz="2000" dirty="0" smtClean="0">
              <a:latin typeface="Arial" charset="0"/>
              <a:cs typeface="Arial" charset="0"/>
            </a:endParaRPr>
          </a:p>
          <a:p>
            <a:pPr lvl="1">
              <a:buFont typeface="Arial" charset="0"/>
              <a:buNone/>
            </a:pPr>
            <a:r>
              <a:rPr lang="en-US" altLang="en-US" sz="2000" dirty="0" smtClean="0">
                <a:latin typeface="Arial" charset="0"/>
                <a:cs typeface="Arial" charset="0"/>
              </a:rPr>
              <a:t>Access to the object                              Erasing an object</a:t>
            </a:r>
          </a:p>
          <a:p>
            <a:pPr lvl="1"/>
            <a:endParaRPr lang="en-US" altLang="en-US" sz="2000" dirty="0" smtClean="0">
              <a:latin typeface="Arial" charset="0"/>
              <a:cs typeface="Arial" charset="0"/>
            </a:endParaRPr>
          </a:p>
          <a:p>
            <a:pPr lvl="1">
              <a:buFont typeface="Arial" charset="0"/>
              <a:buNone/>
            </a:pPr>
            <a:endParaRPr lang="en-US" altLang="en-US" sz="2000" dirty="0" smtClean="0">
              <a:latin typeface="Arial" charset="0"/>
              <a:cs typeface="Arial" charset="0"/>
            </a:endParaRPr>
          </a:p>
          <a:p>
            <a:pPr lvl="1">
              <a:buFont typeface="Arial" charset="0"/>
              <a:buNone/>
            </a:pPr>
            <a:endParaRPr lang="en-US" altLang="en-US" sz="2000" dirty="0" smtClean="0">
              <a:latin typeface="Arial" charset="0"/>
              <a:cs typeface="Arial" charset="0"/>
            </a:endParaRPr>
          </a:p>
          <a:p>
            <a:pPr lvl="1">
              <a:buFont typeface="Arial" charset="0"/>
              <a:buNone/>
            </a:pPr>
            <a:r>
              <a:rPr lang="en-US" altLang="en-US" sz="2000" dirty="0" smtClean="0">
                <a:latin typeface="Arial" charset="0"/>
                <a:cs typeface="Arial" charset="0"/>
              </a:rPr>
              <a:t>	Insertion of a new object                       Replacement of the object</a:t>
            </a:r>
          </a:p>
        </p:txBody>
      </p:sp>
      <p:pic>
        <p:nvPicPr>
          <p:cNvPr id="6" name="Picture 4" descr="C:\Users\dwharder\Desktop\r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342" y="3672682"/>
            <a:ext cx="1365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 descr="C:\Users\dwharder\Desktop\r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342" y="4786312"/>
            <a:ext cx="136525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C:\Users\dwharder\Desktop\r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354" y="3421856"/>
            <a:ext cx="136525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 descr="C:\Users\dwharder\Desktop\r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670" y="4912123"/>
            <a:ext cx="136525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82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0EEF-2D3D-E4B1-D1D2-59884779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Overview of Data Structures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E47E59-78DF-923A-188A-492704E3E33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24082" y="1804938"/>
          <a:ext cx="9543473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523228677"/>
                    </a:ext>
                  </a:extLst>
                </a:gridCol>
                <a:gridCol w="4506576">
                  <a:extLst>
                    <a:ext uri="{9D8B030D-6E8A-4147-A177-3AD203B41FA5}">
                      <a16:colId xmlns:a16="http://schemas.microsoft.com/office/drawing/2014/main" val="2660887996"/>
                    </a:ext>
                  </a:extLst>
                </a:gridCol>
                <a:gridCol w="2327564">
                  <a:extLst>
                    <a:ext uri="{9D8B030D-6E8A-4147-A177-3AD203B41FA5}">
                      <a16:colId xmlns:a16="http://schemas.microsoft.com/office/drawing/2014/main" val="1319652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 Structure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Disadvantages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77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Quick insertion, very fast access if index known.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Slow search, slow deletion,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051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Ordered array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Quicker search than unsorted array.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Slow insertion and deletion, fixed size.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508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Stack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Provides last-in, first-out access.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Slow access to other items.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56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Queue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Provides first-in, first-out access.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Slow access to other items.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537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Linked list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Quick insertion, quick deletion.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Slow search.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261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Binary tree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Quick search, insertion, deletion (if tree (if tree is remains balanced).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Deletion algorithm is complex.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737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Red-black tree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Quick search, insertion, deletion. Tree always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balanced.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Complex.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39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73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0EEF-2D3D-E4B1-D1D2-59884779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Overview of Data Structures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E47E59-78DF-923A-188A-492704E3E33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03300" y="2267911"/>
          <a:ext cx="9938328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523228677"/>
                    </a:ext>
                  </a:extLst>
                </a:gridCol>
                <a:gridCol w="4267586">
                  <a:extLst>
                    <a:ext uri="{9D8B030D-6E8A-4147-A177-3AD203B41FA5}">
                      <a16:colId xmlns:a16="http://schemas.microsoft.com/office/drawing/2014/main" val="2660887996"/>
                    </a:ext>
                  </a:extLst>
                </a:gridCol>
                <a:gridCol w="2961409">
                  <a:extLst>
                    <a:ext uri="{9D8B030D-6E8A-4147-A177-3AD203B41FA5}">
                      <a16:colId xmlns:a16="http://schemas.microsoft.com/office/drawing/2014/main" val="1319652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 Structure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Disadvantages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77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2-3-4 tree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Quick search, insertion,  deletion. Tree always balanced. Similar trees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 for disk storage.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051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Hash table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Very fast access if key known. Fast insertion.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Slow deletion, access slow if key not known, inefficient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508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Heap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Fast insertion, deletion, access to largest item.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Slow access to other items.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856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Graph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Models real-world situations.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Some algorithms are slow and complex.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537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11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8737-330A-56D3-286D-DE52107E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Arrays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27026-8D33-E871-0F35-9480EB935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25563"/>
            <a:ext cx="7282543" cy="5260294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latin typeface="StoneSerif"/>
              </a:rPr>
              <a:t>Is the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most commonly used data storage structure</a:t>
            </a:r>
            <a:r>
              <a:rPr lang="en-US" sz="2000" dirty="0">
                <a:latin typeface="StoneSerif"/>
              </a:rPr>
              <a:t>; it’s built into most programming languages.</a:t>
            </a:r>
          </a:p>
          <a:p>
            <a:pPr algn="l"/>
            <a:endParaRPr lang="en-US" sz="2000" dirty="0" smtClean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pPr algn="l"/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Consists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of data items of the same type</a:t>
            </a:r>
          </a:p>
          <a:p>
            <a:endParaRPr lang="en-US" sz="2000" dirty="0" smtClean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An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Array </a:t>
            </a:r>
            <a:r>
              <a:rPr lang="en-US" sz="2000" dirty="0">
                <a:latin typeface="StoneSerif"/>
              </a:rPr>
              <a:t>is</a:t>
            </a:r>
            <a:r>
              <a:rPr lang="en-US" sz="2200" dirty="0">
                <a:latin typeface="StoneSerif"/>
              </a:rPr>
              <a:t>: </a:t>
            </a:r>
          </a:p>
          <a:p>
            <a:pPr lvl="1"/>
            <a:r>
              <a:rPr lang="en-US" sz="1800" dirty="0">
                <a:latin typeface="StoneSerif"/>
              </a:rPr>
              <a:t>A collection of contiguous memory locations </a:t>
            </a:r>
          </a:p>
          <a:p>
            <a:pPr lvl="1"/>
            <a:r>
              <a:rPr lang="en-US" sz="1800" dirty="0">
                <a:latin typeface="StoneSerif"/>
              </a:rPr>
              <a:t>Same name  </a:t>
            </a:r>
          </a:p>
          <a:p>
            <a:pPr lvl="1"/>
            <a:r>
              <a:rPr lang="en-US" sz="1800" dirty="0">
                <a:latin typeface="StoneSerif"/>
              </a:rPr>
              <a:t>Same type  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Locations (elements) in the array are referenced </a:t>
            </a:r>
            <a:r>
              <a:rPr lang="en-US" sz="2000" dirty="0">
                <a:latin typeface="StoneSerif"/>
              </a:rPr>
              <a:t>by</a:t>
            </a:r>
            <a:r>
              <a:rPr lang="en-US" sz="2200" dirty="0">
                <a:latin typeface="StoneSerif"/>
              </a:rPr>
              <a:t> </a:t>
            </a:r>
          </a:p>
          <a:p>
            <a:pPr lvl="1"/>
            <a:r>
              <a:rPr lang="en-US" sz="1800" dirty="0">
                <a:latin typeface="StoneSerif"/>
              </a:rPr>
              <a:t>Array name </a:t>
            </a:r>
          </a:p>
          <a:p>
            <a:pPr lvl="1"/>
            <a:r>
              <a:rPr lang="en-US" sz="1800" dirty="0">
                <a:latin typeface="StoneSerif"/>
              </a:rPr>
              <a:t>Position within the array </a:t>
            </a:r>
          </a:p>
          <a:p>
            <a:pPr lvl="1"/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Index notation</a:t>
            </a:r>
            <a:r>
              <a:rPr lang="en-US" sz="1800" dirty="0">
                <a:latin typeface="StoneSerif"/>
              </a:rPr>
              <a:t>: c[0] refers to the first element of array c, c[1] refers to the second element of array c,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E90C6-BFFE-674E-0CA0-830C9ED91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991" y="2624190"/>
            <a:ext cx="1758638" cy="245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6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F15F-4D58-478D-68AC-A2481A5D8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Arrays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4BC87-C11A-FC68-386B-755B92F63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Before using arrays, we must reserve space for all elements in the computer memory…. Int [10]….. An array of 10 integers </a:t>
            </a:r>
            <a:endParaRPr lang="en-US" sz="2400" dirty="0">
              <a:latin typeface="StoneSerif"/>
            </a:endParaRPr>
          </a:p>
          <a:p>
            <a:endParaRPr lang="en-US" sz="2400" dirty="0">
              <a:latin typeface="StoneSerif"/>
            </a:endParaRPr>
          </a:p>
          <a:p>
            <a:r>
              <a:rPr lang="en-US" sz="2200" dirty="0">
                <a:latin typeface="StoneSerif"/>
              </a:rPr>
              <a:t>Three operations: 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Insertion</a:t>
            </a:r>
            <a:r>
              <a:rPr lang="en-US" sz="2000" dirty="0">
                <a:latin typeface="StoneSerif"/>
              </a:rPr>
              <a:t>, </a:t>
            </a:r>
          </a:p>
          <a:p>
            <a:pPr lvl="1"/>
            <a:endParaRPr lang="en-US" sz="2000" dirty="0">
              <a:latin typeface="StoneSerif"/>
            </a:endParaRP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Searching</a:t>
            </a:r>
            <a:r>
              <a:rPr lang="en-US" sz="2000" dirty="0">
                <a:latin typeface="StoneSerif"/>
              </a:rPr>
              <a:t>, and </a:t>
            </a:r>
          </a:p>
          <a:p>
            <a:pPr lvl="1"/>
            <a:endParaRPr lang="en-US" sz="2000" dirty="0">
              <a:latin typeface="StoneSerif"/>
            </a:endParaRP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Deletion</a:t>
            </a:r>
            <a:r>
              <a:rPr lang="en-US" sz="2000" dirty="0">
                <a:latin typeface="StoneSerif"/>
              </a:rPr>
              <a:t>— the fundamental ones in most of the data storage structures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0215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75EB-7100-E4CB-745B-EE010E7C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Searching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9DC6-F228-C521-3120-55D77A11A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Searching</a:t>
            </a:r>
            <a:r>
              <a:rPr lang="en-US" sz="2000" dirty="0"/>
              <a:t> for information in large data structures is an important part of many computer applications</a:t>
            </a:r>
          </a:p>
          <a:p>
            <a:endParaRPr lang="en-US" sz="2000" dirty="0"/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Searching is usually much more efficient if the data is sorted into some order.</a:t>
            </a:r>
            <a:r>
              <a:rPr lang="en-US" sz="2000" dirty="0"/>
              <a:t>  </a:t>
            </a:r>
          </a:p>
          <a:p>
            <a:pPr lvl="1"/>
            <a:r>
              <a:rPr lang="en-US" sz="2000" dirty="0"/>
              <a:t>Imagine trying to look up a number in the phone book if the listings were not in alphabetical order</a:t>
            </a:r>
          </a:p>
          <a:p>
            <a:endParaRPr lang="en-US" sz="2400" dirty="0"/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Linear</a:t>
            </a:r>
            <a:r>
              <a:rPr lang="en-US" sz="2200" dirty="0"/>
              <a:t> search vs.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binary</a:t>
            </a:r>
            <a:r>
              <a:rPr lang="en-US" sz="2200" dirty="0"/>
              <a:t> search </a:t>
            </a:r>
          </a:p>
          <a:p>
            <a:endParaRPr lang="en-US" sz="2200" dirty="0"/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Searches an array using the search key </a:t>
            </a:r>
          </a:p>
        </p:txBody>
      </p:sp>
    </p:spTree>
    <p:extLst>
      <p:ext uri="{BB962C8B-B14F-4D97-AF65-F5344CB8AC3E}">
        <p14:creationId xmlns:p14="http://schemas.microsoft.com/office/powerpoint/2010/main" val="37978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75EB-7100-E4CB-745B-EE010E7C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Searching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9DC6-F228-C521-3120-55D77A11A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Linear search compares each array element with the search key until it is found (or entire array is searched without success) </a:t>
            </a:r>
          </a:p>
          <a:p>
            <a:endParaRPr lang="en-US" sz="2200" dirty="0"/>
          </a:p>
          <a:p>
            <a:r>
              <a:rPr lang="en-US" sz="2200" dirty="0"/>
              <a:t>Linear search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works fine for small, unsorted arrays </a:t>
            </a:r>
          </a:p>
          <a:p>
            <a:endParaRPr lang="en-US" sz="2200" dirty="0"/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Inefficient for large arrays</a:t>
            </a:r>
            <a:r>
              <a:rPr lang="en-US" sz="2200" dirty="0"/>
              <a:t>, especially if many searches must be performed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667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75EB-7100-E4CB-745B-EE010E7C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Searching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9DC6-F228-C521-3120-55D77A11A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Binary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search </a:t>
            </a:r>
            <a:r>
              <a:rPr lang="en-US" sz="2200" dirty="0"/>
              <a:t>works best for larger, sorted arrays</a:t>
            </a:r>
          </a:p>
          <a:p>
            <a:endParaRPr lang="en-US" sz="22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Eliminates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half of the remaining elements in the searched array after each comparison </a:t>
            </a:r>
          </a:p>
          <a:p>
            <a:endParaRPr lang="en-US" sz="2200" dirty="0" smtClean="0"/>
          </a:p>
          <a:p>
            <a:r>
              <a:rPr lang="en-US" sz="2200" dirty="0" smtClean="0"/>
              <a:t>Locates </a:t>
            </a:r>
            <a:r>
              <a:rPr lang="en-US" sz="2200" dirty="0"/>
              <a:t>the middle element of the remaining portion of the array and compares to search key portion of the array and compares to search key </a:t>
            </a:r>
          </a:p>
          <a:p>
            <a:endParaRPr lang="en-US" sz="2200" dirty="0" smtClean="0"/>
          </a:p>
          <a:p>
            <a:r>
              <a:rPr lang="en-US" sz="2200" dirty="0" smtClean="0"/>
              <a:t>If </a:t>
            </a:r>
            <a:r>
              <a:rPr lang="en-US" sz="2200" dirty="0"/>
              <a:t>search key is less than the middle element then the first half of the array is searched </a:t>
            </a:r>
          </a:p>
          <a:p>
            <a:endParaRPr lang="en-US" sz="2200" dirty="0" smtClean="0"/>
          </a:p>
          <a:p>
            <a:r>
              <a:rPr lang="en-US" sz="2200" dirty="0" smtClean="0"/>
              <a:t>Otherwise</a:t>
            </a:r>
            <a:r>
              <a:rPr lang="en-US" sz="2200" dirty="0"/>
              <a:t>, the second half is searched </a:t>
            </a:r>
          </a:p>
          <a:p>
            <a:endParaRPr lang="en-US" sz="22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Very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fast; at most n steps, where 2n &gt; number of elements</a:t>
            </a:r>
          </a:p>
        </p:txBody>
      </p:sp>
    </p:spTree>
    <p:extLst>
      <p:ext uri="{BB962C8B-B14F-4D97-AF65-F5344CB8AC3E}">
        <p14:creationId xmlns:p14="http://schemas.microsoft.com/office/powerpoint/2010/main" val="1480740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8D4CA-EE32-48B0-8BCF-A87A2A38B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Sorting and Searching Arrays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695F1-0530-F37E-620B-E76842977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417" y="1582404"/>
            <a:ext cx="6273382" cy="3676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2821" y="1816768"/>
            <a:ext cx="52938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Binary </a:t>
            </a:r>
            <a:r>
              <a:rPr lang="en-US" dirty="0"/>
              <a:t>Search Works (The "Divide and Conquer" Logic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Instead </a:t>
            </a:r>
            <a:r>
              <a:rPr lang="en-US" dirty="0"/>
              <a:t>of checking every number one by one (Linear Search), Binary Search jumps to the middle of the list and eliminates half of the remaining options in every step.</a:t>
            </a:r>
          </a:p>
        </p:txBody>
      </p:sp>
    </p:spTree>
    <p:extLst>
      <p:ext uri="{BB962C8B-B14F-4D97-AF65-F5344CB8AC3E}">
        <p14:creationId xmlns:p14="http://schemas.microsoft.com/office/powerpoint/2010/main" val="216666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02A1-B450-3E01-BFC3-9DDCA51F1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Efficiency of 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7F9C5-5A84-2608-CA39-C75B7733E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Linear search: Proportional to N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Binary search: Proportional to log(N)</a:t>
            </a:r>
          </a:p>
          <a:p>
            <a:endParaRPr lang="en-US" sz="2000" dirty="0"/>
          </a:p>
          <a:p>
            <a:r>
              <a:rPr lang="en-US" sz="2000" dirty="0"/>
              <a:t>Consider a sorted array with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1,000,000 elements 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How many comparisons are required to search for a given key value?</a:t>
            </a:r>
          </a:p>
          <a:p>
            <a:pPr lvl="1"/>
            <a:endParaRPr lang="en-US" dirty="0"/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Average case</a:t>
            </a:r>
            <a:r>
              <a:rPr lang="en-US" sz="2000" dirty="0"/>
              <a:t>: </a:t>
            </a:r>
          </a:p>
          <a:p>
            <a:pPr lvl="2"/>
            <a:r>
              <a:rPr lang="en-US" dirty="0"/>
              <a:t>Linear search: 1,000,000/2 = 500K </a:t>
            </a:r>
          </a:p>
          <a:p>
            <a:pPr lvl="2"/>
            <a:r>
              <a:rPr lang="en-US" dirty="0"/>
              <a:t>Binary search: &lt;= log2(1,000,000) = 20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Worst case</a:t>
            </a:r>
            <a:r>
              <a:rPr lang="en-US" sz="2000" dirty="0"/>
              <a:t>: </a:t>
            </a:r>
          </a:p>
          <a:p>
            <a:pPr lvl="2"/>
            <a:r>
              <a:rPr lang="en-US" dirty="0"/>
              <a:t>Linear search: 1,000,000 </a:t>
            </a:r>
          </a:p>
          <a:p>
            <a:pPr lvl="2"/>
            <a:r>
              <a:rPr lang="en-US" dirty="0"/>
              <a:t>Binary search: 20</a:t>
            </a:r>
          </a:p>
        </p:txBody>
      </p:sp>
    </p:spTree>
    <p:extLst>
      <p:ext uri="{BB962C8B-B14F-4D97-AF65-F5344CB8AC3E}">
        <p14:creationId xmlns:p14="http://schemas.microsoft.com/office/powerpoint/2010/main" val="202396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EF2B-C0CD-DDA3-515C-EBF63FA2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Efficiency of Binary 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E551D-3F5D-F23B-2986-209E9D1C6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46" y="1474120"/>
            <a:ext cx="8489416" cy="2560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E3DC6-04B5-FA13-085E-D4DCB34A25CD}"/>
              </a:ext>
            </a:extLst>
          </p:cNvPr>
          <p:cNvSpPr txBox="1"/>
          <p:nvPr/>
        </p:nvSpPr>
        <p:spPr>
          <a:xfrm>
            <a:off x="1039946" y="4127994"/>
            <a:ext cx="101121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Big O notation provides a convenient way to compare the speed of algorithms</a:t>
            </a:r>
            <a:r>
              <a:rPr lang="en-US" sz="18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1800" b="0" i="0" u="none" strike="noStrike" baseline="0" dirty="0">
              <a:latin typeface="StoneSerif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StoneSerif"/>
              </a:rPr>
              <a:t>Big O notation uses the uppercase letter </a:t>
            </a:r>
            <a:r>
              <a:rPr lang="en-US" sz="1800" b="0" i="1" u="none" strike="noStrike" baseline="0" dirty="0">
                <a:latin typeface="StoneSerif-Italic"/>
              </a:rPr>
              <a:t>O</a:t>
            </a:r>
            <a:r>
              <a:rPr lang="en-US" sz="1800" b="0" i="0" u="none" strike="noStrike" baseline="0" dirty="0">
                <a:latin typeface="StoneSerif"/>
              </a:rPr>
              <a:t>, which you can think of as meaning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“order of.” </a:t>
            </a:r>
            <a:r>
              <a:rPr lang="en-US" sz="1800" b="0" i="0" u="none" strike="noStrike" baseline="0" dirty="0">
                <a:latin typeface="StoneSerif"/>
              </a:rPr>
              <a:t>In Big O notation, we would say that a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linear search takes O(N) time, and a binary search takes O(log N) time</a:t>
            </a:r>
            <a:r>
              <a:rPr lang="en-US" sz="1800" b="0" i="0" u="none" strike="noStrike" baseline="0" dirty="0">
                <a:latin typeface="StoneSerif"/>
              </a:rPr>
              <a:t>. Insertion into an unordered array takes O(1), or constant time.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latin typeface="StoneSerif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An algorithm that runs in O(1) time is the best, O(log N) is good, O(N) is fair, and O(N2) is pretty bad</a:t>
            </a:r>
            <a:r>
              <a:rPr lang="en-US" sz="1800" b="0" i="0" u="none" strike="noStrike" baseline="0" dirty="0">
                <a:latin typeface="StoneSerif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8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E514-5098-045E-DCEE-59C8F58E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518C9-6910-414A-3C0E-FBD7A68CE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en-US" sz="2000" b="0" i="0" u="none" strike="noStrike" baseline="0" dirty="0">
                <a:latin typeface="StoneSerif"/>
              </a:rPr>
              <a:t>The maximum number of elements that must be examined to complete a binary search in an array of 200 elements is</a:t>
            </a:r>
            <a:endParaRPr lang="en-US" sz="1800" b="0" i="0" u="none" strike="noStrike" baseline="0" dirty="0">
              <a:latin typeface="StoneSerif"/>
            </a:endParaRPr>
          </a:p>
          <a:p>
            <a:pPr marL="914400" lvl="1" indent="-457200">
              <a:buFont typeface="+mj-lt"/>
              <a:buAutoNum type="alphaUcPeriod"/>
            </a:pPr>
            <a:r>
              <a:rPr lang="en-US" sz="1800" dirty="0">
                <a:latin typeface="StoneSerif"/>
              </a:rPr>
              <a:t>200 	</a:t>
            </a:r>
            <a:r>
              <a:rPr lang="en-US" sz="1800" dirty="0" smtClean="0">
                <a:latin typeface="StoneSerif"/>
              </a:rPr>
              <a:t>         B</a:t>
            </a:r>
            <a:r>
              <a:rPr lang="en-US" sz="1800" dirty="0">
                <a:latin typeface="StoneSerif"/>
              </a:rPr>
              <a:t>. 8	</a:t>
            </a:r>
            <a:r>
              <a:rPr lang="en-US" sz="1800" dirty="0" smtClean="0">
                <a:latin typeface="StoneSerif"/>
              </a:rPr>
              <a:t>                    C.1</a:t>
            </a:r>
            <a:r>
              <a:rPr lang="en-US" sz="1800" dirty="0">
                <a:latin typeface="StoneSerif"/>
              </a:rPr>
              <a:t>	</a:t>
            </a:r>
            <a:r>
              <a:rPr lang="en-US" sz="1800" dirty="0" smtClean="0">
                <a:latin typeface="StoneSerif"/>
              </a:rPr>
              <a:t>               D.13</a:t>
            </a:r>
            <a:endParaRPr lang="en-US" sz="1800" dirty="0">
              <a:latin typeface="StoneSerif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StoneSerif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StoneSerif"/>
              </a:rPr>
              <a:t>Big </a:t>
            </a:r>
            <a:r>
              <a:rPr lang="en-US" sz="2000" dirty="0">
                <a:latin typeface="StoneSerif"/>
              </a:rPr>
              <a:t>O notation tells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1800" dirty="0">
                <a:latin typeface="StoneSerif"/>
              </a:rPr>
              <a:t>H</a:t>
            </a:r>
            <a:r>
              <a:rPr lang="en-US" sz="1800" b="0" i="0" u="none" strike="noStrike" baseline="0" dirty="0">
                <a:latin typeface="StoneSerif"/>
              </a:rPr>
              <a:t>ow the speed of an algorithm relates to the number of items.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1800" dirty="0">
                <a:latin typeface="StoneSerif"/>
              </a:rPr>
              <a:t>T</a:t>
            </a:r>
            <a:r>
              <a:rPr lang="en-US" sz="1800" b="0" i="0" u="none" strike="noStrike" baseline="0" dirty="0">
                <a:latin typeface="StoneSerif"/>
              </a:rPr>
              <a:t>he running time of an algorithm for a given size data structure.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1800" dirty="0">
                <a:latin typeface="StoneSerif"/>
              </a:rPr>
              <a:t>T</a:t>
            </a:r>
            <a:r>
              <a:rPr lang="en-US" sz="1800" b="0" i="0" u="none" strike="noStrike" baseline="0" dirty="0">
                <a:latin typeface="StoneSerif"/>
              </a:rPr>
              <a:t>he running time of an algorithm for a given number of items.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1800" dirty="0">
                <a:latin typeface="StoneSerif"/>
              </a:rPr>
              <a:t>H</a:t>
            </a:r>
            <a:r>
              <a:rPr lang="en-US" sz="1800" b="0" i="0" u="none" strike="noStrike" baseline="0" dirty="0">
                <a:latin typeface="StoneSerif"/>
              </a:rPr>
              <a:t>ow the size of a data structure relates to the number of items.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9485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75EB-7100-E4CB-745B-EE010E7C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</a:rPr>
              <a:t>Sorting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9DC6-F228-C521-3120-55D77A11A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As soon as you create a significant database, you’ll probably think of reasons to sort it in various ways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r>
              <a:rPr lang="en-US" sz="2200" dirty="0"/>
              <a:t>Sorting: Placing the data into some particular order </a:t>
            </a:r>
          </a:p>
          <a:p>
            <a:pPr lvl="1"/>
            <a:r>
              <a:rPr lang="en-US" sz="2000" dirty="0"/>
              <a:t>E.g. Ascending or descending order.</a:t>
            </a:r>
          </a:p>
          <a:p>
            <a:endParaRPr lang="en-US" sz="2400" dirty="0"/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Very important computing operation… </a:t>
            </a:r>
            <a:r>
              <a:rPr lang="en-US" sz="1600" dirty="0"/>
              <a:t>when  an input is sorted, many problems become easy</a:t>
            </a:r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200" dirty="0"/>
              <a:t>Because sorting is so important and potentially so time consuming, it has been the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subject of extensive research in computer science</a:t>
            </a:r>
            <a:r>
              <a:rPr lang="en-US" sz="2200" dirty="0"/>
              <a:t>, and some very sophisticated methods have been developed.</a:t>
            </a:r>
          </a:p>
          <a:p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8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940AA-F21F-3D2C-1D0A-4741BD75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FA80B-2673-2EA7-1945-9DB4BFA5E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Types of sorting </a:t>
            </a:r>
            <a:r>
              <a:rPr lang="en-US" sz="2200" b="0" i="0" u="none" strike="noStrike" baseline="0" dirty="0" smtClean="0">
                <a:solidFill>
                  <a:schemeClr val="accent2">
                    <a:lumMod val="75000"/>
                  </a:schemeClr>
                </a:solidFill>
                <a:latin typeface="StoneSans"/>
              </a:rPr>
              <a:t> </a:t>
            </a:r>
          </a:p>
          <a:p>
            <a:pPr lvl="1"/>
            <a:r>
              <a:rPr lang="en-US" sz="2000" dirty="0" smtClean="0">
                <a:latin typeface="StoneSans"/>
              </a:rPr>
              <a:t>Iterative sorting algorithms</a:t>
            </a:r>
          </a:p>
          <a:p>
            <a:pPr lvl="2"/>
            <a:r>
              <a:rPr lang="en-US" sz="1800" b="0" i="0" u="none" strike="noStrike" baseline="0" dirty="0" smtClean="0">
                <a:latin typeface="StoneSans"/>
              </a:rPr>
              <a:t>Bubble </a:t>
            </a:r>
            <a:r>
              <a:rPr lang="en-US" sz="1800" b="0" i="0" u="none" strike="noStrike" baseline="0" dirty="0">
                <a:latin typeface="StoneSans"/>
              </a:rPr>
              <a:t>Sort</a:t>
            </a:r>
          </a:p>
          <a:p>
            <a:pPr lvl="1"/>
            <a:endParaRPr lang="en-US" sz="1800" b="0" i="0" u="none" strike="noStrike" baseline="0" dirty="0">
              <a:latin typeface="StoneSans"/>
            </a:endParaRPr>
          </a:p>
          <a:p>
            <a:pPr lvl="2"/>
            <a:r>
              <a:rPr lang="en-US" sz="1800" b="0" i="0" u="none" strike="noStrike" baseline="0" dirty="0">
                <a:latin typeface="StoneSans"/>
              </a:rPr>
              <a:t>Selection Sort</a:t>
            </a:r>
          </a:p>
          <a:p>
            <a:pPr lvl="1"/>
            <a:endParaRPr lang="en-US" sz="1800" b="0" i="0" u="none" strike="noStrike" baseline="0" dirty="0">
              <a:latin typeface="StoneSans"/>
            </a:endParaRPr>
          </a:p>
          <a:p>
            <a:pPr lvl="2"/>
            <a:r>
              <a:rPr lang="en-US" sz="1800" b="0" i="0" u="none" strike="noStrike" baseline="0" dirty="0">
                <a:latin typeface="StoneSans"/>
              </a:rPr>
              <a:t>Insertion Sort</a:t>
            </a:r>
          </a:p>
          <a:p>
            <a:pPr lvl="1"/>
            <a:endParaRPr lang="en-US" sz="2000" b="0" i="0" u="none" strike="noStrike" baseline="0" dirty="0">
              <a:latin typeface="StoneSans"/>
            </a:endParaRPr>
          </a:p>
          <a:p>
            <a:pPr lvl="1"/>
            <a:r>
              <a:rPr lang="en-US" sz="2000" dirty="0">
                <a:latin typeface="StoneSans"/>
              </a:rPr>
              <a:t>Recursive sorting algorithms</a:t>
            </a:r>
          </a:p>
          <a:p>
            <a:pPr lvl="2">
              <a:lnSpc>
                <a:spcPct val="100000"/>
              </a:lnSpc>
            </a:pPr>
            <a:r>
              <a:rPr lang="en-US" sz="1800" dirty="0">
                <a:latin typeface="StoneSans"/>
              </a:rPr>
              <a:t>Merge Sort </a:t>
            </a:r>
          </a:p>
          <a:p>
            <a:pPr lvl="2">
              <a:lnSpc>
                <a:spcPct val="100000"/>
              </a:lnSpc>
            </a:pPr>
            <a:r>
              <a:rPr lang="en-US" sz="1800" dirty="0" smtClean="0">
                <a:latin typeface="StoneSans"/>
              </a:rPr>
              <a:t>Quick </a:t>
            </a:r>
            <a:r>
              <a:rPr lang="en-US" sz="1800" dirty="0">
                <a:latin typeface="StoneSans"/>
              </a:rPr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41672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56E5-0493-95B9-54FA-5424D9D8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Sorting : Bubble Sort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FB3D-9AE3-D532-9F9A-84D44F688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10545" cy="336983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Given an array of n items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Compare pair of adjacent items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Swap if the items are out of order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Repeat until the end of array </a:t>
            </a:r>
          </a:p>
          <a:p>
            <a:pPr lvl="2"/>
            <a:r>
              <a:rPr lang="en-US" dirty="0"/>
              <a:t>The largest item will be at the last position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Reduce n by 1 and go to Step 1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Analogy :- Large item is like “bubble” that floats to the end of the array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6175F5-84BF-5D33-8D78-0FF22C816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246" y="1633997"/>
            <a:ext cx="5422291" cy="375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2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E2B0A-F741-E0B7-3724-30B30E24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Sorting : Bubble Sort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882CC-1BF9-9800-C5DE-0070F16AD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82" y="1325563"/>
            <a:ext cx="10799618" cy="4351338"/>
          </a:xfrm>
        </p:spPr>
        <p:txBody>
          <a:bodyPr>
            <a:noAutofit/>
          </a:bodyPr>
          <a:lstStyle/>
          <a:p>
            <a:pPr algn="l"/>
            <a:endParaRPr lang="en-US" sz="2000" dirty="0">
              <a:latin typeface="StoneSerif"/>
            </a:endParaRPr>
          </a:p>
          <a:p>
            <a:r>
              <a:rPr lang="en-US" sz="2000" dirty="0">
                <a:latin typeface="StoneSerif"/>
              </a:rPr>
              <a:t>T</a:t>
            </a:r>
            <a:r>
              <a:rPr lang="en-US" sz="2000" b="0" i="0" u="none" strike="noStrike" baseline="0" dirty="0">
                <a:latin typeface="StoneSerif"/>
              </a:rPr>
              <a:t>he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simplest </a:t>
            </a:r>
            <a:r>
              <a:rPr lang="en-US" sz="2000" b="0" i="0" u="none" strike="noStrike" baseline="0" dirty="0">
                <a:latin typeface="StoneSerif"/>
              </a:rPr>
              <a:t>of the sorting </a:t>
            </a:r>
            <a:r>
              <a:rPr lang="en-US" sz="2000" b="0" i="0" u="none" strike="noStrike" baseline="0" dirty="0" smtClean="0">
                <a:latin typeface="StoneSerif"/>
              </a:rPr>
              <a:t>algorithms, but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notoriously slow</a:t>
            </a:r>
            <a:endParaRPr lang="en-US" sz="2000" dirty="0">
              <a:latin typeface="StoneSerif"/>
            </a:endParaRPr>
          </a:p>
          <a:p>
            <a:pPr algn="l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In general, where N is the number of items in the array, there are N-1 comparisons on the first pass, N-2 on the second, and so on</a:t>
            </a:r>
            <a:r>
              <a:rPr lang="en-US" sz="2000" dirty="0">
                <a:latin typeface="StoneSerif"/>
              </a:rPr>
              <a:t>.</a:t>
            </a:r>
          </a:p>
          <a:p>
            <a:pPr algn="l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Worst-case </a:t>
            </a:r>
          </a:p>
          <a:p>
            <a:pPr lvl="1"/>
            <a:r>
              <a:rPr lang="en-US" sz="1800" dirty="0">
                <a:latin typeface="StoneSerif"/>
              </a:rPr>
              <a:t>Input is in descending order </a:t>
            </a:r>
          </a:p>
          <a:p>
            <a:pPr lvl="1"/>
            <a:r>
              <a:rPr lang="en-US" sz="1800" dirty="0">
                <a:latin typeface="StoneSerif"/>
              </a:rPr>
              <a:t>Running time remains the same: O(n^2) 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Best-case </a:t>
            </a:r>
          </a:p>
          <a:p>
            <a:pPr lvl="1"/>
            <a:r>
              <a:rPr lang="en-US" sz="1800" dirty="0">
                <a:latin typeface="StoneSerif"/>
              </a:rPr>
              <a:t>Input is already in ascending order </a:t>
            </a:r>
          </a:p>
          <a:p>
            <a:pPr lvl="1"/>
            <a:r>
              <a:rPr lang="en-US" sz="1800" dirty="0">
                <a:latin typeface="StoneSerif"/>
              </a:rPr>
              <a:t>The algorithm returns after a single outer iteration </a:t>
            </a:r>
          </a:p>
          <a:p>
            <a:pPr lvl="1"/>
            <a:r>
              <a:rPr lang="en-US" sz="1800" dirty="0" smtClean="0">
                <a:latin typeface="StoneSerif"/>
              </a:rPr>
              <a:t>Running </a:t>
            </a:r>
            <a:r>
              <a:rPr lang="en-US" sz="1800" dirty="0">
                <a:latin typeface="StoneSerif"/>
              </a:rPr>
              <a:t>time: O(n)</a:t>
            </a:r>
          </a:p>
        </p:txBody>
      </p:sp>
    </p:spTree>
    <p:extLst>
      <p:ext uri="{BB962C8B-B14F-4D97-AF65-F5344CB8AC3E}">
        <p14:creationId xmlns:p14="http://schemas.microsoft.com/office/powerpoint/2010/main" val="78401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A330-B736-262F-4F81-D563FBFF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Sorting : Selection Sort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6AC13-4DC5-93E9-9FC5-4A46841DE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29" y="2901550"/>
            <a:ext cx="5949329" cy="3800039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sz="1800" b="0" i="0" u="none" strike="noStrike" baseline="0" dirty="0">
                <a:latin typeface="StoneSerif"/>
              </a:rPr>
              <a:t>The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selection sort improves on the bubble sort by reducing the number of swaps </a:t>
            </a:r>
            <a:r>
              <a:rPr lang="pt-BR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necessary from </a:t>
            </a:r>
            <a:r>
              <a:rPr lang="pt-BR" sz="1800" b="0" i="0" u="none" strike="noStrike" baseline="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O(N^2</a:t>
            </a:r>
            <a:r>
              <a:rPr lang="pt-BR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) to O(N)</a:t>
            </a:r>
            <a:r>
              <a:rPr lang="pt-BR" sz="18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1800" b="0" i="0" u="none" strike="noStrike" baseline="0" dirty="0">
              <a:latin typeface="StoneSerif"/>
            </a:endParaRPr>
          </a:p>
          <a:p>
            <a:pPr algn="l"/>
            <a:r>
              <a:rPr lang="en-US" sz="1800" b="0" i="0" u="none" strike="noStrike" baseline="0" dirty="0">
                <a:latin typeface="StoneSerif"/>
              </a:rPr>
              <a:t>Unfortunately, the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number of comparisons remains </a:t>
            </a:r>
            <a:r>
              <a:rPr lang="en-US" sz="1800" b="0" i="0" u="none" strike="noStrike" baseline="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O(N^2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)</a:t>
            </a:r>
            <a:r>
              <a:rPr lang="en-US" sz="18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1800" b="0" i="0" u="none" strike="noStrike" baseline="0" dirty="0">
              <a:latin typeface="StoneSerif"/>
            </a:endParaRPr>
          </a:p>
          <a:p>
            <a:pPr algn="l"/>
            <a:r>
              <a:rPr lang="en-US" sz="1800" b="0" i="0" u="none" strike="noStrike" baseline="0" dirty="0">
                <a:latin typeface="StoneSerif"/>
              </a:rPr>
              <a:t>However, the selection sort can still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offer a significant improvement for large records </a:t>
            </a:r>
            <a:r>
              <a:rPr lang="en-US" sz="1800" b="0" i="0" u="none" strike="noStrike" baseline="0" dirty="0">
                <a:latin typeface="StoneSerif"/>
              </a:rPr>
              <a:t>that must be physically moved around in memory, causing the swap time to be much more important than the comparison time.</a:t>
            </a:r>
          </a:p>
          <a:p>
            <a:pPr algn="l"/>
            <a:endParaRPr lang="en-US" sz="1800" dirty="0">
              <a:latin typeface="StoneSerif"/>
            </a:endParaRPr>
          </a:p>
          <a:p>
            <a:pPr algn="l"/>
            <a:r>
              <a:rPr lang="en-US" sz="1800" b="0" i="0" u="none" strike="noStrike" baseline="0" dirty="0">
                <a:latin typeface="StoneSerif"/>
              </a:rPr>
              <a:t>The selection sort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performs the same number of comparisons as the bubble sort</a:t>
            </a:r>
            <a:r>
              <a:rPr lang="en-US" sz="1800" b="0" i="0" u="none" strike="noStrike" baseline="0" dirty="0">
                <a:latin typeface="StoneSerif"/>
              </a:rPr>
              <a:t>: N*(N-1)/2. For 10 data items, this is 45 comparisons. However, 10 items require fewer than 10 swaps. With 100 items, 4,950 comparisons are required, but fewer than 100swaps.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E836D-BEFA-992E-BEB8-8E24EF5465D1}"/>
              </a:ext>
            </a:extLst>
          </p:cNvPr>
          <p:cNvSpPr txBox="1"/>
          <p:nvPr/>
        </p:nvSpPr>
        <p:spPr>
          <a:xfrm>
            <a:off x="511629" y="1575987"/>
            <a:ext cx="51403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Given an array of n items </a:t>
            </a:r>
          </a:p>
          <a:p>
            <a:pPr marL="285750" indent="-285750">
              <a:buFontTx/>
              <a:buChar char="-"/>
            </a:pPr>
            <a:r>
              <a:rPr lang="en-US" dirty="0"/>
              <a:t>1. Find the largest item x, in the range of [0…n−1] </a:t>
            </a:r>
          </a:p>
          <a:p>
            <a:pPr marL="285750" indent="-285750">
              <a:buFontTx/>
              <a:buChar char="-"/>
            </a:pPr>
            <a:r>
              <a:rPr lang="en-US" dirty="0"/>
              <a:t>2. Swap x with the (n−1)</a:t>
            </a:r>
            <a:r>
              <a:rPr lang="en-US" dirty="0" err="1"/>
              <a:t>th</a:t>
            </a:r>
            <a:r>
              <a:rPr lang="en-US" dirty="0"/>
              <a:t> item </a:t>
            </a:r>
          </a:p>
          <a:p>
            <a:pPr marL="285750" indent="-285750">
              <a:buFontTx/>
              <a:buChar char="-"/>
            </a:pPr>
            <a:r>
              <a:rPr lang="en-US" dirty="0"/>
              <a:t>3. Reduce n by 1 and go to Step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523221-8FB8-063A-E244-AFB7B2012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058" y="1690688"/>
            <a:ext cx="4735286" cy="353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9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61E26-AEDD-A0D2-BA91-2F8E8283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Sorting : Insertion Sort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0004C-D501-C96B-DD2C-D19770ED0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3" y="2141537"/>
            <a:ext cx="5427518" cy="4351338"/>
          </a:xfrm>
        </p:spPr>
        <p:txBody>
          <a:bodyPr/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Similar to how most people arrange a hand of poker cards </a:t>
            </a:r>
          </a:p>
          <a:p>
            <a:pPr lvl="1"/>
            <a:endParaRPr lang="en-US" sz="2200" dirty="0"/>
          </a:p>
          <a:p>
            <a:pPr lvl="1"/>
            <a:r>
              <a:rPr lang="en-US" sz="2000" dirty="0"/>
              <a:t>Start with one card in your hand 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Pick the next card and insert it into its proper sorted order 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Repeat previous step for all cards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72722C-D400-B415-B120-C4775EFBC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849" y="2619489"/>
            <a:ext cx="4855111" cy="260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4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139F-E821-A169-0E9E-A65F0537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Sorting : Insertion Sort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0A701-CC2C-C9D1-3BBA-275C02EC0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30332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>
                <a:latin typeface="StoneSerif"/>
              </a:rPr>
              <a:t>I</a:t>
            </a:r>
            <a:r>
              <a:rPr lang="en-US" sz="1800" b="0" i="0" u="none" strike="noStrike" baseline="0" dirty="0">
                <a:latin typeface="StoneSerif"/>
              </a:rPr>
              <a:t>nsertion sort is the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best of the elementary sorts</a:t>
            </a:r>
          </a:p>
          <a:p>
            <a:pPr algn="l"/>
            <a:endParaRPr lang="en-US" sz="1800" b="0" i="0" u="none" strike="noStrike" baseline="0" dirty="0">
              <a:latin typeface="StoneSerif"/>
            </a:endParaRPr>
          </a:p>
          <a:p>
            <a:pPr algn="l"/>
            <a:r>
              <a:rPr lang="en-US" sz="1800" b="0" i="0" u="none" strike="noStrike" baseline="0" dirty="0">
                <a:latin typeface="StoneSerif"/>
              </a:rPr>
              <a:t>It still executes in </a:t>
            </a:r>
            <a:r>
              <a:rPr lang="en-US" sz="1800" b="0" i="0" u="none" strike="noStrike" baseline="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O(N^2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) </a:t>
            </a:r>
            <a:r>
              <a:rPr lang="en-US" sz="1800" b="0" i="0" u="none" strike="noStrike" baseline="0" dirty="0">
                <a:latin typeface="StoneSerif"/>
              </a:rPr>
              <a:t>time, but it’s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about twice as fast as the bubble sort </a:t>
            </a:r>
            <a:r>
              <a:rPr lang="en-US" sz="1800" b="0" i="0" u="none" strike="noStrike" baseline="0" dirty="0">
                <a:latin typeface="StoneSerif"/>
              </a:rPr>
              <a:t>and somewhat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faster than the selection sort in normal situations</a:t>
            </a:r>
            <a:r>
              <a:rPr lang="en-US" sz="18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1800" dirty="0">
              <a:latin typeface="StoneSerif"/>
            </a:endParaRPr>
          </a:p>
          <a:p>
            <a:pPr algn="l"/>
            <a:r>
              <a:rPr lang="en-US" sz="1800" dirty="0" smtClean="0">
                <a:latin typeface="StoneSerif"/>
              </a:rPr>
              <a:t>I</a:t>
            </a:r>
            <a:r>
              <a:rPr lang="en-US" sz="1800" b="0" i="0" u="none" strike="noStrike" baseline="0" dirty="0" smtClean="0">
                <a:latin typeface="StoneSerif"/>
              </a:rPr>
              <a:t>t</a:t>
            </a:r>
            <a:r>
              <a:rPr lang="en-US" sz="1800" dirty="0">
                <a:latin typeface="StoneSerif"/>
              </a:rPr>
              <a:t> </a:t>
            </a:r>
            <a:r>
              <a:rPr lang="en-US" sz="1800" dirty="0" smtClean="0">
                <a:latin typeface="StoneSerif"/>
              </a:rPr>
              <a:t>is</a:t>
            </a:r>
            <a:r>
              <a:rPr lang="en-US" sz="1800" b="0" i="0" u="none" strike="noStrike" baseline="0" dirty="0" smtClean="0">
                <a:latin typeface="StoneSerif"/>
              </a:rPr>
              <a:t> </a:t>
            </a:r>
            <a:r>
              <a:rPr lang="en-US" sz="1800" b="0" i="0" u="none" strike="noStrike" baseline="0" dirty="0">
                <a:latin typeface="StoneSerif"/>
              </a:rPr>
              <a:t>slightly more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involved than the bubble and selection sorts</a:t>
            </a:r>
            <a:r>
              <a:rPr lang="en-US" sz="1800" b="0" i="0" u="none" strike="noStrike" baseline="0" dirty="0">
                <a:latin typeface="StoneSerif"/>
              </a:rPr>
              <a:t>.</a:t>
            </a:r>
            <a:endParaRPr lang="en-US" sz="1800" dirty="0">
              <a:latin typeface="StoneSerif"/>
            </a:endParaRPr>
          </a:p>
          <a:p>
            <a:pPr marL="0" indent="0" algn="l">
              <a:buNone/>
            </a:pPr>
            <a:endParaRPr lang="en-US" sz="1800" dirty="0">
              <a:latin typeface="StoneSerif"/>
            </a:endParaRPr>
          </a:p>
          <a:p>
            <a:pPr algn="l"/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How many comparisons and copies does this algorithm require</a:t>
            </a:r>
            <a:r>
              <a:rPr lang="en-US" sz="1800" b="0" i="0" u="none" strike="noStrike" baseline="0" dirty="0">
                <a:latin typeface="StoneSerif"/>
              </a:rPr>
              <a:t>? On the first pass, it compares a maximum of one item. On the second pass, it’s a maximum of two items, and so on, up to a maximum of N-1 comparisons on the last pass.</a:t>
            </a:r>
          </a:p>
          <a:p>
            <a:pPr algn="l"/>
            <a:endParaRPr lang="en-US" sz="1800" dirty="0">
              <a:latin typeface="StoneSerif"/>
            </a:endParaRPr>
          </a:p>
          <a:p>
            <a:pPr algn="l"/>
            <a:r>
              <a:rPr lang="en-US" sz="1800" dirty="0">
                <a:latin typeface="StoneSerif"/>
              </a:rPr>
              <a:t>The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best-case time is O(n) </a:t>
            </a:r>
          </a:p>
          <a:p>
            <a:pPr algn="l"/>
            <a:endParaRPr lang="en-US" sz="1800" dirty="0">
              <a:latin typeface="StoneSerif"/>
            </a:endParaRPr>
          </a:p>
          <a:p>
            <a:pPr algn="l"/>
            <a:r>
              <a:rPr lang="en-US" sz="1800" dirty="0">
                <a:latin typeface="StoneSerif"/>
              </a:rPr>
              <a:t>And the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worst-case time is 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O(n^2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759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54A-81D8-B523-F61C-2B63A5BE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Merge Sort: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5922-C741-7ABE-37E2-F8EFA6951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Suppose we only know how to merge two sorted sets of elements into one </a:t>
            </a:r>
          </a:p>
          <a:p>
            <a:pPr lvl="1"/>
            <a:r>
              <a:rPr lang="en-US" sz="2000" dirty="0"/>
              <a:t>Merge {1, 5, 9} {1, 5, 9} with {2, 11} {2, 11} -&gt; {1, 2, 5, 9, 11}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Idea (use merge to sort n items) </a:t>
            </a:r>
          </a:p>
          <a:p>
            <a:pPr lvl="1"/>
            <a:r>
              <a:rPr lang="en-US" sz="2000" dirty="0"/>
              <a:t>Merge each pair of elements into sets of 2</a:t>
            </a:r>
          </a:p>
          <a:p>
            <a:pPr lvl="1"/>
            <a:r>
              <a:rPr lang="en-US" sz="2000" dirty="0"/>
              <a:t>Merge each pair of sets of 2 into sets of 4 </a:t>
            </a:r>
          </a:p>
          <a:p>
            <a:pPr lvl="1"/>
            <a:r>
              <a:rPr lang="en-US" sz="2000" dirty="0"/>
              <a:t>Repeat previous step for sets of 4 … </a:t>
            </a:r>
          </a:p>
          <a:p>
            <a:pPr lvl="1"/>
            <a:r>
              <a:rPr lang="en-US" sz="2000" dirty="0"/>
              <a:t>Final step: merge 2 sets of n/2 elements to obtain a fully sorted set</a:t>
            </a:r>
          </a:p>
        </p:txBody>
      </p:sp>
    </p:spTree>
    <p:extLst>
      <p:ext uri="{BB962C8B-B14F-4D97-AF65-F5344CB8AC3E}">
        <p14:creationId xmlns:p14="http://schemas.microsoft.com/office/powerpoint/2010/main" val="240390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A5D12-C9CE-E6E8-F0A8-74AE0E2BB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Merge Sort: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9F1A9-3D0B-0426-DA6B-DF3BD95DC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5" y="1836016"/>
            <a:ext cx="6082145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Merge Sort is a divide-and-conquer sorting algorithm </a:t>
            </a:r>
          </a:p>
          <a:p>
            <a:pPr marL="0" indent="0">
              <a:buNone/>
            </a:pP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Divide step </a:t>
            </a:r>
          </a:p>
          <a:p>
            <a:pPr lvl="1"/>
            <a:r>
              <a:rPr lang="en-US" sz="2000" dirty="0" smtClean="0"/>
              <a:t>Divide </a:t>
            </a:r>
            <a:r>
              <a:rPr lang="en-US" sz="2000" dirty="0"/>
              <a:t>the array into two (equal) halves </a:t>
            </a:r>
          </a:p>
          <a:p>
            <a:pPr lvl="1"/>
            <a:r>
              <a:rPr lang="en-US" sz="2000" dirty="0"/>
              <a:t>Recursively sort the two halves 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Conquer step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Merge the two halves to form a sorted array</a:t>
            </a:r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Total time complexity = O(n </a:t>
            </a:r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log(n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)) </a:t>
            </a:r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Optimal comparison-based sorting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97930-84C7-9F68-B035-D8EF7A5A3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973" y="2358735"/>
            <a:ext cx="5709027" cy="278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6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D7C0-7D28-D356-3179-8DE3A063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Merge Sort: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82358-B11D-BEDB-B44E-B677A8130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Pros </a:t>
            </a:r>
          </a:p>
          <a:p>
            <a:pPr lvl="1"/>
            <a:r>
              <a:rPr lang="en-US" sz="2200" dirty="0"/>
              <a:t>The performance is guaranteed, i.e. unaffected by original ordering of the input 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Suitable for extremely large number of inputs 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Can operate on the input portion by portion </a:t>
            </a:r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Cons </a:t>
            </a:r>
          </a:p>
          <a:p>
            <a:pPr lvl="1"/>
            <a:r>
              <a:rPr lang="en-US" sz="2200" dirty="0"/>
              <a:t>Not easy to implement 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Requires additional storage during merging operation 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O(n) extra memory storage needed</a:t>
            </a:r>
          </a:p>
        </p:txBody>
      </p:sp>
    </p:spTree>
    <p:extLst>
      <p:ext uri="{BB962C8B-B14F-4D97-AF65-F5344CB8AC3E}">
        <p14:creationId xmlns:p14="http://schemas.microsoft.com/office/powerpoint/2010/main" val="2067630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CC391-B742-0FD5-17DC-403C0AE37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Quick Sort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77F6B-A826-0CF4-233B-4B0E82297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Quick Sort is a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divide-and-conquer algorithm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dirty="0"/>
              <a:t>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Divide step </a:t>
            </a:r>
          </a:p>
          <a:p>
            <a:pPr lvl="1"/>
            <a:r>
              <a:rPr lang="en-US" sz="2100" dirty="0"/>
              <a:t>Choose an item </a:t>
            </a:r>
            <a:r>
              <a:rPr lang="en-US" sz="2100" dirty="0" smtClean="0"/>
              <a:t>p </a:t>
            </a:r>
            <a:r>
              <a:rPr lang="en-US" sz="2100" dirty="0" smtClean="0"/>
              <a:t>(known </a:t>
            </a:r>
            <a:r>
              <a:rPr lang="en-US" sz="2100" dirty="0"/>
              <a:t>as pivot) and partition the </a:t>
            </a:r>
            <a:r>
              <a:rPr lang="en-US" sz="2100" dirty="0" smtClean="0"/>
              <a:t>items </a:t>
            </a:r>
            <a:r>
              <a:rPr lang="en-US" sz="2100" dirty="0"/>
              <a:t>of a[</a:t>
            </a:r>
            <a:r>
              <a:rPr lang="en-US" sz="2100" dirty="0" err="1"/>
              <a:t>i</a:t>
            </a:r>
            <a:r>
              <a:rPr lang="en-US" sz="2100" dirty="0"/>
              <a:t>...j] into two parts</a:t>
            </a:r>
          </a:p>
          <a:p>
            <a:pPr lvl="2"/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Items that are smaller than p</a:t>
            </a:r>
          </a:p>
          <a:p>
            <a:pPr lvl="2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Items that are greater than or equal to p </a:t>
            </a:r>
          </a:p>
          <a:p>
            <a:pPr lvl="1"/>
            <a:r>
              <a:rPr lang="en-US" dirty="0"/>
              <a:t> </a:t>
            </a:r>
            <a:r>
              <a:rPr lang="en-US" sz="2100" dirty="0"/>
              <a:t>Recursively sort the two parts</a:t>
            </a:r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Conquer step </a:t>
            </a:r>
          </a:p>
          <a:p>
            <a:pPr lvl="2"/>
            <a:r>
              <a:rPr lang="en-US" dirty="0"/>
              <a:t>Do nothing!</a:t>
            </a:r>
          </a:p>
          <a:p>
            <a:endParaRPr lang="en-US" sz="2400" dirty="0"/>
          </a:p>
          <a:p>
            <a:r>
              <a:rPr lang="en-US" sz="2400" dirty="0"/>
              <a:t>In comparison,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Merge Sort spends most of the time in conquer step but very little time in divide step</a:t>
            </a:r>
          </a:p>
        </p:txBody>
      </p:sp>
    </p:spTree>
    <p:extLst>
      <p:ext uri="{BB962C8B-B14F-4D97-AF65-F5344CB8AC3E}">
        <p14:creationId xmlns:p14="http://schemas.microsoft.com/office/powerpoint/2010/main" val="265719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811A-6D26-B906-E702-6C18DBC71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Quick Sort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58F05-D7F2-91D5-8F12-93D187783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823" y="2055813"/>
            <a:ext cx="690431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7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14D8-A639-C671-3BDD-2F43A4A8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Quick Sort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3BA12-7B69-9A1E-686E-0DFBEA869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Best case occurs </a:t>
            </a:r>
            <a:r>
              <a:rPr lang="en-US" sz="2200" dirty="0"/>
              <a:t>when partition always splits the array into two equal halves </a:t>
            </a:r>
          </a:p>
          <a:p>
            <a:pPr lvl="1"/>
            <a:endParaRPr lang="en-US" dirty="0"/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Depth of recursion is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log(n)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Each level takes n or fewer comparisons, so the time complexity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is O(n log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(n))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dirty="0"/>
          </a:p>
          <a:p>
            <a:r>
              <a:rPr lang="en-US" sz="2200" dirty="0"/>
              <a:t>In practice,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worst case is rare</a:t>
            </a:r>
            <a:r>
              <a:rPr lang="en-US" sz="2200" dirty="0"/>
              <a:t>, and on the average we get some good splits and some bad ones</a:t>
            </a:r>
          </a:p>
          <a:p>
            <a:pPr lvl="1"/>
            <a:endParaRPr lang="en-US" dirty="0"/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Average time is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O(n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log n)</a:t>
            </a:r>
          </a:p>
        </p:txBody>
      </p:sp>
    </p:spTree>
    <p:extLst>
      <p:ext uri="{BB962C8B-B14F-4D97-AF65-F5344CB8AC3E}">
        <p14:creationId xmlns:p14="http://schemas.microsoft.com/office/powerpoint/2010/main" val="225673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C4E6-F7B6-0202-2B2B-44A8914A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Shell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BF692-5C70-A48A-0BF6-FC5405464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507" y="1325563"/>
            <a:ext cx="10515600" cy="4351338"/>
          </a:xfrm>
        </p:spPr>
        <p:txBody>
          <a:bodyPr>
            <a:noAutofit/>
          </a:bodyPr>
          <a:lstStyle/>
          <a:p>
            <a:pPr algn="l"/>
            <a:r>
              <a:rPr lang="en-US" sz="2000" b="0" i="0" u="none" strike="noStrike" baseline="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Based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on the insertion sort</a:t>
            </a:r>
            <a:r>
              <a:rPr lang="en-US" sz="2000" b="0" i="0" u="none" strike="noStrike" baseline="0" dirty="0">
                <a:latin typeface="StoneSerif"/>
              </a:rPr>
              <a:t>, but adds a new feature that dramatically improves the insertion sort’s performance.</a:t>
            </a:r>
          </a:p>
          <a:p>
            <a:pPr algn="l"/>
            <a:endParaRPr lang="en-US" sz="2000" dirty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pPr algn="l"/>
            <a:r>
              <a:rPr lang="en-US" sz="2000" b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The </a:t>
            </a:r>
            <a:r>
              <a:rPr lang="en-US" sz="2000" b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pivot value </a:t>
            </a:r>
            <a:r>
              <a:rPr lang="en-US" sz="2000" b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is the value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that determines into which group an item will go during partitioning. Items smaller than the pivot value go in the left group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….. </a:t>
            </a:r>
            <a:r>
              <a:rPr lang="en-US" sz="2000" dirty="0">
                <a:latin typeface="StoneSerif"/>
              </a:rPr>
              <a:t>L</a:t>
            </a:r>
            <a:r>
              <a:rPr lang="en-US" sz="2000" b="0" i="0" u="none" strike="noStrike" baseline="0" dirty="0">
                <a:latin typeface="StoneSerif"/>
              </a:rPr>
              <a:t>arger items go in the right group.</a:t>
            </a:r>
          </a:p>
          <a:p>
            <a:pPr algn="l"/>
            <a:endParaRPr lang="en-US" sz="2000" dirty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pPr algn="l"/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The </a:t>
            </a:r>
            <a:r>
              <a:rPr lang="en-US" sz="2000" b="0" i="0" u="none" strike="noStrike" baseline="0" dirty="0" err="1">
                <a:solidFill>
                  <a:schemeClr val="accent2">
                    <a:lumMod val="75000"/>
                  </a:schemeClr>
                </a:solidFill>
                <a:latin typeface="StoneSerif"/>
              </a:rPr>
              <a:t>Shellsort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 is good for medium-sized arrays, perhaps up to a few thousand items, depending on the particular implementation</a:t>
            </a:r>
            <a:r>
              <a:rPr lang="en-US" sz="20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2000" b="0" i="0" u="none" strike="noStrike" baseline="0" dirty="0">
              <a:latin typeface="StoneSerif"/>
            </a:endParaRPr>
          </a:p>
          <a:p>
            <a:pPr algn="l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Not q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uite as fast as quicksort and other </a:t>
            </a:r>
            <a:r>
              <a:rPr lang="en-US" sz="2000" b="0" i="0" u="none" strike="noStrike" baseline="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O(N*log(N))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sorts</a:t>
            </a:r>
            <a:r>
              <a:rPr lang="en-US" sz="2000" b="0" i="0" u="none" strike="noStrike" baseline="0" dirty="0">
                <a:latin typeface="StoneSerif"/>
              </a:rPr>
              <a:t>, so it’s not optimum for very large files. </a:t>
            </a:r>
          </a:p>
          <a:p>
            <a:pPr algn="l"/>
            <a:endParaRPr lang="en-US" sz="2000" b="0" i="0" u="none" strike="noStrike" baseline="0" dirty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pPr algn="l"/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However, it’s much faster than the </a:t>
            </a:r>
            <a:r>
              <a:rPr lang="en-US" sz="2000" b="0" i="0" u="none" strike="noStrike" baseline="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O(N^2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) sorts like the selection sort and the insertion sort</a:t>
            </a:r>
            <a:endParaRPr lang="en-US" sz="2000" b="0" i="0" u="none" strike="noStrike" baseline="0" dirty="0">
              <a:latin typeface="StoneSerif"/>
            </a:endParaRPr>
          </a:p>
        </p:txBody>
      </p:sp>
    </p:spTree>
    <p:extLst>
      <p:ext uri="{BB962C8B-B14F-4D97-AF65-F5344CB8AC3E}">
        <p14:creationId xmlns:p14="http://schemas.microsoft.com/office/powerpoint/2010/main" val="2604541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94E1-8C6B-5C33-56A9-1166A86B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Comparing the Simple Sorts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B325C-B4F7-92A1-D2EE-88687F12D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The bubble sort is so simple that you can write it from memory.</a:t>
            </a:r>
          </a:p>
          <a:p>
            <a:pPr algn="l"/>
            <a:endParaRPr lang="en-US" sz="1800" b="0" i="0" u="none" strike="noStrike" baseline="0" dirty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pPr algn="l"/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The selection sort minimizes the number of swaps, but the number of comparisons is still high</a:t>
            </a:r>
            <a:r>
              <a:rPr lang="en-US" sz="1800" b="0" i="0" u="none" strike="noStrike" baseline="0" dirty="0">
                <a:latin typeface="StoneSerif"/>
              </a:rPr>
              <a:t>. This sort might be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useful when the amount of data is small and swapping data items is very </a:t>
            </a:r>
            <a:r>
              <a:rPr lang="en-US" sz="1800" b="0" i="0" u="none" strike="noStrike" baseline="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time-consuming</a:t>
            </a:r>
            <a:r>
              <a:rPr lang="en-US" sz="1800" b="0" i="0" u="none" strike="noStrike" baseline="0" dirty="0" smtClean="0">
                <a:latin typeface="StoneSerif"/>
              </a:rPr>
              <a:t>.</a:t>
            </a:r>
            <a:endParaRPr lang="en-US" sz="1800" b="0" i="0" u="none" strike="noStrike" baseline="0" dirty="0">
              <a:latin typeface="StoneSerif"/>
            </a:endParaRPr>
          </a:p>
          <a:p>
            <a:pPr algn="l"/>
            <a:endParaRPr lang="en-US" sz="1800" b="0" i="0" u="none" strike="noStrike" baseline="0" dirty="0">
              <a:latin typeface="StoneSerif"/>
            </a:endParaRPr>
          </a:p>
          <a:p>
            <a:pPr algn="l"/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The insertion sort is the most versatile of the three and is the best bet in most situations</a:t>
            </a:r>
            <a:r>
              <a:rPr lang="en-US" sz="1800" b="0" i="0" u="none" strike="noStrike" baseline="0" dirty="0">
                <a:latin typeface="StoneSerif"/>
              </a:rPr>
              <a:t>, assuming the amount of data is small or the data is almost sorted.</a:t>
            </a:r>
          </a:p>
          <a:p>
            <a:pPr algn="l"/>
            <a:endParaRPr lang="en-US" sz="1800" b="0" i="0" u="none" strike="noStrike" baseline="0" dirty="0">
              <a:latin typeface="StoneSerif"/>
            </a:endParaRPr>
          </a:p>
          <a:p>
            <a:pPr algn="l"/>
            <a:r>
              <a:rPr lang="en-US" sz="1800" b="0" i="0" u="none" strike="noStrike" baseline="0" dirty="0">
                <a:latin typeface="StoneSerif"/>
              </a:rPr>
              <a:t>All three of the algorithms </a:t>
            </a:r>
            <a:r>
              <a:rPr lang="en-US" sz="1800" b="0" i="0" u="none" strike="noStrike" baseline="0" dirty="0" smtClean="0">
                <a:latin typeface="StoneSerif"/>
              </a:rPr>
              <a:t>carry </a:t>
            </a:r>
            <a:r>
              <a:rPr lang="en-US" sz="1800" b="0" i="0" u="none" strike="noStrike" baseline="0" dirty="0">
                <a:latin typeface="StoneSerif"/>
              </a:rPr>
              <a:t>out their sort </a:t>
            </a:r>
            <a:r>
              <a:rPr lang="en-US" sz="1800" b="0" i="1" u="none" strike="noStrike" baseline="0" dirty="0">
                <a:latin typeface="StoneSerif-Italic"/>
              </a:rPr>
              <a:t>in place</a:t>
            </a:r>
            <a:r>
              <a:rPr lang="en-US" sz="1800" b="0" i="0" u="none" strike="noStrike" baseline="0" dirty="0">
                <a:latin typeface="StoneSerif"/>
              </a:rPr>
              <a:t>, meaning that, </a:t>
            </a:r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besides the initial array, very little extra memory is required</a:t>
            </a:r>
            <a:r>
              <a:rPr lang="en-US" sz="1800" b="0" i="0" u="none" strike="noStrike" baseline="0" dirty="0">
                <a:latin typeface="StoneSerif"/>
              </a:rPr>
              <a:t>. All the sorts require an extra variable to store an item temporarily while </a:t>
            </a:r>
            <a:r>
              <a:rPr lang="en-US" sz="1800" b="0" i="0" u="none" strike="noStrike" baseline="0" dirty="0" smtClean="0">
                <a:latin typeface="StoneSerif"/>
              </a:rPr>
              <a:t>it</a:t>
            </a:r>
            <a:r>
              <a:rPr lang="en-US" sz="1800" b="0" i="0" u="none" strike="noStrike" dirty="0" smtClean="0">
                <a:latin typeface="StoneSerif"/>
              </a:rPr>
              <a:t> i</a:t>
            </a:r>
            <a:r>
              <a:rPr lang="en-US" sz="1800" b="0" i="0" u="none" strike="noStrike" baseline="0" dirty="0" smtClean="0">
                <a:latin typeface="StoneSerif"/>
              </a:rPr>
              <a:t>s </a:t>
            </a:r>
            <a:r>
              <a:rPr lang="en-US" sz="1800" b="0" i="0" u="none" strike="noStrike" baseline="0" dirty="0">
                <a:latin typeface="StoneSerif"/>
              </a:rPr>
              <a:t>being swapped.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9FFC9-A3BF-593E-FF4B-E3B3E9669105}"/>
              </a:ext>
            </a:extLst>
          </p:cNvPr>
          <p:cNvSpPr txBox="1"/>
          <p:nvPr/>
        </p:nvSpPr>
        <p:spPr>
          <a:xfrm>
            <a:off x="4218708" y="6311900"/>
            <a:ext cx="311335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Bubble, Selection and Insertion</a:t>
            </a:r>
          </a:p>
        </p:txBody>
      </p:sp>
    </p:spTree>
    <p:extLst>
      <p:ext uri="{BB962C8B-B14F-4D97-AF65-F5344CB8AC3E}">
        <p14:creationId xmlns:p14="http://schemas.microsoft.com/office/powerpoint/2010/main" val="22611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445E4-0414-316D-46E2-AA1D69560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5A0E2-D8A8-47C1-EE89-D08BD8881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1800" b="0" i="0" u="none" strike="noStrike" baseline="0" dirty="0">
                <a:latin typeface="StoneSerif"/>
              </a:rPr>
              <a:t>True or False: The bubble sort always ends up comparing every item with every other </a:t>
            </a:r>
            <a:r>
              <a:rPr lang="en-US" sz="1800" b="0" i="0" u="none" strike="noStrike" baseline="0" dirty="0" smtClean="0">
                <a:latin typeface="StoneSerif"/>
              </a:rPr>
              <a:t>item.</a:t>
            </a:r>
          </a:p>
          <a:p>
            <a:pPr marL="342900" indent="-342900" algn="l">
              <a:buFont typeface="+mj-lt"/>
              <a:buAutoNum type="arabicPeriod"/>
            </a:pPr>
            <a:endParaRPr lang="en-US" sz="1800" dirty="0">
              <a:latin typeface="StoneSerif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800" b="0" i="0" u="none" strike="noStrike" baseline="0" dirty="0" smtClean="0">
                <a:latin typeface="StoneSerif"/>
              </a:rPr>
              <a:t>The </a:t>
            </a:r>
            <a:r>
              <a:rPr lang="en-US" sz="1800" b="0" i="0" u="none" strike="noStrike" baseline="0" dirty="0">
                <a:latin typeface="StoneSerif"/>
              </a:rPr>
              <a:t>bubble sort algorithm alternates between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400" dirty="0">
                <a:latin typeface="StoneSerif"/>
              </a:rPr>
              <a:t>C</a:t>
            </a:r>
            <a:r>
              <a:rPr lang="en-US" sz="1400" b="0" i="0" u="none" strike="noStrike" baseline="0" dirty="0">
                <a:latin typeface="StoneSerif"/>
              </a:rPr>
              <a:t>omparing and swapping.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400" dirty="0">
                <a:latin typeface="StoneSerif"/>
              </a:rPr>
              <a:t>M</a:t>
            </a:r>
            <a:r>
              <a:rPr lang="en-US" sz="1400" b="0" i="0" u="none" strike="noStrike" baseline="0" dirty="0">
                <a:latin typeface="StoneSerif"/>
              </a:rPr>
              <a:t>oving and copying.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400" dirty="0">
                <a:latin typeface="StoneSerif"/>
              </a:rPr>
              <a:t>M</a:t>
            </a:r>
            <a:r>
              <a:rPr lang="en-US" sz="1400" b="0" i="0" u="none" strike="noStrike" baseline="0" dirty="0">
                <a:latin typeface="StoneSerif"/>
              </a:rPr>
              <a:t>oving and comparing.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400" dirty="0">
                <a:latin typeface="StoneSerif"/>
              </a:rPr>
              <a:t>Copying and comparing.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0" i="0" u="none" strike="noStrike" baseline="0" dirty="0">
                <a:latin typeface="StoneSerif"/>
              </a:rPr>
              <a:t>In the insertion sort, “partially sorted” means that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400" dirty="0">
                <a:latin typeface="StoneSerif"/>
              </a:rPr>
              <a:t>S</a:t>
            </a:r>
            <a:r>
              <a:rPr lang="en-US" sz="1400" b="0" i="0" u="none" strike="noStrike" baseline="0" dirty="0">
                <a:latin typeface="StoneSerif"/>
              </a:rPr>
              <a:t>ome items are already sorted, but they may need to be moved.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400" dirty="0">
                <a:latin typeface="StoneSerif"/>
              </a:rPr>
              <a:t>Most items are in their final sorted positions, but a few still need to be sorted.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400" dirty="0">
                <a:latin typeface="StoneSerif"/>
              </a:rPr>
              <a:t>O</a:t>
            </a:r>
            <a:r>
              <a:rPr lang="en-US" sz="1400" b="0" i="0" u="none" strike="noStrike" baseline="0" dirty="0">
                <a:latin typeface="StoneSerif"/>
              </a:rPr>
              <a:t>nly some of the items are sorted.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400" dirty="0">
                <a:latin typeface="StoneSerif"/>
              </a:rPr>
              <a:t>Group items are sorted among themselves, but items outside the group may need to be inserted in it.</a:t>
            </a:r>
          </a:p>
        </p:txBody>
      </p:sp>
    </p:spTree>
    <p:extLst>
      <p:ext uri="{BB962C8B-B14F-4D97-AF65-F5344CB8AC3E}">
        <p14:creationId xmlns:p14="http://schemas.microsoft.com/office/powerpoint/2010/main" val="111782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8E86-9C2D-2EB4-DA8A-C5680EDE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Stacks and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83FCF-D7D6-9C1F-5470-ED4B02771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Arrays used for personnel records, inventories, financial data, and so on—data that corresponds to real-world objects or activities</a:t>
            </a:r>
            <a:r>
              <a:rPr lang="en-US" sz="2000" dirty="0">
                <a:latin typeface="StoneSerif"/>
              </a:rPr>
              <a:t>.</a:t>
            </a:r>
          </a:p>
          <a:p>
            <a:pPr algn="l"/>
            <a:endParaRPr lang="en-US" sz="2000" b="0" i="0" u="none" strike="noStrike" baseline="0" dirty="0">
              <a:latin typeface="StoneSerif"/>
            </a:endParaRPr>
          </a:p>
          <a:p>
            <a:pPr algn="l"/>
            <a:r>
              <a:rPr lang="en-US" sz="2000" b="0" i="0" u="none" strike="noStrike" baseline="0" dirty="0">
                <a:latin typeface="StoneSerif"/>
              </a:rPr>
              <a:t>These structures facilitate access to data: They make it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easy to insert, delete, and search for particular items.</a:t>
            </a:r>
          </a:p>
          <a:p>
            <a:pPr algn="l"/>
            <a:endParaRPr lang="en-US" sz="2000" dirty="0">
              <a:latin typeface="StoneSerif"/>
            </a:endParaRPr>
          </a:p>
          <a:p>
            <a:pPr algn="l"/>
            <a:r>
              <a:rPr lang="en-US" sz="2000" dirty="0">
                <a:latin typeface="StoneSerif"/>
              </a:rPr>
              <a:t>In arrays,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access is restricted </a:t>
            </a:r>
          </a:p>
          <a:p>
            <a:pPr algn="l"/>
            <a:endParaRPr lang="en-US" sz="2000" b="0" i="0" u="none" strike="noStrike" baseline="0" dirty="0">
              <a:latin typeface="StoneSerif"/>
            </a:endParaRPr>
          </a:p>
          <a:p>
            <a:pPr algn="l"/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Stacks, queues, and priority queues are more abstract entities than arrays and many other data storage structures</a:t>
            </a:r>
            <a:r>
              <a:rPr lang="en-US" sz="2000" b="0" i="0" u="none" strike="noStrike" baseline="0" dirty="0">
                <a:latin typeface="StoneSerif"/>
              </a:rPr>
              <a:t>.</a:t>
            </a:r>
            <a:endParaRPr lang="en-US" sz="2000" dirty="0">
              <a:latin typeface="StoneSerif"/>
            </a:endParaRPr>
          </a:p>
        </p:txBody>
      </p:sp>
    </p:spTree>
    <p:extLst>
      <p:ext uri="{BB962C8B-B14F-4D97-AF65-F5344CB8AC3E}">
        <p14:creationId xmlns:p14="http://schemas.microsoft.com/office/powerpoint/2010/main" val="362319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5539C-9279-03F3-039D-BC789A6C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Stacks and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110D3-CEFF-AD00-B0BD-5C65D0E4D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ans-Semibold"/>
              </a:rPr>
              <a:t>Stacks</a:t>
            </a:r>
          </a:p>
          <a:p>
            <a:pPr lvl="1"/>
            <a:r>
              <a:rPr lang="en-US" sz="1800" dirty="0">
                <a:latin typeface="StoneSerif"/>
              </a:rPr>
              <a:t>A stack is a container of objects that are inserted and removed according to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the last-in first-out (LIFO) principle</a:t>
            </a:r>
            <a:r>
              <a:rPr lang="en-US" sz="1800" dirty="0">
                <a:latin typeface="StoneSerif"/>
              </a:rPr>
              <a:t>. </a:t>
            </a:r>
          </a:p>
          <a:p>
            <a:pPr lvl="1"/>
            <a:endParaRPr lang="en-US" sz="1800" dirty="0">
              <a:latin typeface="StoneSerif"/>
            </a:endParaRPr>
          </a:p>
          <a:p>
            <a:pPr lvl="1"/>
            <a:r>
              <a:rPr lang="en-US" sz="1800" dirty="0">
                <a:latin typeface="StoneSerif"/>
              </a:rPr>
              <a:t>In the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pushdown stacks only two operations are allowed</a:t>
            </a:r>
            <a:r>
              <a:rPr lang="en-US" sz="1800" dirty="0">
                <a:latin typeface="StoneSerif"/>
              </a:rPr>
              <a:t>: 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push</a:t>
            </a:r>
            <a:r>
              <a:rPr lang="en-US" sz="1800" dirty="0">
                <a:latin typeface="StoneSerif"/>
              </a:rPr>
              <a:t> the item into the stack, and 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pop</a:t>
            </a:r>
            <a:r>
              <a:rPr lang="en-US" sz="1800" dirty="0">
                <a:latin typeface="StoneSerif"/>
              </a:rPr>
              <a:t> the item out of the stack. </a:t>
            </a:r>
          </a:p>
          <a:p>
            <a:pPr lvl="1"/>
            <a:endParaRPr lang="en-US" sz="1800" dirty="0">
              <a:latin typeface="StoneSerif"/>
            </a:endParaRPr>
          </a:p>
          <a:p>
            <a:pPr lvl="1"/>
            <a:r>
              <a:rPr lang="en-US" sz="1800" dirty="0">
                <a:latin typeface="StoneSerif"/>
              </a:rPr>
              <a:t>A stack is a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limited access data structure </a:t>
            </a:r>
            <a:r>
              <a:rPr lang="en-US" sz="1800" dirty="0">
                <a:latin typeface="StoneSerif"/>
              </a:rPr>
              <a:t>- elements can be added and removed from the stack only at the top. </a:t>
            </a:r>
            <a:endParaRPr lang="en-US" sz="1800" dirty="0" smtClean="0">
              <a:latin typeface="StoneSerif"/>
            </a:endParaRPr>
          </a:p>
          <a:p>
            <a:pPr lvl="1"/>
            <a:endParaRPr lang="en-US" sz="1800" dirty="0" smtClean="0">
              <a:latin typeface="StoneSerif"/>
            </a:endParaRPr>
          </a:p>
          <a:p>
            <a:pPr lvl="1"/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Push</a:t>
            </a:r>
            <a:r>
              <a:rPr lang="en-US" sz="1800" dirty="0">
                <a:latin typeface="StoneSerif"/>
              </a:rPr>
              <a:t> adds an item to the top of the stack, 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pop</a:t>
            </a:r>
            <a:r>
              <a:rPr lang="en-US" sz="1800" dirty="0">
                <a:latin typeface="StoneSerif"/>
              </a:rPr>
              <a:t> removes the item from the top. </a:t>
            </a:r>
          </a:p>
          <a:p>
            <a:pPr lvl="1"/>
            <a:endParaRPr lang="en-US" sz="1800" dirty="0">
              <a:latin typeface="StoneSerif"/>
            </a:endParaRPr>
          </a:p>
          <a:p>
            <a:pPr lvl="1"/>
            <a:r>
              <a:rPr lang="en-US" sz="1800" dirty="0">
                <a:latin typeface="StoneSerif"/>
              </a:rPr>
              <a:t>A helpful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analogy</a:t>
            </a:r>
            <a:r>
              <a:rPr lang="en-US" sz="1800" dirty="0">
                <a:latin typeface="StoneSerif"/>
              </a:rPr>
              <a:t> is to think of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 stack of books</a:t>
            </a:r>
            <a:r>
              <a:rPr lang="en-US" sz="1800" dirty="0">
                <a:latin typeface="StoneSerif"/>
              </a:rPr>
              <a:t>; you can remove only the top book, also you can add a new book on the top.</a:t>
            </a:r>
          </a:p>
        </p:txBody>
      </p:sp>
    </p:spTree>
    <p:extLst>
      <p:ext uri="{BB962C8B-B14F-4D97-AF65-F5344CB8AC3E}">
        <p14:creationId xmlns:p14="http://schemas.microsoft.com/office/powerpoint/2010/main" val="47661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5539C-9279-03F3-039D-BC789A6C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Stacks and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110D3-CEFF-AD00-B0BD-5C65D0E4D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ans-Semibold"/>
              </a:rPr>
              <a:t>Stacks</a:t>
            </a:r>
          </a:p>
          <a:p>
            <a:pPr lvl="1"/>
            <a:endParaRPr lang="en-US" sz="2200" dirty="0">
              <a:latin typeface="StoneSerif"/>
            </a:endParaRP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 stack allows access to only one data item: the last item inserted</a:t>
            </a:r>
            <a:r>
              <a:rPr lang="en-US" sz="2000" dirty="0">
                <a:latin typeface="StoneSerif"/>
              </a:rPr>
              <a:t>.</a:t>
            </a:r>
          </a:p>
          <a:p>
            <a:pPr lvl="1"/>
            <a:endParaRPr lang="en-US" sz="2000" dirty="0">
              <a:latin typeface="StoneSerif"/>
            </a:endParaRPr>
          </a:p>
          <a:p>
            <a:pPr lvl="1"/>
            <a:r>
              <a:rPr lang="en-US" sz="2000" dirty="0">
                <a:latin typeface="StoneSerif"/>
              </a:rPr>
              <a:t>If you remove this item, you can access the next-to-last item inserted, and so on.</a:t>
            </a:r>
          </a:p>
          <a:p>
            <a:pPr lvl="1"/>
            <a:endParaRPr lang="en-US" sz="2000" dirty="0">
              <a:latin typeface="StoneSerif"/>
            </a:endParaRP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Most microprocessors use a stack-based architecture</a:t>
            </a:r>
            <a:r>
              <a:rPr lang="en-US" sz="2000" dirty="0">
                <a:latin typeface="StoneSerif"/>
              </a:rPr>
              <a:t>.</a:t>
            </a:r>
          </a:p>
          <a:p>
            <a:pPr lvl="1"/>
            <a:endParaRPr lang="en-US" sz="2000" dirty="0">
              <a:latin typeface="StoneSerif"/>
            </a:endParaRPr>
          </a:p>
          <a:p>
            <a:pPr lvl="1"/>
            <a:r>
              <a:rPr lang="en-US" sz="2000" dirty="0">
                <a:latin typeface="StoneSerif"/>
              </a:rPr>
              <a:t>Items can be both pushed and popped from the stack implemented in the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in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constant O(1) time</a:t>
            </a:r>
            <a:r>
              <a:rPr lang="en-US" sz="2000" dirty="0">
                <a:latin typeface="StoneSerif"/>
              </a:rPr>
              <a:t>. That is, the time is not dependent on how many items are in the stack and is therefore very quick. No comparisons or moves are necessary.</a:t>
            </a:r>
          </a:p>
        </p:txBody>
      </p:sp>
    </p:spTree>
    <p:extLst>
      <p:ext uri="{BB962C8B-B14F-4D97-AF65-F5344CB8AC3E}">
        <p14:creationId xmlns:p14="http://schemas.microsoft.com/office/powerpoint/2010/main" val="7733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5539C-9279-03F3-039D-BC789A6C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Stacks and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110D3-CEFF-AD00-B0BD-5C65D0E4D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ans-Semibold"/>
              </a:rPr>
              <a:t>Queues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 queue </a:t>
            </a:r>
            <a:r>
              <a:rPr lang="en-US" sz="2000" dirty="0">
                <a:latin typeface="StoneSerif"/>
              </a:rPr>
              <a:t>is like a stack, except that in a queue the first item inserted is the first to be removed (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First-In-First-Out, FIFO</a:t>
            </a:r>
            <a:r>
              <a:rPr lang="en-US" sz="2000" dirty="0">
                <a:latin typeface="StoneSerif"/>
              </a:rPr>
              <a:t>).</a:t>
            </a:r>
          </a:p>
          <a:p>
            <a:pPr lvl="1"/>
            <a:endParaRPr lang="en-US" sz="2000" b="0" i="0" u="none" strike="noStrike" baseline="0" dirty="0">
              <a:latin typeface="StoneSerif"/>
            </a:endParaRPr>
          </a:p>
          <a:p>
            <a:pPr lvl="1"/>
            <a:r>
              <a:rPr lang="en-US" sz="2000" b="0" i="0" u="none" strike="noStrike" baseline="0" dirty="0">
                <a:latin typeface="StoneSerif"/>
              </a:rPr>
              <a:t>The two basic queue operations are </a:t>
            </a:r>
            <a:r>
              <a:rPr lang="en-US" sz="2000" b="0" i="1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inserting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an item</a:t>
            </a:r>
            <a:r>
              <a:rPr lang="en-US" sz="2000" b="0" i="0" u="none" strike="noStrike" baseline="0" dirty="0">
                <a:latin typeface="StoneSerif"/>
              </a:rPr>
              <a:t>, which is placed at the rear of the queue, and </a:t>
            </a:r>
            <a:r>
              <a:rPr lang="en-US" sz="2000" b="0" i="1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removing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an item</a:t>
            </a:r>
            <a:r>
              <a:rPr lang="en-US" sz="2000" b="0" i="0" u="none" strike="noStrike" baseline="0" dirty="0">
                <a:latin typeface="StoneSerif"/>
              </a:rPr>
              <a:t>, which is taken from the front of the queue.</a:t>
            </a:r>
          </a:p>
          <a:p>
            <a:pPr lvl="2"/>
            <a:endParaRPr lang="en-US" sz="1800" dirty="0">
              <a:latin typeface="StoneSerif"/>
            </a:endParaRPr>
          </a:p>
          <a:p>
            <a:pPr lvl="2"/>
            <a:r>
              <a:rPr lang="en-US" sz="19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Enqueue</a:t>
            </a:r>
            <a:r>
              <a:rPr lang="en-US" sz="1900" dirty="0">
                <a:latin typeface="StoneSerif"/>
              </a:rPr>
              <a:t> means to insert an item into the back of the queue, </a:t>
            </a:r>
            <a:r>
              <a:rPr lang="en-US" sz="19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dequeue</a:t>
            </a:r>
            <a:r>
              <a:rPr lang="en-US" sz="1900" dirty="0">
                <a:latin typeface="StoneSerif"/>
              </a:rPr>
              <a:t> means removing the front item. </a:t>
            </a:r>
            <a:endParaRPr lang="en-US" sz="2200" dirty="0">
              <a:latin typeface="StoneSerif"/>
            </a:endParaRPr>
          </a:p>
          <a:p>
            <a:pPr lvl="1"/>
            <a:r>
              <a:rPr lang="en-US" sz="2000" dirty="0">
                <a:latin typeface="StoneSerif"/>
              </a:rPr>
              <a:t>An excellent example of a queue is a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line of students</a:t>
            </a:r>
            <a:r>
              <a:rPr lang="en-US" sz="2000" dirty="0">
                <a:latin typeface="StoneSerif"/>
              </a:rPr>
              <a:t> in the food court of the UC. New additions to a line made to the back of the queue, while removal (or serving) happens in the front. </a:t>
            </a:r>
          </a:p>
          <a:p>
            <a:pPr lvl="1"/>
            <a:endParaRPr lang="en-US" sz="2200" dirty="0">
              <a:latin typeface="StoneSerif"/>
            </a:endParaRPr>
          </a:p>
        </p:txBody>
      </p:sp>
    </p:spTree>
    <p:extLst>
      <p:ext uri="{BB962C8B-B14F-4D97-AF65-F5344CB8AC3E}">
        <p14:creationId xmlns:p14="http://schemas.microsoft.com/office/powerpoint/2010/main" val="113807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5539C-9279-03F3-039D-BC789A6C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Stacks and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110D3-CEFF-AD00-B0BD-5C65D0E4D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ans-Semibold"/>
              </a:rPr>
              <a:t>Queues</a:t>
            </a:r>
          </a:p>
          <a:p>
            <a:pPr lvl="1"/>
            <a:r>
              <a:rPr lang="en-US" sz="2000" b="0" i="0" u="none" strike="noStrike" baseline="0" dirty="0">
                <a:latin typeface="StoneSerif"/>
              </a:rPr>
              <a:t>As with a stack, items can be inserted and removed from a queue in O(1) time.</a:t>
            </a:r>
            <a:endParaRPr lang="en-US" sz="2000" dirty="0">
              <a:latin typeface="StoneSerif"/>
            </a:endParaRPr>
          </a:p>
          <a:p>
            <a:pPr lvl="1"/>
            <a:endParaRPr lang="en-US" sz="2000" b="0" i="0" u="none" strike="noStrike" baseline="0" dirty="0">
              <a:latin typeface="StoneSerif"/>
            </a:endParaRPr>
          </a:p>
          <a:p>
            <a:pPr lvl="1"/>
            <a:r>
              <a:rPr lang="en-US" sz="2000" b="0" i="0" u="none" strike="noStrike" baseline="0" dirty="0">
                <a:latin typeface="StoneSerif"/>
              </a:rPr>
              <a:t>A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priority queue </a:t>
            </a:r>
            <a:r>
              <a:rPr lang="en-US" sz="2000" b="0" i="0" u="none" strike="noStrike" baseline="0" dirty="0">
                <a:latin typeface="StoneSerif"/>
              </a:rPr>
              <a:t>is a more specialized data structure than a stack or a queue.</a:t>
            </a:r>
            <a:endParaRPr lang="en-US" sz="2000" dirty="0">
              <a:latin typeface="StoneSerif"/>
            </a:endParaRPr>
          </a:p>
          <a:p>
            <a:pPr lvl="1"/>
            <a:endParaRPr lang="en-US" sz="2000" b="0" i="0" u="none" strike="noStrike" baseline="0" dirty="0">
              <a:latin typeface="StoneSerif"/>
            </a:endParaRPr>
          </a:p>
          <a:p>
            <a:pPr lvl="1"/>
            <a:r>
              <a:rPr lang="en-US" sz="2000" b="0" i="0" u="none" strike="noStrike" baseline="0" dirty="0">
                <a:latin typeface="StoneSerif"/>
              </a:rPr>
              <a:t>Like an ordinary queue, a priority queue has a front and a rear, and items are removed from the front. However, in a priority queue, items are ordered by key value so that the item with the lowest key (or in some implementations the highest key) is always at the front.</a:t>
            </a:r>
          </a:p>
          <a:p>
            <a:pPr lvl="1"/>
            <a:endParaRPr lang="en-US" sz="2000" b="0" i="0" u="none" strike="noStrike" baseline="0" dirty="0">
              <a:latin typeface="StoneSerif"/>
            </a:endParaRPr>
          </a:p>
          <a:p>
            <a:pPr lvl="1"/>
            <a:r>
              <a:rPr lang="en-US" sz="2000" b="0" i="0" u="none" strike="noStrike" baseline="0" dirty="0">
                <a:latin typeface="StoneSerif"/>
              </a:rPr>
              <a:t>In the priority-queue implementation we show here,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insertion runs in O(N) time, while deletion takes O(1) time</a:t>
            </a:r>
            <a:r>
              <a:rPr lang="en-US" sz="2000" b="0" i="0" u="none" strike="noStrike" baseline="0" dirty="0">
                <a:latin typeface="StoneSerif"/>
              </a:rPr>
              <a:t>.</a:t>
            </a:r>
            <a:endParaRPr lang="en-US" sz="2000" dirty="0">
              <a:latin typeface="StoneSerif"/>
            </a:endParaRPr>
          </a:p>
        </p:txBody>
      </p:sp>
    </p:spTree>
    <p:extLst>
      <p:ext uri="{BB962C8B-B14F-4D97-AF65-F5344CB8AC3E}">
        <p14:creationId xmlns:p14="http://schemas.microsoft.com/office/powerpoint/2010/main" val="58642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1163-1DB9-E314-DF3B-57752877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</a:rPr>
              <a:t>Question 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80FE-7741-6E7B-E9A9-7E36CE676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en-US" sz="2200" b="0" i="0" u="none" strike="noStrike" baseline="0" dirty="0">
                <a:latin typeface="StoneSerif"/>
              </a:rPr>
              <a:t>The term </a:t>
            </a:r>
            <a:r>
              <a:rPr lang="en-US" sz="2200" b="0" i="1" u="none" strike="noStrike" baseline="0" dirty="0">
                <a:latin typeface="StoneSerif-Italic"/>
              </a:rPr>
              <a:t>priority </a:t>
            </a:r>
            <a:r>
              <a:rPr lang="en-US" sz="2200" b="0" i="0" u="none" strike="noStrike" baseline="0" dirty="0">
                <a:latin typeface="StoneSerif"/>
              </a:rPr>
              <a:t>in a priority queue means that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000" dirty="0">
                <a:latin typeface="StoneSans-Semibold"/>
              </a:rPr>
              <a:t>T</a:t>
            </a:r>
            <a:r>
              <a:rPr lang="en-US" sz="2000" i="0" u="none" strike="noStrike" baseline="0" dirty="0">
                <a:latin typeface="StoneSerif"/>
              </a:rPr>
              <a:t>he highest priority items are inserted first.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000" dirty="0">
                <a:latin typeface="StoneSans-Semibold"/>
              </a:rPr>
              <a:t>T</a:t>
            </a:r>
            <a:r>
              <a:rPr lang="en-US" sz="2000" i="0" u="none" strike="noStrike" baseline="0" dirty="0">
                <a:latin typeface="StoneSerif"/>
              </a:rPr>
              <a:t>he programmer must prioritize access to the underlying array.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000" dirty="0">
                <a:latin typeface="StoneSans-Semibold"/>
              </a:rPr>
              <a:t>T</a:t>
            </a:r>
            <a:r>
              <a:rPr lang="en-US" sz="2000" i="0" u="none" strike="noStrike" baseline="0" dirty="0">
                <a:latin typeface="StoneSerif"/>
              </a:rPr>
              <a:t>he underlying array is sorted by the priority of the items.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000" dirty="0">
                <a:latin typeface="StoneSans-Semibold"/>
              </a:rPr>
              <a:t>T</a:t>
            </a:r>
            <a:r>
              <a:rPr lang="en-US" sz="2000" i="0" u="none" strike="noStrike" baseline="0" dirty="0">
                <a:latin typeface="StoneSerif"/>
              </a:rPr>
              <a:t>he lowest priority items are deleted first.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793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55D9-79A3-5FF2-4C0F-86B59E0B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B173-C834-6B6A-E6B3-02BF90F73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“Arrays,” we saw that arrays had certain disadvantages as data storage structures. </a:t>
            </a:r>
          </a:p>
          <a:p>
            <a:pPr algn="l"/>
            <a:r>
              <a:rPr lang="en-US" sz="22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StoneSerif"/>
              </a:rPr>
              <a:t>In an unordered array, searching is slow, whereas in an ordered array, insertion is slow.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 </a:t>
            </a:r>
          </a:p>
          <a:p>
            <a:pPr algn="l"/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In both kinds of arrays, deletion is slow. Also, the size of an array can’t be changed after it’s created.</a:t>
            </a:r>
          </a:p>
          <a:p>
            <a:pPr algn="l"/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StoneSerif"/>
            </a:endParaRPr>
          </a:p>
          <a:p>
            <a:pPr algn="l"/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Linked lists are probably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StoneSerif"/>
              </a:rPr>
              <a:t>the second most commonly used general purpose storage structures after arrays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.</a:t>
            </a:r>
          </a:p>
          <a:p>
            <a:pPr algn="l"/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StoneSerif"/>
            </a:endParaRPr>
          </a:p>
          <a:p>
            <a:pPr algn="l"/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Is a versatile mechanism suitable for use in many kinds of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StoneSerif"/>
              </a:rPr>
              <a:t>general-purpose databases</a:t>
            </a:r>
          </a:p>
          <a:p>
            <a:pPr algn="l"/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53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D29A-059E-3676-F604-F82B6090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6BEE0-53B2-A59C-1F01-67BCF66B7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1690688"/>
            <a:ext cx="5976257" cy="435133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200" b="0" i="0" u="none" strike="noStrike" baseline="0" dirty="0">
                <a:latin typeface="StoneSerif"/>
              </a:rPr>
              <a:t>A linked list consists of one </a:t>
            </a:r>
            <a:r>
              <a:rPr lang="en-US" sz="2200" b="0" i="0" u="none" strike="noStrike" baseline="0" dirty="0" err="1">
                <a:solidFill>
                  <a:schemeClr val="accent2">
                    <a:lumMod val="75000"/>
                  </a:schemeClr>
                </a:solidFill>
                <a:latin typeface="MacUSADigital-Regular"/>
              </a:rPr>
              <a:t>linkedList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acUSADigital-Regular"/>
              </a:rPr>
              <a:t>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object </a:t>
            </a:r>
            <a:r>
              <a:rPr lang="en-US" sz="2200" b="0" i="0" u="none" strike="noStrike" baseline="0" dirty="0">
                <a:latin typeface="StoneSerif"/>
              </a:rPr>
              <a:t>and a number of </a:t>
            </a:r>
            <a:r>
              <a:rPr lang="en-US" sz="2200" b="0" i="0" u="none" strike="noStrike" baseline="0" dirty="0">
                <a:latin typeface="MacUSADigital-Regular"/>
              </a:rPr>
              <a:t>Link </a:t>
            </a:r>
            <a:r>
              <a:rPr lang="en-US" sz="2200" b="0" i="0" u="none" strike="noStrike" baseline="0" dirty="0">
                <a:latin typeface="StoneSerif"/>
              </a:rPr>
              <a:t>objects.</a:t>
            </a:r>
          </a:p>
          <a:p>
            <a:pPr algn="l"/>
            <a:r>
              <a:rPr lang="en-US" sz="2200" b="0" i="0" u="none" strike="noStrike" baseline="0" dirty="0">
                <a:latin typeface="StoneSerif"/>
              </a:rPr>
              <a:t>The </a:t>
            </a:r>
            <a:r>
              <a:rPr lang="en-US" sz="2200" b="0" i="0" u="none" strike="noStrike" baseline="0" dirty="0" err="1">
                <a:latin typeface="MacUSADigital-Regular"/>
              </a:rPr>
              <a:t>linkedList</a:t>
            </a:r>
            <a:r>
              <a:rPr lang="en-US" sz="2200" b="0" i="0" u="none" strike="noStrike" baseline="0" dirty="0">
                <a:latin typeface="MacUSADigital-Regular"/>
              </a:rPr>
              <a:t> </a:t>
            </a:r>
            <a:r>
              <a:rPr lang="en-US" sz="2200" b="0" i="0" u="none" strike="noStrike" baseline="0" dirty="0">
                <a:latin typeface="StoneSerif"/>
              </a:rPr>
              <a:t>object contains a </a:t>
            </a:r>
            <a:r>
              <a:rPr lang="en-US" sz="2200" b="0" i="0" u="none" strike="noStrike" baseline="0" dirty="0" smtClean="0">
                <a:latin typeface="StoneSerif"/>
              </a:rPr>
              <a:t>reference </a:t>
            </a:r>
            <a:r>
              <a:rPr lang="en-US" sz="2200" b="0" i="0" u="none" strike="noStrike" baseline="0" dirty="0">
                <a:latin typeface="StoneSerif"/>
              </a:rPr>
              <a:t>to the first link in the list.</a:t>
            </a:r>
          </a:p>
          <a:p>
            <a:pPr algn="l"/>
            <a:endParaRPr lang="en-US" sz="2200" b="0" i="0" u="none" strike="noStrike" baseline="0" dirty="0">
              <a:latin typeface="StoneSerif"/>
            </a:endParaRPr>
          </a:p>
          <a:p>
            <a:pPr algn="l"/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Each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acUSADigital-Regular"/>
              </a:rPr>
              <a:t>Link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object contains data and a reference, often called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acUSADigital-Regular"/>
              </a:rPr>
              <a:t>next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, to the next link in the list</a:t>
            </a:r>
            <a:r>
              <a:rPr lang="en-US" sz="22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2200" b="0" i="0" u="none" strike="noStrike" baseline="0" dirty="0">
              <a:latin typeface="StoneSerif"/>
            </a:endParaRPr>
          </a:p>
          <a:p>
            <a:pPr algn="l"/>
            <a:r>
              <a:rPr lang="en-US" sz="2200" b="0" i="0" u="none" strike="noStrike" baseline="0" dirty="0">
                <a:latin typeface="StoneSerif"/>
              </a:rPr>
              <a:t>A </a:t>
            </a:r>
            <a:r>
              <a:rPr lang="en-US" sz="2200" b="0" i="0" u="none" strike="noStrike" baseline="0" dirty="0">
                <a:latin typeface="MacUSADigital-Regular"/>
              </a:rPr>
              <a:t>next </a:t>
            </a:r>
            <a:r>
              <a:rPr lang="en-US" sz="2200" b="0" i="0" u="none" strike="noStrike" baseline="0" dirty="0">
                <a:latin typeface="StoneSerif"/>
              </a:rPr>
              <a:t>value of </a:t>
            </a:r>
            <a:r>
              <a:rPr lang="en-US" sz="2200" b="0" i="0" u="none" strike="noStrike" baseline="0" dirty="0">
                <a:latin typeface="MacUSADigital-Regular"/>
              </a:rPr>
              <a:t>null </a:t>
            </a:r>
            <a:r>
              <a:rPr lang="en-US" sz="2200" b="0" i="0" u="none" strike="noStrike" baseline="0" dirty="0">
                <a:latin typeface="StoneSerif"/>
              </a:rPr>
              <a:t>signals the end of the list.</a:t>
            </a:r>
          </a:p>
          <a:p>
            <a:pPr algn="l"/>
            <a:endParaRPr lang="en-US" sz="2200" b="0" i="0" u="none" strike="noStrike" baseline="0" dirty="0">
              <a:latin typeface="StoneSerif"/>
            </a:endParaRPr>
          </a:p>
          <a:p>
            <a:pPr algn="l"/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Inserting an item at the beginning of a linked list involves changing the new link’s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acUSADigital-Regular"/>
              </a:rPr>
              <a:t>next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field to point to the old first link and changing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acUSADigital-Regular"/>
              </a:rPr>
              <a:t>first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to point to the new item.</a:t>
            </a:r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26" name="Picture 2" descr="linked list data structure ...">
            <a:extLst>
              <a:ext uri="{FF2B5EF4-FFF2-40B4-BE49-F238E27FC236}">
                <a16:creationId xmlns:a16="http://schemas.microsoft.com/office/drawing/2014/main" id="{4F8D76DB-A6DE-B66A-0292-DBC67E976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771" y="2588759"/>
            <a:ext cx="5180465" cy="140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9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E245-D3AA-FDFB-16C8-22D1E99C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4178D-3B0B-62E3-260A-D36CF39E7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In a linked list,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StoneSerif"/>
              </a:rPr>
              <a:t>each data item is embedded in a link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.</a:t>
            </a:r>
          </a:p>
          <a:p>
            <a:pPr algn="l"/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StoneSerif"/>
            </a:endParaRPr>
          </a:p>
          <a:p>
            <a:pPr algn="l"/>
            <a:r>
              <a:rPr lang="en-US" sz="20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StoneSerif"/>
              </a:rPr>
              <a:t>A linked list is a sequential access data structure, where each element can be accessed only in particular order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.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A typical illustration of sequential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StoneSerif"/>
              </a:rPr>
              <a:t>access is a roll of paper or tape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StoneSerif"/>
              </a:rPr>
              <a:t> - all prior material must be unrolled in order to get to data you want.</a:t>
            </a:r>
          </a:p>
          <a:p>
            <a:pPr marL="0" indent="0">
              <a:buNone/>
            </a:pPr>
            <a:endParaRPr lang="en-US" sz="2000" i="0" u="none" strike="noStrike" baseline="0" dirty="0">
              <a:latin typeface="StoneSerif"/>
            </a:endParaRPr>
          </a:p>
          <a:p>
            <a:r>
              <a:rPr lang="en-US" sz="200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 Simple Linked List</a:t>
            </a:r>
          </a:p>
          <a:p>
            <a:pPr lvl="2"/>
            <a:r>
              <a:rPr lang="en-US" sz="1800" dirty="0">
                <a:latin typeface="StoneSerif"/>
              </a:rPr>
              <a:t>Inserting an item at the beginning of the list</a:t>
            </a:r>
          </a:p>
          <a:p>
            <a:pPr lvl="2"/>
            <a:r>
              <a:rPr lang="en-US" sz="1800" dirty="0">
                <a:latin typeface="StoneSerif"/>
              </a:rPr>
              <a:t>Deleting the item at the beginning of the list</a:t>
            </a:r>
          </a:p>
          <a:p>
            <a:pPr lvl="2"/>
            <a:r>
              <a:rPr lang="en-US" sz="1800" dirty="0">
                <a:latin typeface="StoneSerif"/>
              </a:rPr>
              <a:t>Iterating through the list to display its contents</a:t>
            </a:r>
          </a:p>
        </p:txBody>
      </p:sp>
    </p:spTree>
    <p:extLst>
      <p:ext uri="{BB962C8B-B14F-4D97-AF65-F5344CB8AC3E}">
        <p14:creationId xmlns:p14="http://schemas.microsoft.com/office/powerpoint/2010/main" val="333646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7B09-3F71-F204-EC84-EC755414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79D29-3CB4-D04D-FCF7-B403BDD78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Double-Ended Lists</a:t>
            </a:r>
          </a:p>
          <a:p>
            <a:pPr lvl="1"/>
            <a:r>
              <a:rPr lang="en-US" sz="19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 potential problem with ordinary linked lists is that it’s difficult to traverse backward along the list</a:t>
            </a:r>
            <a:r>
              <a:rPr lang="en-US" sz="1900" b="0" i="0" u="none" strike="noStrike" baseline="0" dirty="0">
                <a:latin typeface="StoneSerif"/>
              </a:rPr>
              <a:t>.</a:t>
            </a:r>
            <a:endParaRPr lang="en-US" sz="1900" dirty="0">
              <a:latin typeface="StoneSerif"/>
            </a:endParaRPr>
          </a:p>
          <a:p>
            <a:pPr lvl="1"/>
            <a:r>
              <a:rPr lang="en-US" sz="1900" dirty="0">
                <a:latin typeface="StoneSerif"/>
              </a:rPr>
              <a:t>A double-ended list is similar to </a:t>
            </a:r>
            <a:r>
              <a:rPr lang="en-US" sz="19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an ordinary linked list</a:t>
            </a:r>
            <a:r>
              <a:rPr lang="en-US" sz="1900" dirty="0">
                <a:latin typeface="StoneSerif"/>
              </a:rPr>
              <a:t>, but it has one additional feature: </a:t>
            </a:r>
            <a:r>
              <a:rPr lang="en-US" sz="19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 reference to the last link as well as to the first</a:t>
            </a:r>
            <a:r>
              <a:rPr lang="en-US" sz="1900" dirty="0">
                <a:latin typeface="StoneSerif"/>
              </a:rPr>
              <a:t>.</a:t>
            </a:r>
          </a:p>
          <a:p>
            <a:pPr lvl="1"/>
            <a:endParaRPr lang="en-US" sz="1900" dirty="0">
              <a:latin typeface="StoneSerif"/>
            </a:endParaRPr>
          </a:p>
          <a:p>
            <a:pPr lvl="1"/>
            <a:endParaRPr lang="en-US" sz="1900" dirty="0">
              <a:latin typeface="StoneSerif"/>
            </a:endParaRPr>
          </a:p>
          <a:p>
            <a:pPr lvl="1"/>
            <a:endParaRPr lang="en-US" sz="1900" dirty="0">
              <a:latin typeface="StoneSerif"/>
            </a:endParaRPr>
          </a:p>
          <a:p>
            <a:pPr lvl="1"/>
            <a:endParaRPr lang="en-US" sz="1900" dirty="0">
              <a:latin typeface="StoneSerif"/>
            </a:endParaRPr>
          </a:p>
          <a:p>
            <a:pPr lvl="1"/>
            <a:endParaRPr lang="en-US" sz="1900" dirty="0">
              <a:latin typeface="StoneSerif"/>
            </a:endParaRPr>
          </a:p>
          <a:p>
            <a:pPr lvl="1"/>
            <a:endParaRPr lang="en-US" sz="1900" dirty="0">
              <a:latin typeface="StoneSerif"/>
            </a:endParaRPr>
          </a:p>
          <a:p>
            <a:pPr lvl="1"/>
            <a:endParaRPr lang="en-US" sz="1900" dirty="0">
              <a:latin typeface="StoneSerif"/>
            </a:endParaRPr>
          </a:p>
          <a:p>
            <a:pPr lvl="1"/>
            <a:endParaRPr lang="en-US" sz="1900" dirty="0">
              <a:latin typeface="StoneSerif"/>
            </a:endParaRPr>
          </a:p>
          <a:p>
            <a:pPr lvl="1"/>
            <a:r>
              <a:rPr lang="en-US" sz="19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It allows you to traverse backward as well as forward through the list</a:t>
            </a:r>
            <a:r>
              <a:rPr lang="en-US" sz="1900" b="0" i="0" u="none" strike="noStrike" baseline="0" dirty="0">
                <a:latin typeface="StoneSerif"/>
              </a:rPr>
              <a:t>.</a:t>
            </a:r>
            <a:endParaRPr lang="en-US" sz="1900" dirty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pPr lvl="1"/>
            <a:r>
              <a:rPr lang="en-US" sz="19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Access to the end of the list as well as the beginning makes the double-ended list suitable for certain situations that a single-ended list can’t handle efficiently</a:t>
            </a:r>
            <a:r>
              <a:rPr lang="en-US" sz="1900" dirty="0">
                <a:latin typeface="StoneSerif"/>
              </a:rPr>
              <a:t>.</a:t>
            </a:r>
          </a:p>
          <a:p>
            <a:pPr lvl="1"/>
            <a:r>
              <a:rPr lang="en-US" sz="1900" dirty="0">
                <a:latin typeface="StoneSerif"/>
              </a:rPr>
              <a:t>The insertion and deletion routines are similar to those in a single-ended list.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B62B10-E2CA-B72B-29AD-106387E3D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114" y="2984508"/>
            <a:ext cx="5624047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EC2E-D91C-CD01-3DB1-8B8D3E98B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90268-BE9F-ED7D-71F3-053E5297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042" y="1325563"/>
            <a:ext cx="10515600" cy="4351338"/>
          </a:xfrm>
        </p:spPr>
        <p:txBody>
          <a:bodyPr>
            <a:noAutofit/>
          </a:bodyPr>
          <a:lstStyle/>
          <a:p>
            <a:pPr algn="l"/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Insertion and deletion</a:t>
            </a:r>
            <a:r>
              <a:rPr lang="en-US" sz="2000" b="0" i="0" u="none" strike="noStrike" baseline="0" dirty="0">
                <a:latin typeface="StoneSerif"/>
              </a:rPr>
              <a:t> at the beginning of a linked list are very fast. They involve changing only one or two references, which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takes O(1) time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… O(1) means that it takes a constant time</a:t>
            </a:r>
          </a:p>
          <a:p>
            <a:pPr algn="l"/>
            <a:endParaRPr lang="en-US" sz="2000" b="0" i="0" u="none" strike="noStrike" baseline="0" dirty="0">
              <a:latin typeface="StoneSerif"/>
            </a:endParaRPr>
          </a:p>
          <a:p>
            <a:pPr algn="l"/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Finding, deleting, or inserting next to a specific item </a:t>
            </a:r>
            <a:r>
              <a:rPr lang="en-US" sz="2000" b="0" i="0" u="none" strike="noStrike" baseline="0" dirty="0">
                <a:latin typeface="StoneSerif"/>
              </a:rPr>
              <a:t>requires searching through, on the average, half the items in the list. This requires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O(N) comparisons</a:t>
            </a:r>
            <a:r>
              <a:rPr lang="en-US" sz="2000" b="0" i="0" u="none" strike="noStrike" baseline="0" dirty="0">
                <a:latin typeface="StoneSerif"/>
              </a:rPr>
              <a:t>. </a:t>
            </a:r>
          </a:p>
          <a:p>
            <a:pPr algn="l"/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An array is also O(N) for these operations, but the linked list is nevertheless faster because nothing needs to be moved when an item is inserted or deleted</a:t>
            </a:r>
            <a:r>
              <a:rPr lang="en-US" sz="20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2000" dirty="0">
              <a:latin typeface="StoneSerif"/>
            </a:endParaRPr>
          </a:p>
          <a:p>
            <a:pPr algn="l"/>
            <a:r>
              <a:rPr lang="en-US" sz="2000" dirty="0">
                <a:latin typeface="StoneSerif"/>
              </a:rPr>
              <a:t>A</a:t>
            </a:r>
            <a:r>
              <a:rPr lang="en-US" sz="2000" b="0" i="0" u="none" strike="noStrike" baseline="0" dirty="0">
                <a:latin typeface="StoneSerif"/>
              </a:rPr>
              <a:t>nother important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advantage of linked lists over arrays </a:t>
            </a:r>
            <a:r>
              <a:rPr lang="en-US" sz="2000" b="0" i="0" u="none" strike="noStrike" baseline="0" dirty="0">
                <a:latin typeface="StoneSerif"/>
              </a:rPr>
              <a:t>is that a linked list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uses exactly as much memory as it needs and can expand to fill all of available memory</a:t>
            </a:r>
            <a:r>
              <a:rPr lang="en-US" sz="20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2000" b="0" i="0" u="none" strike="noStrike" baseline="0" dirty="0">
              <a:latin typeface="StoneSerif"/>
            </a:endParaRPr>
          </a:p>
          <a:p>
            <a:pPr algn="l"/>
            <a:r>
              <a:rPr lang="en-US" sz="2000" b="0" i="0" u="none" strike="noStrike" baseline="0" dirty="0">
                <a:latin typeface="StoneSerif"/>
              </a:rPr>
              <a:t>The size of an array is fixed when it’s created; this usually leads to inefficiency because the array is too large, or to running out of room because the array is too small.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6380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C0E9-FB96-59FD-FB0D-B1A3A4F81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ED7C3-1454-F52A-2C16-179B70A29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b="0" i="0" u="none" strike="noStrike" baseline="0" dirty="0">
                <a:latin typeface="StoneSerif"/>
              </a:rPr>
              <a:t>Why might you want to use a tree?</a:t>
            </a:r>
          </a:p>
          <a:p>
            <a:pPr algn="l"/>
            <a:endParaRPr lang="en-US" sz="2200" b="0" i="0" u="none" strike="noStrike" baseline="0" dirty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pPr algn="l"/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Usually, because it combines the advantages of two other structures: an ordered array and a linked list.</a:t>
            </a:r>
          </a:p>
          <a:p>
            <a:pPr algn="l"/>
            <a:endParaRPr lang="en-US" sz="2200" dirty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pPr algn="l"/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Slow Insertion in an Ordered Array</a:t>
            </a:r>
            <a:r>
              <a:rPr lang="en-US" sz="2200" dirty="0">
                <a:latin typeface="StoneSerif"/>
              </a:rPr>
              <a:t>: if you do insertion and </a:t>
            </a:r>
            <a:r>
              <a:rPr lang="en-US" sz="2200" dirty="0" err="1">
                <a:latin typeface="StoneSerif"/>
              </a:rPr>
              <a:t>deletiaton</a:t>
            </a:r>
            <a:r>
              <a:rPr lang="en-US" sz="2200" dirty="0">
                <a:latin typeface="StoneSerif"/>
              </a:rPr>
              <a:t> arrays are a bad choice</a:t>
            </a:r>
          </a:p>
          <a:p>
            <a:pPr algn="l"/>
            <a:endParaRPr lang="en-US" sz="2200" i="0" u="none" strike="noStrike" baseline="0" dirty="0">
              <a:solidFill>
                <a:schemeClr val="accent2">
                  <a:lumMod val="75000"/>
                </a:schemeClr>
              </a:solidFill>
              <a:latin typeface="StoneSans-Semibold"/>
            </a:endParaRPr>
          </a:p>
          <a:p>
            <a:pPr algn="l"/>
            <a:r>
              <a:rPr lang="en-US" sz="220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ans-Semibold"/>
              </a:rPr>
              <a:t>Slow Searching in a Linked List</a:t>
            </a:r>
            <a:r>
              <a:rPr lang="en-US" sz="2200" b="1" i="0" u="none" strike="noStrike" baseline="0" dirty="0">
                <a:latin typeface="StoneSerif"/>
              </a:rPr>
              <a:t>: </a:t>
            </a:r>
          </a:p>
          <a:p>
            <a:pPr lvl="1"/>
            <a:r>
              <a:rPr lang="en-US" sz="1800" dirty="0">
                <a:latin typeface="StoneSerif"/>
              </a:rPr>
              <a:t>Insertions and deletions are quick to perform on a linked list. They are accomplished simply by changing a few references. These operations require O(1) time (the fastest Big O time).</a:t>
            </a:r>
          </a:p>
          <a:p>
            <a:r>
              <a:rPr lang="en-US" sz="2200" b="0" i="0" u="none" strike="noStrike" baseline="0" dirty="0">
                <a:latin typeface="StoneSerif"/>
              </a:rPr>
              <a:t>You can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search a tree quickly</a:t>
            </a:r>
            <a:r>
              <a:rPr lang="en-US" sz="2200" b="0" i="0" u="none" strike="noStrike" baseline="0" dirty="0">
                <a:latin typeface="StoneSerif"/>
              </a:rPr>
              <a:t>, as you can an ordered array, and you can also insert and delete items quickly, as you can with a linked list.</a:t>
            </a:r>
          </a:p>
          <a:p>
            <a:pPr marL="0" indent="0">
              <a:buNone/>
            </a:pPr>
            <a:endParaRPr lang="en-US" sz="2200" dirty="0">
              <a:latin typeface="StoneSerif"/>
            </a:endParaRPr>
          </a:p>
        </p:txBody>
      </p:sp>
    </p:spTree>
    <p:extLst>
      <p:ext uri="{BB962C8B-B14F-4D97-AF65-F5344CB8AC3E}">
        <p14:creationId xmlns:p14="http://schemas.microsoft.com/office/powerpoint/2010/main" val="414309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34F3-4C64-0E5A-0DA1-925EE7F6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What Is a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5B15B-74EC-7F89-AC02-73327B4E5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0" i="0" u="none" strike="noStrike" baseline="0" dirty="0">
                <a:latin typeface="StoneSerif"/>
              </a:rPr>
              <a:t>A tree consists of </a:t>
            </a:r>
            <a:r>
              <a:rPr lang="en-US" sz="2200" b="0" i="1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nodes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connected by </a:t>
            </a:r>
            <a:r>
              <a:rPr lang="en-US" sz="2200" b="0" i="1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edges</a:t>
            </a:r>
            <a:r>
              <a:rPr lang="en-US" sz="2200" b="0" i="0" u="none" strike="noStrike" baseline="0" dirty="0">
                <a:latin typeface="StoneSerif"/>
              </a:rPr>
              <a:t>.</a:t>
            </a:r>
          </a:p>
          <a:p>
            <a:pPr algn="l"/>
            <a:r>
              <a:rPr lang="en-US" sz="2200" dirty="0">
                <a:latin typeface="StoneSerif"/>
              </a:rPr>
              <a:t>T</a:t>
            </a:r>
            <a:r>
              <a:rPr lang="en-US" sz="2200" b="0" i="0" u="none" strike="noStrike" baseline="0" dirty="0">
                <a:latin typeface="StoneSerif"/>
              </a:rPr>
              <a:t>ree is actually an instance of a more general category called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 </a:t>
            </a:r>
            <a:r>
              <a:rPr lang="en-US" sz="2200" b="0" i="1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graph</a:t>
            </a:r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7A38C-C687-95FC-7F28-61454A12B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07" y="2801903"/>
            <a:ext cx="4392876" cy="2398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E710D1-8AF6-1725-B464-FB5E11699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162" y="2801903"/>
            <a:ext cx="5750283" cy="356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0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E2CC-A809-52B6-571F-8C522EE2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AE058-AB78-3967-2637-D0343FC0E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If every node in a tree can have at most two children, the tree is called a </a:t>
            </a:r>
            <a:r>
              <a:rPr lang="en-US" sz="2200" b="0" i="1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binary tree</a:t>
            </a:r>
            <a:r>
              <a:rPr lang="en-US" sz="22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2200" b="0" i="0" u="none" strike="noStrike" baseline="0" dirty="0">
              <a:latin typeface="StoneSerif"/>
            </a:endParaRPr>
          </a:p>
          <a:p>
            <a:pPr algn="l"/>
            <a:r>
              <a:rPr lang="en-US" sz="2200" b="0" i="0" u="none" strike="noStrike" baseline="0" dirty="0">
                <a:latin typeface="StoneSerif"/>
              </a:rPr>
              <a:t>The two children of each node in a binary tree are called the </a:t>
            </a:r>
            <a:r>
              <a:rPr lang="en-US" sz="2200" b="0" i="1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left child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and the </a:t>
            </a:r>
            <a:r>
              <a:rPr lang="en-US" sz="2200" b="0" i="1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-Italic"/>
              </a:rPr>
              <a:t>right child</a:t>
            </a:r>
          </a:p>
          <a:p>
            <a:pPr algn="l"/>
            <a:endParaRPr lang="en-US" sz="2200" b="1" i="0" u="none" strike="noStrike" baseline="0" dirty="0">
              <a:latin typeface="StoneSans-Semibold"/>
            </a:endParaRPr>
          </a:p>
          <a:p>
            <a:pPr algn="l"/>
            <a:r>
              <a:rPr lang="en-US" sz="220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ans-Semibold"/>
              </a:rPr>
              <a:t>Finding a Node</a:t>
            </a:r>
            <a:endParaRPr lang="en-US" sz="2200" dirty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pPr lvl="1"/>
            <a:r>
              <a:rPr lang="en-US" sz="2100" b="0" i="0" u="none" strike="noStrike" baseline="0" dirty="0">
                <a:latin typeface="StoneSerif"/>
              </a:rPr>
              <a:t>Finding a node with a specific key is the simplest of the major tree operations</a:t>
            </a:r>
            <a:endParaRPr lang="en-US" sz="2100" dirty="0">
              <a:latin typeface="StoneSerif"/>
            </a:endParaRPr>
          </a:p>
          <a:p>
            <a:pPr lvl="1"/>
            <a:endParaRPr lang="en-US" sz="2100" dirty="0">
              <a:latin typeface="StoneSerif"/>
            </a:endParaRPr>
          </a:p>
          <a:p>
            <a:pPr lvl="1"/>
            <a:r>
              <a:rPr lang="en-US" sz="2100" dirty="0">
                <a:latin typeface="StoneSerif"/>
              </a:rPr>
              <a:t>The time required to find a node depends on how many levels down it is situated.</a:t>
            </a:r>
          </a:p>
          <a:p>
            <a:pPr lvl="1"/>
            <a:endParaRPr lang="en-US" sz="2100" dirty="0">
              <a:latin typeface="StoneSerif"/>
            </a:endParaRPr>
          </a:p>
          <a:p>
            <a:pPr lvl="1"/>
            <a:r>
              <a:rPr lang="en-US" sz="21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This is O(</a:t>
            </a:r>
            <a:r>
              <a:rPr lang="en-US" sz="2100" dirty="0" err="1">
                <a:solidFill>
                  <a:schemeClr val="accent2">
                    <a:lumMod val="75000"/>
                  </a:schemeClr>
                </a:solidFill>
                <a:latin typeface="StoneSerif"/>
              </a:rPr>
              <a:t>logN</a:t>
            </a:r>
            <a:r>
              <a:rPr lang="en-US" sz="21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) time, or more specifically O(log_2N) time, the logarithm to the base 2</a:t>
            </a:r>
            <a:r>
              <a:rPr lang="en-US" sz="2100" dirty="0">
                <a:latin typeface="StoneSerif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95D90-98FD-8AB1-F314-D5B3A2F6B6A8}"/>
              </a:ext>
            </a:extLst>
          </p:cNvPr>
          <p:cNvSpPr txBox="1"/>
          <p:nvPr/>
        </p:nvSpPr>
        <p:spPr>
          <a:xfrm>
            <a:off x="322118" y="6037118"/>
            <a:ext cx="1122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latin typeface="StoneSerif"/>
              </a:rPr>
              <a:t>An unbalanced tree is one whose root has many more left </a:t>
            </a:r>
            <a:r>
              <a:rPr lang="en-US" sz="1800" b="0" i="0" u="none" strike="noStrike" baseline="0" dirty="0" err="1">
                <a:latin typeface="StoneSerif"/>
              </a:rPr>
              <a:t>descendents</a:t>
            </a:r>
            <a:r>
              <a:rPr lang="en-US" sz="1800" b="0" i="0" u="none" strike="noStrike" baseline="0" dirty="0">
                <a:latin typeface="StoneSerif"/>
              </a:rPr>
              <a:t> than right descendants, or vice versa.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48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E2CC-A809-52B6-571F-8C522EE2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AE058-AB78-3967-2637-D0343FC0E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ans-Semibold"/>
              </a:rPr>
              <a:t>Inserting a Node</a:t>
            </a:r>
          </a:p>
          <a:p>
            <a:pPr lvl="1"/>
            <a:r>
              <a:rPr lang="en-US" sz="2000" b="0" i="0" u="none" strike="noStrike" baseline="0" dirty="0">
                <a:latin typeface="StoneSerif"/>
              </a:rPr>
              <a:t>To insert a node, we must first find the place to insert it.</a:t>
            </a:r>
            <a:endParaRPr lang="en-US" sz="2000" b="1" dirty="0">
              <a:latin typeface="StoneSans-Semibold"/>
            </a:endParaRPr>
          </a:p>
          <a:p>
            <a:endParaRPr lang="en-US" sz="2200" b="1" i="0" u="none" strike="noStrike" baseline="0" dirty="0">
              <a:latin typeface="StoneSans-Semibold"/>
            </a:endParaRPr>
          </a:p>
          <a:p>
            <a:r>
              <a:rPr lang="en-US" sz="220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ans-Semibold"/>
              </a:rPr>
              <a:t>Deleting a Node</a:t>
            </a:r>
          </a:p>
          <a:p>
            <a:pPr lvl="1"/>
            <a:r>
              <a:rPr lang="en-US" sz="2000" b="0" i="0" u="none" strike="noStrike" baseline="0" dirty="0">
                <a:latin typeface="StoneSerif"/>
              </a:rPr>
              <a:t>Deleting a node is the </a:t>
            </a:r>
            <a:r>
              <a:rPr lang="en-US" sz="20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most complicated common operation required for binary search trees</a:t>
            </a:r>
            <a:r>
              <a:rPr lang="en-US" sz="2000" b="0" i="0" u="none" strike="noStrike" baseline="0" dirty="0">
                <a:latin typeface="StoneSerif"/>
              </a:rPr>
              <a:t>. However, deletion is important in many tree applications, and studying the details builds character.</a:t>
            </a:r>
            <a:endParaRPr lang="en-US" sz="2000" dirty="0">
              <a:latin typeface="StoneSerif"/>
            </a:endParaRPr>
          </a:p>
        </p:txBody>
      </p:sp>
    </p:spTree>
    <p:extLst>
      <p:ext uri="{BB962C8B-B14F-4D97-AF65-F5344CB8AC3E}">
        <p14:creationId xmlns:p14="http://schemas.microsoft.com/office/powerpoint/2010/main" val="182676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70DB-41C1-E400-6194-8BC3FFE3F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EE7F6-9298-5520-F07D-B038BFFFE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 hash table </a:t>
            </a:r>
            <a:r>
              <a:rPr lang="en-US" sz="2200" dirty="0">
                <a:latin typeface="StoneSerif"/>
              </a:rPr>
              <a:t>is a data structure that offers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very fast insertion and searching</a:t>
            </a:r>
            <a:r>
              <a:rPr lang="en-US" sz="2200" dirty="0">
                <a:latin typeface="StoneSerif"/>
              </a:rPr>
              <a:t>.</a:t>
            </a:r>
          </a:p>
          <a:p>
            <a:r>
              <a:rPr lang="en-US" sz="2200" dirty="0">
                <a:latin typeface="StoneSerif"/>
              </a:rPr>
              <a:t>Is a 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data structure </a:t>
            </a:r>
            <a:r>
              <a:rPr lang="en-US" sz="2200" dirty="0">
                <a:latin typeface="StoneSerif"/>
              </a:rPr>
              <a:t>that implements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an associative array</a:t>
            </a:r>
            <a:r>
              <a:rPr lang="en-US" sz="2200" dirty="0">
                <a:latin typeface="StoneSerif"/>
              </a:rPr>
              <a:t>, also called a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dictionary</a:t>
            </a:r>
            <a:r>
              <a:rPr lang="en-US" sz="2200" dirty="0">
                <a:latin typeface="StoneSerif"/>
              </a:rPr>
              <a:t>, which is an abstract data type that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maps keys to values</a:t>
            </a:r>
            <a:r>
              <a:rPr lang="en-US" sz="2200" dirty="0">
                <a:latin typeface="StoneSerif"/>
              </a:rPr>
              <a:t>. </a:t>
            </a:r>
          </a:p>
          <a:p>
            <a:pPr algn="l"/>
            <a:endParaRPr lang="en-US" sz="2200" dirty="0">
              <a:latin typeface="StoneSerif"/>
            </a:endParaRPr>
          </a:p>
          <a:p>
            <a:pPr marL="0" indent="0" algn="l">
              <a:buNone/>
            </a:pPr>
            <a:endParaRPr lang="en-US" sz="2200" b="0" i="0" u="none" strike="noStrike" baseline="0" dirty="0">
              <a:latin typeface="StoneSerif"/>
            </a:endParaRPr>
          </a:p>
          <a:p>
            <a:pPr marL="0" indent="0" algn="l">
              <a:buNone/>
            </a:pPr>
            <a:endParaRPr lang="en-US" sz="22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AECBE79-D317-9E15-A5F4-85091934D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466" y="2931935"/>
            <a:ext cx="4444278" cy="324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2F9ECF-F114-9175-A45F-A0156181F53A}"/>
              </a:ext>
            </a:extLst>
          </p:cNvPr>
          <p:cNvSpPr txBox="1"/>
          <p:nvPr/>
        </p:nvSpPr>
        <p:spPr>
          <a:xfrm>
            <a:off x="1908077" y="6308209"/>
            <a:ext cx="773801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 an array of </a:t>
            </a:r>
            <a:r>
              <a:rPr lang="en-US" b="0" i="1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buckets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or </a:t>
            </a:r>
            <a:r>
              <a:rPr lang="en-US" b="0" i="1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slots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from which the desired value can be found.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9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70DB-41C1-E400-6194-8BC3FFE3F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EE7F6-9298-5520-F07D-B038BFFFE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Hash tables do have several disadvantages</a:t>
            </a:r>
            <a:r>
              <a:rPr lang="en-US" sz="2200" dirty="0">
                <a:latin typeface="StoneSerif"/>
              </a:rPr>
              <a:t>: t</a:t>
            </a:r>
            <a:r>
              <a:rPr lang="en-US" sz="2200" b="0" i="0" u="none" strike="noStrike" baseline="0" dirty="0">
                <a:latin typeface="StoneSerif"/>
              </a:rPr>
              <a:t>hey’re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based on arrays</a:t>
            </a:r>
            <a:r>
              <a:rPr lang="en-US" sz="2200" b="0" i="0" u="none" strike="noStrike" baseline="0" dirty="0">
                <a:latin typeface="StoneSerif"/>
              </a:rPr>
              <a:t>, and arrays are difficult to expand after they’ve been created.</a:t>
            </a:r>
          </a:p>
          <a:p>
            <a:pPr algn="l"/>
            <a:endParaRPr lang="en-US" sz="2200" b="0" i="0" u="none" strike="noStrike" baseline="0" dirty="0">
              <a:latin typeface="StoneSerif"/>
            </a:endParaRPr>
          </a:p>
          <a:p>
            <a:pPr algn="l"/>
            <a:r>
              <a:rPr lang="en-US" sz="2200" b="0" i="0" u="none" strike="noStrike" baseline="0" dirty="0">
                <a:latin typeface="StoneSerif"/>
              </a:rPr>
              <a:t>However, if you don’t need to visit items in order, and you can predict in advance the size of your database,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hash tables are unparalleled in speed and convenience</a:t>
            </a:r>
            <a:r>
              <a:rPr lang="en-US" sz="2200" b="0" i="0" u="none" strike="noStrike" baseline="0" dirty="0">
                <a:latin typeface="StoneSerif"/>
              </a:rPr>
              <a:t>.</a:t>
            </a:r>
          </a:p>
          <a:p>
            <a:pPr algn="l"/>
            <a:endParaRPr lang="en-US" sz="2200" b="0" i="0" u="none" strike="noStrike" baseline="0" dirty="0">
              <a:latin typeface="StoneSerif"/>
            </a:endParaRPr>
          </a:p>
          <a:p>
            <a:pPr algn="l"/>
            <a:r>
              <a:rPr lang="en-US" sz="2200" b="0" i="0" u="none" strike="noStrike" baseline="0" dirty="0">
                <a:latin typeface="StoneSerif"/>
              </a:rPr>
              <a:t>No matter how many data items there are,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insertion and searching </a:t>
            </a:r>
            <a:r>
              <a:rPr lang="en-US" sz="2200" b="0" i="0" u="none" strike="noStrike" baseline="0" dirty="0">
                <a:latin typeface="StoneSerif"/>
              </a:rPr>
              <a:t>(and sometimes deletion) can take close to constant time: O(1) in big O notation.</a:t>
            </a:r>
          </a:p>
          <a:p>
            <a:pPr algn="l"/>
            <a:endParaRPr lang="en-US" sz="2200" dirty="0">
              <a:latin typeface="StoneSerif"/>
            </a:endParaRPr>
          </a:p>
          <a:p>
            <a:pPr algn="l"/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Hash tables are significantly faster than trees</a:t>
            </a:r>
            <a:r>
              <a:rPr lang="en-US" sz="2200" b="0" i="0" u="none" strike="noStrike" baseline="0">
                <a:latin typeface="StoneSerif"/>
              </a:rPr>
              <a:t>, </a:t>
            </a:r>
            <a:r>
              <a:rPr lang="en-US" sz="2200" b="0" i="0" u="none" strike="noStrike" baseline="0" smtClean="0">
                <a:latin typeface="StoneSerif"/>
              </a:rPr>
              <a:t>which, </a:t>
            </a:r>
            <a:r>
              <a:rPr lang="en-US" sz="2200" b="0" i="0" u="none" strike="noStrike" baseline="0" dirty="0">
                <a:latin typeface="StoneSerif"/>
              </a:rPr>
              <a:t>operate in relatively fast O(</a:t>
            </a:r>
            <a:r>
              <a:rPr lang="en-US" sz="2200" b="0" i="0" u="none" strike="noStrike" baseline="0" dirty="0" err="1">
                <a:latin typeface="StoneSerif"/>
              </a:rPr>
              <a:t>logN</a:t>
            </a:r>
            <a:r>
              <a:rPr lang="en-US" sz="2200" b="0" i="0" u="none" strike="noStrike" baseline="0" dirty="0">
                <a:latin typeface="StoneSerif"/>
              </a:rPr>
              <a:t>) time. Not only are they fast, hash tables are relatively easy to program.</a:t>
            </a:r>
          </a:p>
          <a:p>
            <a:pPr algn="l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04500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7941-F9F5-A42B-62F6-CB2F3D41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Heaps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9E4D5-297E-0502-B337-3A7EED229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11345" cy="4351338"/>
          </a:xfrm>
        </p:spPr>
        <p:txBody>
          <a:bodyPr/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H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eap is a binary tree with these characteristics</a:t>
            </a:r>
            <a:r>
              <a:rPr lang="en-US" sz="2200" b="0" i="0" u="none" strike="noStrike" baseline="0" dirty="0">
                <a:latin typeface="StoneSerif"/>
              </a:rPr>
              <a:t>:</a:t>
            </a:r>
          </a:p>
          <a:p>
            <a:pPr lvl="1" algn="just"/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It’s a complete 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binary tree </a:t>
            </a:r>
            <a:r>
              <a:rPr lang="en-US" sz="2200" b="0" i="0" u="none" strike="noStrike" baseline="0" dirty="0">
                <a:latin typeface="StoneSerif"/>
              </a:rPr>
              <a:t>implies that there are no “holes” in the array used to represent it. Every cell is filled, from 0 to N-1.</a:t>
            </a:r>
            <a:endParaRPr lang="en-US" sz="2200" dirty="0">
              <a:latin typeface="StoneSerif"/>
            </a:endParaRPr>
          </a:p>
          <a:p>
            <a:pPr lvl="1" algn="just"/>
            <a:endParaRPr lang="en-US" sz="2200" b="0" i="0" u="none" strike="noStrike" baseline="0" dirty="0">
              <a:latin typeface="StoneSerif"/>
            </a:endParaRPr>
          </a:p>
          <a:p>
            <a:pPr lvl="1" algn="just"/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It’s (usually) implemented as an array</a:t>
            </a:r>
            <a:endParaRPr lang="en-US" sz="2200" dirty="0">
              <a:solidFill>
                <a:schemeClr val="accent2">
                  <a:lumMod val="75000"/>
                </a:schemeClr>
              </a:solidFill>
              <a:latin typeface="StoneSerif"/>
            </a:endParaRPr>
          </a:p>
          <a:p>
            <a:pPr lvl="1" algn="just"/>
            <a:endParaRPr lang="en-US" sz="2200" b="0" i="0" u="none" strike="noStrike" baseline="0" dirty="0">
              <a:latin typeface="StoneSerif"/>
            </a:endParaRPr>
          </a:p>
          <a:p>
            <a:pPr lvl="1" algn="just"/>
            <a:r>
              <a:rPr lang="en-US" sz="2200" b="0" i="0" u="none" strike="noStrike" baseline="0" dirty="0">
                <a:latin typeface="StoneSerif"/>
              </a:rPr>
              <a:t>Each node in a heap satisfies the </a:t>
            </a:r>
            <a:r>
              <a:rPr lang="en-US" sz="2200" b="0" i="1" u="none" strike="noStrike" baseline="0" dirty="0">
                <a:latin typeface="StoneSerif-Italic"/>
              </a:rPr>
              <a:t>heap condition</a:t>
            </a:r>
            <a:r>
              <a:rPr lang="en-US" sz="2200" b="0" i="0" u="none" strike="noStrike" baseline="0" dirty="0">
                <a:latin typeface="StoneSerif"/>
              </a:rPr>
              <a:t>, which states that every node’s key is larger than (or equal to) the keys of its children.</a:t>
            </a:r>
            <a:endParaRPr lang="en-US" sz="2200" dirty="0">
              <a:latin typeface="StoneSerif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C321D-2384-20F5-985F-E23FA0539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283" y="5064384"/>
            <a:ext cx="5182049" cy="166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0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E176-479D-3463-5DD9-EDE5F399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Heaps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B4BA67-17B8-0C9B-F2EC-4B706B3CC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327" y="2223655"/>
            <a:ext cx="4793673" cy="3308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1F7BD9-9F7F-BC90-6865-4ACC98022120}"/>
              </a:ext>
            </a:extLst>
          </p:cNvPr>
          <p:cNvSpPr txBox="1"/>
          <p:nvPr/>
        </p:nvSpPr>
        <p:spPr>
          <a:xfrm>
            <a:off x="8475753" y="5532293"/>
            <a:ext cx="2570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Heap and underline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58B697-F3D8-D682-3F2A-A03AA0136E33}"/>
              </a:ext>
            </a:extLst>
          </p:cNvPr>
          <p:cNvSpPr txBox="1"/>
          <p:nvPr/>
        </p:nvSpPr>
        <p:spPr>
          <a:xfrm>
            <a:off x="103909" y="1925763"/>
            <a:ext cx="70450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StoneSerif"/>
              </a:rPr>
              <a:t>Weak ordering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A heap is weakly ordered compared with a binary search tree, in which all a node’s left descendants have keys less than all its right descendants</a:t>
            </a:r>
            <a:r>
              <a:rPr lang="en-US" dirty="0">
                <a:latin typeface="StoneSerif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toneSerif"/>
              </a:rPr>
              <a:t>In a heap, traversing the nodes in order is difficult because the organizing principle (the heap condition) is not as strong as the organizing principle in a tree.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Because heaps are weakly ordered, some operations are difficult or impossible</a:t>
            </a:r>
            <a:r>
              <a:rPr lang="en-US" dirty="0">
                <a:latin typeface="StoneSerif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71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5508-9E7A-43F6-CCA7-D6A99254C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Heaps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E38EB-EB55-D0FE-9BD5-AA611F499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endParaRPr lang="en-US" sz="1800" dirty="0">
              <a:latin typeface="StoneSerif"/>
            </a:endParaRPr>
          </a:p>
          <a:p>
            <a:pPr lvl="1"/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Besides its failure to support traversal, a heap also does not allow convenient searching for a specified key.</a:t>
            </a:r>
          </a:p>
          <a:p>
            <a:pPr lvl="1"/>
            <a:endParaRPr lang="en-US" sz="2200" dirty="0">
              <a:latin typeface="StoneSerif"/>
            </a:endParaRPr>
          </a:p>
          <a:p>
            <a:pPr lvl="1"/>
            <a:r>
              <a:rPr lang="en-US" sz="2200" dirty="0">
                <a:latin typeface="StoneSerif"/>
              </a:rPr>
              <a:t>This is because there’s not enough information to decide which of a node’s two children to pick in trying to descend to a lower level during the search.</a:t>
            </a:r>
          </a:p>
          <a:p>
            <a:pPr lvl="1"/>
            <a:endParaRPr lang="en-US" sz="2200" dirty="0">
              <a:latin typeface="StoneSerif"/>
            </a:endParaRPr>
          </a:p>
          <a:p>
            <a:pPr lvl="1"/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Heapsort runs in O(</a:t>
            </a:r>
            <a:r>
              <a:rPr lang="en-US" sz="2200" dirty="0" err="1">
                <a:solidFill>
                  <a:schemeClr val="accent2">
                    <a:lumMod val="75000"/>
                  </a:schemeClr>
                </a:solidFill>
                <a:latin typeface="StoneSerif"/>
              </a:rPr>
              <a:t>NlogN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) time</a:t>
            </a:r>
            <a:r>
              <a:rPr lang="en-US" sz="2200" dirty="0">
                <a:latin typeface="StoneSerif"/>
              </a:rPr>
              <a:t>. Although it may be slightly slower than quicksort</a:t>
            </a:r>
            <a:r>
              <a:rPr lang="en-US" sz="2200" b="0" i="0" u="none" strike="noStrike" baseline="0" dirty="0">
                <a:latin typeface="StoneSerif"/>
              </a:rPr>
              <a:t>, an advantage over quicksort is that it is less sensitive to the initial distribution of data. </a:t>
            </a:r>
          </a:p>
          <a:p>
            <a:pPr lvl="1"/>
            <a:endParaRPr lang="en-US" sz="2200" dirty="0">
              <a:latin typeface="StoneSerif"/>
            </a:endParaRPr>
          </a:p>
          <a:p>
            <a:pPr lvl="1"/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Certain arrangements of key values can reduce quicksort to slow O(N^2) time, whereas heapsort runs in O(</a:t>
            </a:r>
            <a:r>
              <a:rPr lang="en-US" sz="2200" b="0" i="0" u="none" strike="noStrike" baseline="0" dirty="0" err="1">
                <a:solidFill>
                  <a:schemeClr val="accent2">
                    <a:lumMod val="75000"/>
                  </a:schemeClr>
                </a:solidFill>
                <a:latin typeface="StoneSerif"/>
              </a:rPr>
              <a:t>NlogN</a:t>
            </a:r>
            <a:r>
              <a:rPr lang="en-US" sz="2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) time no matter how the data is distributed.</a:t>
            </a:r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37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E054-BC79-9630-CB2A-1B780322C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E95A9-2F38-EFE9-0769-6F6A7EDA1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StoneSerif"/>
              </a:rPr>
              <a:t>Graphs are one of the most versatile structures used in computer programming</a:t>
            </a:r>
            <a:r>
              <a:rPr lang="en-US" sz="1800" b="0" i="0" u="none" strike="noStrike" baseline="0" dirty="0">
                <a:latin typeface="StoneSerif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StoneSerif"/>
              </a:rPr>
              <a:t>Graphs are data structures rather like trees. In fact, in a mathematical sense, a tree is a kind of graph. In computer programming, however, graphs are used in different ways than trees.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D9CC9-20CE-BF79-85E9-E55BDDB82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389" y="2984761"/>
            <a:ext cx="4174840" cy="25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8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Graphs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The Adjacency </a:t>
            </a:r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Matrix</a:t>
            </a:r>
            <a:r>
              <a:rPr lang="en-US" sz="2200" dirty="0" smtClean="0"/>
              <a:t>: An </a:t>
            </a:r>
            <a:r>
              <a:rPr lang="en-US" sz="2200" dirty="0"/>
              <a:t>adjacency matrix is a two-dimensional array in which the elements </a:t>
            </a:r>
            <a:r>
              <a:rPr lang="en-US" sz="2200" dirty="0" smtClean="0"/>
              <a:t>indicate whether </a:t>
            </a:r>
            <a:r>
              <a:rPr lang="en-US" sz="2200" dirty="0"/>
              <a:t>an edge is present between two vertices.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873" y="3352147"/>
            <a:ext cx="5686666" cy="14574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11" y="2646298"/>
            <a:ext cx="4755723" cy="343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8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When to Use What?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General-purpose data structures</a:t>
            </a:r>
            <a:r>
              <a:rPr lang="en-US" sz="2200" dirty="0"/>
              <a:t>: arrays, linked </a:t>
            </a:r>
            <a:r>
              <a:rPr lang="en-US" sz="2200" dirty="0" smtClean="0"/>
              <a:t>lists, trees</a:t>
            </a:r>
            <a:r>
              <a:rPr lang="en-US" sz="2200" dirty="0"/>
              <a:t>, hash </a:t>
            </a:r>
            <a:r>
              <a:rPr lang="en-US" sz="2200" dirty="0" smtClean="0"/>
              <a:t>tables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If you need to store real-world data such as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personnel records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, inventories, contact lists, or sales data, you need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a general-purpose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data structure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665" y="2954564"/>
            <a:ext cx="3629013" cy="36009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950" y="3528392"/>
            <a:ext cx="5503765" cy="195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0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When to Use What?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Specialized data structures</a:t>
            </a:r>
            <a:r>
              <a:rPr lang="en-US" sz="2200" dirty="0" smtClean="0"/>
              <a:t>: stacks, queues, priority queues, graphs</a:t>
            </a:r>
          </a:p>
          <a:p>
            <a:pPr lvl="1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These structures, rather than supporting a database of </a:t>
            </a:r>
            <a:r>
              <a:rPr lang="en-US" sz="2000" dirty="0" err="1" smtClean="0">
                <a:solidFill>
                  <a:schemeClr val="accent2">
                    <a:lumMod val="75000"/>
                  </a:schemeClr>
                </a:solidFill>
              </a:rPr>
              <a:t>useraccessible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data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, are usually used by a computer program to aid in carrying out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some algorithm.</a:t>
            </a:r>
          </a:p>
          <a:p>
            <a:pPr lvl="1"/>
            <a:r>
              <a:rPr lang="en-US" sz="2000" dirty="0" smtClean="0"/>
              <a:t>Stacks</a:t>
            </a:r>
            <a:r>
              <a:rPr lang="en-US" sz="2000" dirty="0"/>
              <a:t>, queues, and priority queues are Abstract Data Types (ADTs</a:t>
            </a:r>
            <a:r>
              <a:rPr lang="en-US" sz="2000" dirty="0" smtClean="0"/>
              <a:t>).</a:t>
            </a:r>
            <a:endParaRPr lang="en-US" sz="20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055" y="3764164"/>
            <a:ext cx="8045353" cy="241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2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When to Use What?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Sorting</a:t>
            </a:r>
            <a:r>
              <a:rPr lang="en-US" sz="2200" dirty="0" smtClean="0"/>
              <a:t>: insertion sort, </a:t>
            </a:r>
            <a:r>
              <a:rPr lang="en-US" sz="2200" dirty="0" err="1" smtClean="0"/>
              <a:t>Shellsort</a:t>
            </a:r>
            <a:r>
              <a:rPr lang="en-US" sz="2200" dirty="0" smtClean="0"/>
              <a:t>, quicksort, </a:t>
            </a:r>
            <a:r>
              <a:rPr lang="en-US" sz="2200" dirty="0" err="1" smtClean="0"/>
              <a:t>mergesort</a:t>
            </a:r>
            <a:r>
              <a:rPr lang="en-US" sz="2200" dirty="0" smtClean="0"/>
              <a:t>, heapsort</a:t>
            </a:r>
          </a:p>
          <a:p>
            <a:pPr lvl="1"/>
            <a:endParaRPr lang="en-US" sz="1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055" y="2784160"/>
            <a:ext cx="7326179" cy="209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6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When to Use What?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External </a:t>
            </a:r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Storage</a:t>
            </a:r>
          </a:p>
          <a:p>
            <a:pPr lvl="1"/>
            <a:r>
              <a:rPr lang="en-US" sz="2000" dirty="0"/>
              <a:t>Amounts of data too large to store in memory must be stored in external storage, which generally means disk files.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047" y="2724750"/>
            <a:ext cx="2927431" cy="371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2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6596</TotalTime>
  <Words>4736</Words>
  <Application>Microsoft Office PowerPoint</Application>
  <PresentationFormat>Widescreen</PresentationFormat>
  <Paragraphs>674</Paragraphs>
  <Slides>70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4" baseType="lpstr">
      <vt:lpstr>Arial</vt:lpstr>
      <vt:lpstr>Calibri</vt:lpstr>
      <vt:lpstr>Calibri Light</vt:lpstr>
      <vt:lpstr>Consolas</vt:lpstr>
      <vt:lpstr>Courier New</vt:lpstr>
      <vt:lpstr>Google Sans Text</vt:lpstr>
      <vt:lpstr>MacUSADigital-Regular</vt:lpstr>
      <vt:lpstr>StoneSans</vt:lpstr>
      <vt:lpstr>StoneSans-Semibold</vt:lpstr>
      <vt:lpstr>StoneSerif</vt:lpstr>
      <vt:lpstr>StoneSerif-Italic</vt:lpstr>
      <vt:lpstr>Symbol</vt:lpstr>
      <vt:lpstr>Times New Roman</vt:lpstr>
      <vt:lpstr>Office Theme</vt:lpstr>
      <vt:lpstr>Data Structure and Algorithms: An Overview </vt:lpstr>
      <vt:lpstr>Outline </vt:lpstr>
      <vt:lpstr>Background </vt:lpstr>
      <vt:lpstr>Data Structure and Algorithms </vt:lpstr>
      <vt:lpstr>Data Structure and Algorithms </vt:lpstr>
      <vt:lpstr>Data Structure and Algorithms </vt:lpstr>
      <vt:lpstr>Data Structure and Algorithms </vt:lpstr>
      <vt:lpstr>Data Structure and Algorithms </vt:lpstr>
      <vt:lpstr>Algorithms Analysis </vt:lpstr>
      <vt:lpstr>Algorithms Analysis </vt:lpstr>
      <vt:lpstr>Algorithms Analysis </vt:lpstr>
      <vt:lpstr>Algorithms Analysis </vt:lpstr>
      <vt:lpstr>Algorithms Analysis </vt:lpstr>
      <vt:lpstr>Algorithms Analysis </vt:lpstr>
      <vt:lpstr>Algorithms Analysis </vt:lpstr>
      <vt:lpstr>Memory usage versus run times</vt:lpstr>
      <vt:lpstr>Operations </vt:lpstr>
      <vt:lpstr>Overview of Data Structures</vt:lpstr>
      <vt:lpstr>Overview of Data Structures</vt:lpstr>
      <vt:lpstr>Arrays </vt:lpstr>
      <vt:lpstr>Arrays </vt:lpstr>
      <vt:lpstr>Searching Arrays</vt:lpstr>
      <vt:lpstr>Searching Arrays</vt:lpstr>
      <vt:lpstr>Searching Arrays</vt:lpstr>
      <vt:lpstr>Sorting and Searching Arrays</vt:lpstr>
      <vt:lpstr>Efficiency of Binary Search</vt:lpstr>
      <vt:lpstr>Efficiency of Binary Search</vt:lpstr>
      <vt:lpstr>Questions </vt:lpstr>
      <vt:lpstr>Sorting</vt:lpstr>
      <vt:lpstr>Sorting</vt:lpstr>
      <vt:lpstr>Sorting : Bubble Sort </vt:lpstr>
      <vt:lpstr>Sorting : Bubble Sort </vt:lpstr>
      <vt:lpstr>Sorting : Selection Sort </vt:lpstr>
      <vt:lpstr>Sorting : Insertion Sort </vt:lpstr>
      <vt:lpstr>Sorting : Insertion Sort </vt:lpstr>
      <vt:lpstr>Merge Sort: Idea</vt:lpstr>
      <vt:lpstr>Merge Sort: Idea</vt:lpstr>
      <vt:lpstr>Merge Sort: Idea</vt:lpstr>
      <vt:lpstr>Quick Sort </vt:lpstr>
      <vt:lpstr>Quick Sort </vt:lpstr>
      <vt:lpstr>Quick Sort </vt:lpstr>
      <vt:lpstr>Shell Sort</vt:lpstr>
      <vt:lpstr>Comparing the Simple Sorts</vt:lpstr>
      <vt:lpstr>Questions </vt:lpstr>
      <vt:lpstr>Stacks and Queues</vt:lpstr>
      <vt:lpstr>Stacks and Queues</vt:lpstr>
      <vt:lpstr>Stacks and Queues</vt:lpstr>
      <vt:lpstr>Stacks and Queues</vt:lpstr>
      <vt:lpstr>Stacks and Queues</vt:lpstr>
      <vt:lpstr>Question </vt:lpstr>
      <vt:lpstr>Linked Lists</vt:lpstr>
      <vt:lpstr>Linked Lists</vt:lpstr>
      <vt:lpstr>Linked Lists</vt:lpstr>
      <vt:lpstr>Linked Lists</vt:lpstr>
      <vt:lpstr>Linked Lists</vt:lpstr>
      <vt:lpstr>Binary Trees</vt:lpstr>
      <vt:lpstr>What Is a Tree?</vt:lpstr>
      <vt:lpstr>Binary Trees</vt:lpstr>
      <vt:lpstr>Binary Trees</vt:lpstr>
      <vt:lpstr>Hash Tables</vt:lpstr>
      <vt:lpstr>Hash Tables</vt:lpstr>
      <vt:lpstr>Heaps</vt:lpstr>
      <vt:lpstr>Heaps</vt:lpstr>
      <vt:lpstr>Heaps</vt:lpstr>
      <vt:lpstr>Graphs</vt:lpstr>
      <vt:lpstr>Graphs</vt:lpstr>
      <vt:lpstr>When to Use What? </vt:lpstr>
      <vt:lpstr>When to Use What? </vt:lpstr>
      <vt:lpstr>When to Use What? </vt:lpstr>
      <vt:lpstr>When to Use What?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106</cp:revision>
  <dcterms:created xsi:type="dcterms:W3CDTF">2024-04-10T16:49:25Z</dcterms:created>
  <dcterms:modified xsi:type="dcterms:W3CDTF">2026-04-20T08:28:16Z</dcterms:modified>
</cp:coreProperties>
</file>