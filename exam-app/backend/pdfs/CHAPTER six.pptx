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1" r:id="rId6"/>
    <p:sldId id="262" r:id="rId7"/>
    <p:sldId id="263" r:id="rId8"/>
    <p:sldId id="264" r:id="rId9"/>
    <p:sldId id="265" r:id="rId10"/>
    <p:sldId id="266" r:id="rId11"/>
    <p:sldId id="268" r:id="rId12"/>
    <p:sldId id="269" r:id="rId13"/>
    <p:sldId id="270" r:id="rId14"/>
    <p:sldId id="271" r:id="rId15"/>
    <p:sldId id="272" r:id="rId16"/>
    <p:sldId id="273" r:id="rId17"/>
    <p:sldId id="274" r:id="rId18"/>
    <p:sldId id="275" r:id="rId19"/>
    <p:sldId id="276" r:id="rId20"/>
    <p:sldId id="277" r:id="rId21"/>
    <p:sldId id="278" r:id="rId22"/>
    <p:sldId id="279" r:id="rId23"/>
    <p:sldId id="280" r:id="rId24"/>
    <p:sldId id="281" r:id="rId25"/>
    <p:sldId id="282" r:id="rId26"/>
    <p:sldId id="283" r:id="rId27"/>
    <p:sldId id="284" r:id="rId28"/>
    <p:sldId id="285" r:id="rId29"/>
    <p:sldId id="286" r:id="rId30"/>
    <p:sldId id="287" r:id="rId31"/>
    <p:sldId id="288" r:id="rId32"/>
    <p:sldId id="289" r:id="rId33"/>
    <p:sldId id="295" r:id="rId34"/>
    <p:sldId id="296" r:id="rId35"/>
    <p:sldId id="297" r:id="rId36"/>
    <p:sldId id="298" r:id="rId37"/>
    <p:sldId id="299" r:id="rId38"/>
    <p:sldId id="303" r:id="rId39"/>
    <p:sldId id="300" r:id="rId40"/>
    <p:sldId id="301" r:id="rId41"/>
    <p:sldId id="302" r:id="rId42"/>
    <p:sldId id="305" r:id="rId43"/>
    <p:sldId id="306" r:id="rId44"/>
    <p:sldId id="304" r:id="rId45"/>
    <p:sldId id="307" r:id="rId46"/>
    <p:sldId id="290" r:id="rId47"/>
    <p:sldId id="291" r:id="rId48"/>
    <p:sldId id="292" r:id="rId49"/>
    <p:sldId id="293" r:id="rId50"/>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3417"/>
    <p:restoredTop sz="94674"/>
  </p:normalViewPr>
  <p:slideViewPr>
    <p:cSldViewPr>
      <p:cViewPr varScale="1">
        <p:scale>
          <a:sx n="124" d="100"/>
          <a:sy n="124" d="100"/>
        </p:scale>
        <p:origin x="1960" y="16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0B814A33-BF75-4E03-9EA3-A75E19665C72}" type="datetimeFigureOut">
              <a:rPr lang="en-US" smtClean="0"/>
              <a:pPr/>
              <a:t>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8898BE4-150B-45A6-B21F-AA02D611F53C}"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0B814A33-BF75-4E03-9EA3-A75E19665C72}" type="datetimeFigureOut">
              <a:rPr lang="en-US" smtClean="0"/>
              <a:pPr/>
              <a:t>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8898BE4-150B-45A6-B21F-AA02D611F53C}"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B814A33-BF75-4E03-9EA3-A75E19665C72}" type="datetimeFigureOut">
              <a:rPr lang="en-US" smtClean="0"/>
              <a:pPr/>
              <a:t>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8898BE4-150B-45A6-B21F-AA02D611F53C}"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0B814A33-BF75-4E03-9EA3-A75E19665C72}" type="datetimeFigureOut">
              <a:rPr lang="en-US" smtClean="0"/>
              <a:pPr/>
              <a:t>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8898BE4-150B-45A6-B21F-AA02D611F53C}"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0B814A33-BF75-4E03-9EA3-A75E19665C72}" type="datetimeFigureOut">
              <a:rPr lang="en-US" smtClean="0"/>
              <a:pPr/>
              <a:t>4/20/26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8898BE4-150B-45A6-B21F-AA02D611F53C}"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0B814A33-BF75-4E03-9EA3-A75E19665C72}" type="datetimeFigureOut">
              <a:rPr lang="en-US" smtClean="0"/>
              <a:pPr/>
              <a:t>4/20/26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8898BE4-150B-45A6-B21F-AA02D611F53C}"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B814A33-BF75-4E03-9EA3-A75E19665C72}" type="datetimeFigureOut">
              <a:rPr lang="en-US" smtClean="0"/>
              <a:pPr/>
              <a:t>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8898BE4-150B-45A6-B21F-AA02D611F53C}"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0B814A33-BF75-4E03-9EA3-A75E19665C72}" type="datetimeFigureOut">
              <a:rPr lang="en-US" smtClean="0"/>
              <a:pPr/>
              <a:t>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8898BE4-150B-45A6-B21F-AA02D611F53C}"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0B814A33-BF75-4E03-9EA3-A75E19665C72}" type="datetimeFigureOut">
              <a:rPr lang="en-US" smtClean="0"/>
              <a:pPr/>
              <a:t>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8898BE4-150B-45A6-B21F-AA02D611F53C}"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0B814A33-BF75-4E03-9EA3-A75E19665C72}" type="datetimeFigureOut">
              <a:rPr lang="en-US" smtClean="0"/>
              <a:pPr/>
              <a:t>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8898BE4-150B-45A6-B21F-AA02D611F53C}"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0B814A33-BF75-4E03-9EA3-A75E19665C72}" type="datetimeFigureOut">
              <a:rPr lang="en-US" smtClean="0"/>
              <a:pPr/>
              <a:t>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8898BE4-150B-45A6-B21F-AA02D611F53C}"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B814A33-BF75-4E03-9EA3-A75E19665C72}" type="datetimeFigureOut">
              <a:rPr lang="en-US" smtClean="0"/>
              <a:pPr/>
              <a:t>4/20/26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8898BE4-150B-45A6-B21F-AA02D611F53C}"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09600" y="304800"/>
            <a:ext cx="7772400" cy="1470025"/>
          </a:xfrm>
        </p:spPr>
        <p:txBody>
          <a:bodyPr/>
          <a:lstStyle/>
          <a:p>
            <a:r>
              <a:rPr lang="en-US" b="1" dirty="0"/>
              <a:t>CHAPTER 6</a:t>
            </a:r>
          </a:p>
        </p:txBody>
      </p:sp>
      <p:sp>
        <p:nvSpPr>
          <p:cNvPr id="3" name="Subtitle 2"/>
          <p:cNvSpPr>
            <a:spLocks noGrp="1"/>
          </p:cNvSpPr>
          <p:nvPr>
            <p:ph type="subTitle" idx="1"/>
          </p:nvPr>
        </p:nvSpPr>
        <p:spPr>
          <a:xfrm>
            <a:off x="457200" y="2209800"/>
            <a:ext cx="8001000" cy="2133600"/>
          </a:xfrm>
        </p:spPr>
        <p:txBody>
          <a:bodyPr/>
          <a:lstStyle/>
          <a:p>
            <a:r>
              <a:rPr lang="en-US" b="1" dirty="0">
                <a:solidFill>
                  <a:schemeClr val="tx1"/>
                </a:solidFill>
              </a:rPr>
              <a:t>STRUCTURED QUERY LANGUAGE(SQL)</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457200"/>
          </a:xfrm>
        </p:spPr>
        <p:txBody>
          <a:bodyPr>
            <a:normAutofit fontScale="90000"/>
          </a:bodyPr>
          <a:lstStyle/>
          <a:p>
            <a:endParaRPr lang="en-US" dirty="0"/>
          </a:p>
        </p:txBody>
      </p:sp>
      <p:sp>
        <p:nvSpPr>
          <p:cNvPr id="3" name="Content Placeholder 2"/>
          <p:cNvSpPr>
            <a:spLocks noGrp="1"/>
          </p:cNvSpPr>
          <p:nvPr>
            <p:ph idx="1"/>
          </p:nvPr>
        </p:nvSpPr>
        <p:spPr>
          <a:xfrm>
            <a:off x="152400" y="533400"/>
            <a:ext cx="8839200" cy="6172200"/>
          </a:xfrm>
        </p:spPr>
        <p:txBody>
          <a:bodyPr>
            <a:normAutofit/>
          </a:bodyPr>
          <a:lstStyle/>
          <a:p>
            <a:r>
              <a:rPr lang="en-US" sz="2400" dirty="0"/>
              <a:t>SQL is a comprehensive database language: It has statements for </a:t>
            </a:r>
            <a:r>
              <a:rPr lang="en-US" sz="2400" b="1" dirty="0"/>
              <a:t>data  definition, query, and update</a:t>
            </a:r>
          </a:p>
          <a:p>
            <a:r>
              <a:rPr lang="en-US" sz="2400" dirty="0"/>
              <a:t>Hence, it is both a DDL </a:t>
            </a:r>
            <a:r>
              <a:rPr lang="en-US" sz="2400" i="1" dirty="0"/>
              <a:t>and a DML.</a:t>
            </a:r>
          </a:p>
          <a:p>
            <a:r>
              <a:rPr lang="en-US" sz="2400" i="1" dirty="0"/>
              <a:t> In addition, it has facilities for </a:t>
            </a:r>
            <a:r>
              <a:rPr lang="en-US" sz="2400" b="1" dirty="0"/>
              <a:t>defining views on the database, for specifying security and authorization, for defining integrity constraints, and for specifying transaction controls</a:t>
            </a:r>
            <a:r>
              <a:rPr lang="en-US" sz="2400" dirty="0"/>
              <a:t>.</a:t>
            </a:r>
          </a:p>
          <a:p>
            <a:r>
              <a:rPr lang="en-US" sz="2400" dirty="0"/>
              <a:t>SQL uses the terms table, row, and column for the formal relational model terms </a:t>
            </a:r>
            <a:r>
              <a:rPr lang="en-US" sz="2400" b="1" i="1" dirty="0"/>
              <a:t>relation</a:t>
            </a:r>
            <a:r>
              <a:rPr lang="en-US" sz="2400" i="1" dirty="0"/>
              <a:t>, </a:t>
            </a:r>
            <a:r>
              <a:rPr lang="en-US" sz="2400" b="1" i="1" dirty="0"/>
              <a:t>tuple</a:t>
            </a:r>
            <a:r>
              <a:rPr lang="en-US" sz="2400" i="1" dirty="0"/>
              <a:t>, and </a:t>
            </a:r>
            <a:r>
              <a:rPr lang="en-US" sz="2400" b="1" i="1" dirty="0"/>
              <a:t>attribute, </a:t>
            </a:r>
            <a:r>
              <a:rPr lang="en-US" sz="2400" i="1" dirty="0"/>
              <a:t>respectively</a:t>
            </a:r>
            <a:endParaRPr lang="en-US" sz="2400" dirty="0"/>
          </a:p>
          <a:p>
            <a:r>
              <a:rPr lang="en-US" sz="2400" dirty="0"/>
              <a:t>The main SQL command for data definition is the </a:t>
            </a:r>
            <a:r>
              <a:rPr lang="en-US" sz="2400" b="1" dirty="0"/>
              <a:t>CREATE </a:t>
            </a:r>
            <a:r>
              <a:rPr lang="en-US" sz="2400" dirty="0"/>
              <a:t>statement, which can be used to create schemas, tables (relations), and domains (as well as other constructs such as views, assertions, and triggers)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 y="0"/>
            <a:ext cx="8991600" cy="457200"/>
          </a:xfrm>
        </p:spPr>
        <p:txBody>
          <a:bodyPr>
            <a:noAutofit/>
          </a:bodyPr>
          <a:lstStyle/>
          <a:p>
            <a:r>
              <a:rPr lang="en-US" sz="2800" b="1" dirty="0"/>
              <a:t>Schema Concepts in SQL</a:t>
            </a:r>
            <a:endParaRPr lang="en-US" sz="2800" dirty="0"/>
          </a:p>
        </p:txBody>
      </p:sp>
      <p:sp>
        <p:nvSpPr>
          <p:cNvPr id="3" name="Content Placeholder 2"/>
          <p:cNvSpPr>
            <a:spLocks noGrp="1"/>
          </p:cNvSpPr>
          <p:nvPr>
            <p:ph idx="1"/>
          </p:nvPr>
        </p:nvSpPr>
        <p:spPr>
          <a:xfrm>
            <a:off x="0" y="533400"/>
            <a:ext cx="9144000" cy="6172200"/>
          </a:xfrm>
        </p:spPr>
        <p:txBody>
          <a:bodyPr>
            <a:normAutofit/>
          </a:bodyPr>
          <a:lstStyle/>
          <a:p>
            <a:r>
              <a:rPr lang="en-US" sz="2400" dirty="0"/>
              <a:t>All tables (relations) were considered </a:t>
            </a:r>
            <a:r>
              <a:rPr lang="en-US" sz="2400" b="1" dirty="0"/>
              <a:t>part of the same schema</a:t>
            </a:r>
          </a:p>
          <a:p>
            <a:r>
              <a:rPr lang="en-US" sz="2400" dirty="0"/>
              <a:t>The concept of an SQL schema was incorporated  </a:t>
            </a:r>
            <a:r>
              <a:rPr lang="en-US" sz="2400" b="1" dirty="0"/>
              <a:t>in order to group together tables and other constructs that belong to the same </a:t>
            </a:r>
            <a:r>
              <a:rPr lang="en-US" sz="2400" dirty="0"/>
              <a:t>database application</a:t>
            </a:r>
          </a:p>
          <a:p>
            <a:r>
              <a:rPr lang="en-US" sz="2400" dirty="0"/>
              <a:t>An SQL schema is identified by a schema name, and includes an authorization identifier to indicate the user or account who owns the schema, as well as descriptors for </a:t>
            </a:r>
            <a:r>
              <a:rPr lang="en-US" sz="2400" i="1" dirty="0"/>
              <a:t>each element in the schema.</a:t>
            </a:r>
          </a:p>
          <a:p>
            <a:r>
              <a:rPr lang="en-US" sz="2400" dirty="0"/>
              <a:t>Schema elements include tables, constraints, views, domains, and other constructs (</a:t>
            </a:r>
            <a:r>
              <a:rPr lang="en-US" sz="2400" b="1" dirty="0"/>
              <a:t>such as authorization grants since all users are not allowed to create schema, tables…etc </a:t>
            </a:r>
            <a:r>
              <a:rPr lang="en-US" sz="2400" dirty="0"/>
              <a:t>) that describe the schema sin. </a:t>
            </a:r>
          </a:p>
          <a:p>
            <a:r>
              <a:rPr lang="en-US" sz="2400" dirty="0"/>
              <a:t>A schema is created via the </a:t>
            </a:r>
            <a:r>
              <a:rPr lang="en-US" sz="2400" b="1" dirty="0"/>
              <a:t>CREATE SCHEMA </a:t>
            </a:r>
            <a:r>
              <a:rPr lang="en-US" sz="2400" dirty="0"/>
              <a:t>statement, which can include all the schema elements' definitions</a:t>
            </a:r>
          </a:p>
          <a:p>
            <a:r>
              <a:rPr lang="en-US" sz="2400" dirty="0"/>
              <a:t>For example, the following statement creates a schema called  COMPANY, owned by the user with authorization identifier JSMITH:</a:t>
            </a:r>
          </a:p>
          <a:p>
            <a:pPr>
              <a:buNone/>
            </a:pPr>
            <a:r>
              <a:rPr lang="en-US" sz="2400" b="1" dirty="0"/>
              <a:t>                 </a:t>
            </a:r>
            <a:r>
              <a:rPr lang="en-US" sz="2400" b="1" i="1" dirty="0"/>
              <a:t>CREATE SCHEMA </a:t>
            </a:r>
            <a:r>
              <a:rPr lang="en-US" sz="2400" i="1" dirty="0"/>
              <a:t>COMPANY</a:t>
            </a:r>
            <a:r>
              <a:rPr lang="en-US" sz="2400" b="1" i="1" dirty="0"/>
              <a:t> AUTHORIZATION </a:t>
            </a:r>
            <a:r>
              <a:rPr lang="en-US" sz="2400" i="1" dirty="0"/>
              <a:t>JSMITH</a:t>
            </a:r>
            <a:r>
              <a:rPr lang="en-US" sz="2400" b="1" dirty="0"/>
              <a:t>;</a:t>
            </a:r>
            <a:endParaRPr lang="en-US" sz="2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 y="0"/>
            <a:ext cx="8991600" cy="457200"/>
          </a:xfrm>
        </p:spPr>
        <p:txBody>
          <a:bodyPr>
            <a:noAutofit/>
          </a:bodyPr>
          <a:lstStyle/>
          <a:p>
            <a:r>
              <a:rPr lang="en-US" sz="2800" b="1" dirty="0"/>
              <a:t>The CREATE TABLE Command in SQL</a:t>
            </a:r>
            <a:endParaRPr lang="en-US" sz="2800" dirty="0"/>
          </a:p>
        </p:txBody>
      </p:sp>
      <p:sp>
        <p:nvSpPr>
          <p:cNvPr id="3" name="Content Placeholder 2"/>
          <p:cNvSpPr>
            <a:spLocks noGrp="1"/>
          </p:cNvSpPr>
          <p:nvPr>
            <p:ph idx="1"/>
          </p:nvPr>
        </p:nvSpPr>
        <p:spPr>
          <a:xfrm>
            <a:off x="0" y="533400"/>
            <a:ext cx="9144000" cy="6172200"/>
          </a:xfrm>
        </p:spPr>
        <p:txBody>
          <a:bodyPr>
            <a:normAutofit/>
          </a:bodyPr>
          <a:lstStyle/>
          <a:p>
            <a:r>
              <a:rPr lang="en-US" sz="2400" dirty="0"/>
              <a:t>The </a:t>
            </a:r>
            <a:r>
              <a:rPr lang="en-US" sz="2400" b="1" dirty="0"/>
              <a:t>CREATE TABLE </a:t>
            </a:r>
            <a:r>
              <a:rPr lang="en-US" sz="2400" dirty="0"/>
              <a:t>command is used to specify a new relation by giving it a name and specifying its attributes and initial constraints.</a:t>
            </a:r>
          </a:p>
          <a:p>
            <a:r>
              <a:rPr lang="en-US" sz="2400" dirty="0"/>
              <a:t>The attributes are specified first, and each attribute is given a </a:t>
            </a:r>
            <a:r>
              <a:rPr lang="en-US" sz="2400" b="1" dirty="0"/>
              <a:t>name</a:t>
            </a:r>
            <a:r>
              <a:rPr lang="en-US" sz="2400" dirty="0"/>
              <a:t>, a </a:t>
            </a:r>
            <a:r>
              <a:rPr lang="en-US" sz="2400" b="1" dirty="0"/>
              <a:t>data type </a:t>
            </a:r>
            <a:r>
              <a:rPr lang="en-US" sz="2400" dirty="0"/>
              <a:t>to specify its domain of values, and any attribute constraints, such as </a:t>
            </a:r>
            <a:r>
              <a:rPr lang="en-US" sz="2400" b="1" dirty="0"/>
              <a:t>NOT NULL.</a:t>
            </a:r>
          </a:p>
          <a:p>
            <a:r>
              <a:rPr lang="en-US" sz="2400" dirty="0"/>
              <a:t>The key, entity integrity, and referential integrity constraints can be specified within the CREATE TABLE statement after the attributes are declared.</a:t>
            </a:r>
          </a:p>
          <a:p>
            <a:r>
              <a:rPr lang="en-US" sz="2400" dirty="0"/>
              <a:t>We can explicitly attach the schema name to the relation name, separated by a period. </a:t>
            </a:r>
          </a:p>
          <a:p>
            <a:r>
              <a:rPr lang="en-US" sz="2400" dirty="0"/>
              <a:t>For example, by writing</a:t>
            </a:r>
          </a:p>
          <a:p>
            <a:pPr>
              <a:buNone/>
            </a:pPr>
            <a:r>
              <a:rPr lang="en-US" sz="2400" b="1" dirty="0"/>
              <a:t>                         CREATE TABLE COMPANY.EMPLOYEE ...</a:t>
            </a:r>
          </a:p>
          <a:p>
            <a:pPr>
              <a:buNone/>
            </a:pPr>
            <a:r>
              <a:rPr lang="en-US" sz="2400" dirty="0"/>
              <a:t>rather than</a:t>
            </a:r>
          </a:p>
          <a:p>
            <a:pPr>
              <a:buNone/>
            </a:pPr>
            <a:r>
              <a:rPr lang="en-US" sz="2400" b="1" dirty="0"/>
              <a:t>                       CREATE TABLE EMPLOYEE . . .</a:t>
            </a:r>
            <a:endParaRPr lang="en-US" sz="2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 y="0"/>
            <a:ext cx="8991600" cy="457200"/>
          </a:xfrm>
        </p:spPr>
        <p:txBody>
          <a:bodyPr>
            <a:normAutofit fontScale="90000"/>
          </a:bodyPr>
          <a:lstStyle/>
          <a:p>
            <a:endParaRPr lang="en-US" dirty="0"/>
          </a:p>
        </p:txBody>
      </p:sp>
      <p:pic>
        <p:nvPicPr>
          <p:cNvPr id="2050" name="Picture 2"/>
          <p:cNvPicPr>
            <a:picLocks noGrp="1" noChangeAspect="1" noChangeArrowheads="1"/>
          </p:cNvPicPr>
          <p:nvPr>
            <p:ph idx="1"/>
          </p:nvPr>
        </p:nvPicPr>
        <p:blipFill>
          <a:blip r:embed="rId2"/>
          <a:srcRect/>
          <a:stretch>
            <a:fillRect/>
          </a:stretch>
        </p:blipFill>
        <p:spPr bwMode="auto">
          <a:xfrm>
            <a:off x="0" y="685800"/>
            <a:ext cx="9144000" cy="4095462"/>
          </a:xfrm>
          <a:prstGeom prst="rect">
            <a:avLst/>
          </a:prstGeom>
          <a:noFill/>
          <a:ln w="9525">
            <a:noFill/>
            <a:miter lim="800000"/>
            <a:headEnd/>
            <a:tailEnd/>
          </a:ln>
          <a:effectLst/>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 y="0"/>
            <a:ext cx="8991600" cy="457200"/>
          </a:xfrm>
        </p:spPr>
        <p:txBody>
          <a:bodyPr>
            <a:normAutofit fontScale="90000"/>
          </a:bodyPr>
          <a:lstStyle/>
          <a:p>
            <a:endParaRPr lang="en-US" dirty="0"/>
          </a:p>
        </p:txBody>
      </p:sp>
      <p:pic>
        <p:nvPicPr>
          <p:cNvPr id="3074" name="Picture 2"/>
          <p:cNvPicPr>
            <a:picLocks noGrp="1" noChangeAspect="1" noChangeArrowheads="1"/>
          </p:cNvPicPr>
          <p:nvPr>
            <p:ph idx="1"/>
          </p:nvPr>
        </p:nvPicPr>
        <p:blipFill>
          <a:blip r:embed="rId2"/>
          <a:srcRect/>
          <a:stretch>
            <a:fillRect/>
          </a:stretch>
        </p:blipFill>
        <p:spPr bwMode="auto">
          <a:xfrm>
            <a:off x="0" y="685800"/>
            <a:ext cx="9144000" cy="3965474"/>
          </a:xfrm>
          <a:prstGeom prst="rect">
            <a:avLst/>
          </a:prstGeom>
          <a:noFill/>
          <a:ln w="9525">
            <a:noFill/>
            <a:miter lim="800000"/>
            <a:headEnd/>
            <a:tailEnd/>
          </a:ln>
          <a:effectLst/>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 y="0"/>
            <a:ext cx="8991600" cy="457200"/>
          </a:xfrm>
        </p:spPr>
        <p:txBody>
          <a:bodyPr>
            <a:normAutofit fontScale="90000"/>
          </a:bodyPr>
          <a:lstStyle/>
          <a:p>
            <a:endParaRPr lang="en-US" dirty="0"/>
          </a:p>
        </p:txBody>
      </p:sp>
      <p:pic>
        <p:nvPicPr>
          <p:cNvPr id="4098" name="Picture 2"/>
          <p:cNvPicPr>
            <a:picLocks noGrp="1" noChangeAspect="1" noChangeArrowheads="1"/>
          </p:cNvPicPr>
          <p:nvPr>
            <p:ph idx="1"/>
          </p:nvPr>
        </p:nvPicPr>
        <p:blipFill>
          <a:blip r:embed="rId2"/>
          <a:srcRect/>
          <a:stretch>
            <a:fillRect/>
          </a:stretch>
        </p:blipFill>
        <p:spPr bwMode="auto">
          <a:xfrm>
            <a:off x="907821" y="533400"/>
            <a:ext cx="7328358" cy="6172200"/>
          </a:xfrm>
          <a:prstGeom prst="rect">
            <a:avLst/>
          </a:prstGeom>
          <a:noFill/>
          <a:ln w="9525">
            <a:noFill/>
            <a:miter lim="800000"/>
            <a:headEnd/>
            <a:tailEnd/>
          </a:ln>
          <a:effectLst/>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 y="0"/>
            <a:ext cx="8991600" cy="457200"/>
          </a:xfrm>
        </p:spPr>
        <p:txBody>
          <a:bodyPr>
            <a:noAutofit/>
          </a:bodyPr>
          <a:lstStyle/>
          <a:p>
            <a:r>
              <a:rPr lang="en-US" sz="2800" b="1" dirty="0"/>
              <a:t>Attribute Data Types and Domains in SQL</a:t>
            </a:r>
            <a:endParaRPr lang="en-US" sz="2800" dirty="0"/>
          </a:p>
        </p:txBody>
      </p:sp>
      <p:sp>
        <p:nvSpPr>
          <p:cNvPr id="3" name="Content Placeholder 2"/>
          <p:cNvSpPr>
            <a:spLocks noGrp="1"/>
          </p:cNvSpPr>
          <p:nvPr>
            <p:ph idx="1"/>
          </p:nvPr>
        </p:nvSpPr>
        <p:spPr>
          <a:xfrm>
            <a:off x="0" y="533400"/>
            <a:ext cx="9144000" cy="6172200"/>
          </a:xfrm>
        </p:spPr>
        <p:txBody>
          <a:bodyPr>
            <a:normAutofit/>
          </a:bodyPr>
          <a:lstStyle/>
          <a:p>
            <a:r>
              <a:rPr lang="en-US" sz="2400" dirty="0"/>
              <a:t>The basic data types available for attributes include numeric, character string, bit string, </a:t>
            </a:r>
            <a:r>
              <a:rPr lang="en-US" sz="2400" dirty="0" err="1"/>
              <a:t>boolean</a:t>
            </a:r>
            <a:r>
              <a:rPr lang="en-US" sz="2400" dirty="0"/>
              <a:t>, date, and time.</a:t>
            </a:r>
          </a:p>
          <a:p>
            <a:pPr>
              <a:buNone/>
            </a:pPr>
            <a:r>
              <a:rPr lang="en-US" sz="2400" b="1" dirty="0"/>
              <a:t>Numeric data types : </a:t>
            </a:r>
            <a:r>
              <a:rPr lang="en-US" sz="2400" dirty="0"/>
              <a:t>include integer numbers of various sizes (INTEGER or INT, and SMALLINT) and floating-point (real) numbers of various precision.</a:t>
            </a:r>
          </a:p>
          <a:p>
            <a:pPr>
              <a:buNone/>
            </a:pPr>
            <a:r>
              <a:rPr lang="en-US" sz="2400" b="1" dirty="0"/>
              <a:t>Character-string data types: </a:t>
            </a:r>
            <a:r>
              <a:rPr lang="en-US" sz="2400" dirty="0"/>
              <a:t>are either fixed length--CHAR(n) or CHARACTER(n), where </a:t>
            </a:r>
            <a:r>
              <a:rPr lang="en-US" sz="2400" i="1" dirty="0"/>
              <a:t>n is the number of characters-or varying length-VARCHAR(n)</a:t>
            </a:r>
          </a:p>
          <a:p>
            <a:pPr>
              <a:buNone/>
            </a:pPr>
            <a:r>
              <a:rPr lang="en-US" sz="2400" b="1" dirty="0"/>
              <a:t>Bit-string data types: </a:t>
            </a:r>
            <a:r>
              <a:rPr lang="en-US" sz="2400" dirty="0"/>
              <a:t>are either of fixed length n-BIT(n)-or varying length-BIT VARYING(n), where n is the maximum number of bits</a:t>
            </a:r>
          </a:p>
          <a:p>
            <a:pPr>
              <a:buNone/>
            </a:pPr>
            <a:r>
              <a:rPr lang="en-US" sz="2400" b="1" dirty="0"/>
              <a:t>A </a:t>
            </a:r>
            <a:r>
              <a:rPr lang="en-US" sz="2400" b="1" dirty="0" err="1"/>
              <a:t>boolean</a:t>
            </a:r>
            <a:r>
              <a:rPr lang="en-US" sz="2400" b="1" dirty="0"/>
              <a:t> data type: </a:t>
            </a:r>
            <a:r>
              <a:rPr lang="en-US" sz="2400" dirty="0"/>
              <a:t>has the traditional values of TRUE or FALSE. In SQL, because of the presence of NULL values, a three-valued logic is used, so a third possible value for a </a:t>
            </a:r>
            <a:r>
              <a:rPr lang="en-US" sz="2400" dirty="0" err="1"/>
              <a:t>boolean</a:t>
            </a:r>
            <a:r>
              <a:rPr lang="en-US" sz="2400" dirty="0"/>
              <a:t> data type is UNKNOWN</a:t>
            </a:r>
          </a:p>
          <a:p>
            <a:r>
              <a:rPr lang="en-US" sz="2400" b="1" dirty="0"/>
              <a:t>Date and </a:t>
            </a:r>
            <a:r>
              <a:rPr lang="en-US" sz="2400" b="1" dirty="0" err="1"/>
              <a:t>time:</a:t>
            </a:r>
            <a:r>
              <a:rPr lang="en-US" sz="2400" dirty="0" err="1"/>
              <a:t>The</a:t>
            </a:r>
            <a:r>
              <a:rPr lang="en-US" sz="2400" dirty="0"/>
              <a:t> DATE data type has ten positions, and its components are YEAR, MONTH, and DAY in the form YYYY-MM-DD</a:t>
            </a:r>
            <a:endParaRPr lang="en-US" sz="2400" b="1"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 y="0"/>
            <a:ext cx="8991600" cy="457200"/>
          </a:xfrm>
        </p:spPr>
        <p:txBody>
          <a:bodyPr>
            <a:normAutofit fontScale="90000"/>
          </a:bodyPr>
          <a:lstStyle/>
          <a:p>
            <a:endParaRPr lang="en-US" dirty="0"/>
          </a:p>
        </p:txBody>
      </p:sp>
      <p:sp>
        <p:nvSpPr>
          <p:cNvPr id="3" name="Content Placeholder 2"/>
          <p:cNvSpPr>
            <a:spLocks noGrp="1"/>
          </p:cNvSpPr>
          <p:nvPr>
            <p:ph idx="1"/>
          </p:nvPr>
        </p:nvSpPr>
        <p:spPr>
          <a:xfrm>
            <a:off x="0" y="533400"/>
            <a:ext cx="9144000" cy="6172200"/>
          </a:xfrm>
        </p:spPr>
        <p:txBody>
          <a:bodyPr>
            <a:normAutofit/>
          </a:bodyPr>
          <a:lstStyle/>
          <a:p>
            <a:r>
              <a:rPr lang="en-US" sz="2400" dirty="0"/>
              <a:t>a domain can be declared to specify a data type, and the domain name used with the attribute specification. </a:t>
            </a:r>
          </a:p>
          <a:p>
            <a:r>
              <a:rPr lang="en-US" sz="2400" dirty="0"/>
              <a:t>This makes it easier to </a:t>
            </a:r>
            <a:r>
              <a:rPr lang="en-US" sz="2400" b="1" dirty="0"/>
              <a:t>change the data type </a:t>
            </a:r>
            <a:r>
              <a:rPr lang="en-US" sz="2400" dirty="0"/>
              <a:t>for a domain that is used by </a:t>
            </a:r>
            <a:r>
              <a:rPr lang="en-US" sz="2400" b="1" dirty="0"/>
              <a:t>numerous attributes </a:t>
            </a:r>
            <a:r>
              <a:rPr lang="en-US" sz="2400" dirty="0"/>
              <a:t>in a schema, and improves schema readability.</a:t>
            </a:r>
          </a:p>
          <a:p>
            <a:r>
              <a:rPr lang="en-US" sz="2400" dirty="0"/>
              <a:t>For example, we can create a domain SSN_TYPE by the following statement:  </a:t>
            </a:r>
          </a:p>
          <a:p>
            <a:pPr>
              <a:buNone/>
            </a:pPr>
            <a:r>
              <a:rPr lang="en-US" sz="2400" b="1" dirty="0"/>
              <a:t>                     CREATE DOMAIN </a:t>
            </a:r>
            <a:r>
              <a:rPr lang="en-US" sz="2400" i="1" dirty="0"/>
              <a:t>SSN_TYPE</a:t>
            </a:r>
            <a:r>
              <a:rPr lang="en-US" sz="2400" b="1" dirty="0"/>
              <a:t> AS CHAR(9);</a:t>
            </a:r>
          </a:p>
          <a:p>
            <a:r>
              <a:rPr lang="en-US" sz="2400" dirty="0"/>
              <a:t>We can use SSN_TYPE in place of CHAR(9) for the attributes SSN and SUPERSSN of EMPLOYEE, MGRSSN of DEPARTMENT, ESSN of WORKS_ON, and ESSN of DEPENDENT declared before.</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 y="0"/>
            <a:ext cx="8991600" cy="457200"/>
          </a:xfrm>
        </p:spPr>
        <p:txBody>
          <a:bodyPr>
            <a:noAutofit/>
          </a:bodyPr>
          <a:lstStyle/>
          <a:p>
            <a:r>
              <a:rPr lang="en-US" sz="2400" b="1" dirty="0"/>
              <a:t>SPECIFYING BASIC CONSTRAINTS IN </a:t>
            </a:r>
            <a:r>
              <a:rPr lang="en-US" sz="2400" b="1" dirty="0" err="1"/>
              <a:t>SQl</a:t>
            </a:r>
            <a:endParaRPr lang="en-US" sz="2400" dirty="0"/>
          </a:p>
        </p:txBody>
      </p:sp>
      <p:sp>
        <p:nvSpPr>
          <p:cNvPr id="3" name="Content Placeholder 2"/>
          <p:cNvSpPr>
            <a:spLocks noGrp="1"/>
          </p:cNvSpPr>
          <p:nvPr>
            <p:ph idx="1"/>
          </p:nvPr>
        </p:nvSpPr>
        <p:spPr>
          <a:xfrm>
            <a:off x="0" y="533400"/>
            <a:ext cx="9144000" cy="6172200"/>
          </a:xfrm>
        </p:spPr>
        <p:txBody>
          <a:bodyPr>
            <a:normAutofit/>
          </a:bodyPr>
          <a:lstStyle/>
          <a:p>
            <a:r>
              <a:rPr lang="en-US" sz="2400" dirty="0"/>
              <a:t>Basic constraints  include key and referential integrity constraints, as well as restrictions on attribute domains and NULLs, and constraints on individual tuples within a relation.</a:t>
            </a:r>
          </a:p>
          <a:p>
            <a:pPr>
              <a:buNone/>
            </a:pPr>
            <a:r>
              <a:rPr lang="en-US" sz="2400" b="1" dirty="0"/>
              <a:t>Specifying Attribute Constraints and Attribute Defaults</a:t>
            </a:r>
          </a:p>
          <a:p>
            <a:r>
              <a:rPr lang="en-US" sz="2400" dirty="0"/>
              <a:t>a </a:t>
            </a:r>
            <a:r>
              <a:rPr lang="en-US" sz="2400" i="1" dirty="0"/>
              <a:t>constraint NOT NULL may be specified if </a:t>
            </a:r>
            <a:r>
              <a:rPr lang="en-US" sz="2400" dirty="0"/>
              <a:t>NULL is not permitted for a particular attribute. </a:t>
            </a:r>
          </a:p>
          <a:p>
            <a:r>
              <a:rPr lang="en-US" sz="2400" dirty="0"/>
              <a:t>This is always implicitly specified for the attributes that are part of the </a:t>
            </a:r>
            <a:r>
              <a:rPr lang="en-US" sz="2400" i="1" dirty="0"/>
              <a:t>primary key of each relation, but it can be specified for any </a:t>
            </a:r>
            <a:r>
              <a:rPr lang="en-US" sz="2400" dirty="0"/>
              <a:t>other attributes whose values are required not to be NULL</a:t>
            </a:r>
          </a:p>
          <a:p>
            <a:r>
              <a:rPr lang="en-US" sz="2400" dirty="0"/>
              <a:t>It is also possible to define a </a:t>
            </a:r>
            <a:r>
              <a:rPr lang="en-US" sz="2400" i="1" dirty="0"/>
              <a:t>default value for an attribute by  appending the clause </a:t>
            </a:r>
            <a:r>
              <a:rPr lang="en-US" sz="2400" dirty="0"/>
              <a:t>DEFAULT &lt;value&gt; to an attribute definition</a:t>
            </a:r>
          </a:p>
          <a:p>
            <a:r>
              <a:rPr lang="en-US" sz="2400" dirty="0"/>
              <a:t>The default value is included in any new tuple if an explicit value is not provided for that attribute</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 name="Picture 2"/>
          <p:cNvPicPr>
            <a:picLocks noGrp="1" noChangeAspect="1" noChangeArrowheads="1"/>
          </p:cNvPicPr>
          <p:nvPr>
            <p:ph idx="1"/>
          </p:nvPr>
        </p:nvPicPr>
        <p:blipFill>
          <a:blip r:embed="rId2"/>
          <a:srcRect/>
          <a:stretch>
            <a:fillRect/>
          </a:stretch>
        </p:blipFill>
        <p:spPr bwMode="auto">
          <a:xfrm>
            <a:off x="685800" y="0"/>
            <a:ext cx="7467600" cy="6858000"/>
          </a:xfrm>
          <a:prstGeom prst="rect">
            <a:avLst/>
          </a:prstGeom>
          <a:noFill/>
          <a:ln w="9525">
            <a:noFill/>
            <a:miter lim="800000"/>
            <a:headEnd/>
            <a:tailEnd/>
          </a:ln>
          <a:effectLst/>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 y="304800"/>
            <a:ext cx="8991600" cy="457200"/>
          </a:xfrm>
        </p:spPr>
        <p:txBody>
          <a:bodyPr>
            <a:noAutofit/>
          </a:bodyPr>
          <a:lstStyle/>
          <a:p>
            <a:r>
              <a:rPr lang="en-US" sz="2400" b="1" dirty="0"/>
              <a:t>Specifying Key and Referential Integrity Constraints</a:t>
            </a:r>
            <a:endParaRPr lang="en-US" sz="2400" dirty="0"/>
          </a:p>
        </p:txBody>
      </p:sp>
      <p:sp>
        <p:nvSpPr>
          <p:cNvPr id="3" name="Content Placeholder 2"/>
          <p:cNvSpPr>
            <a:spLocks noGrp="1"/>
          </p:cNvSpPr>
          <p:nvPr>
            <p:ph idx="1"/>
          </p:nvPr>
        </p:nvSpPr>
        <p:spPr>
          <a:xfrm>
            <a:off x="-28254" y="762000"/>
            <a:ext cx="9144000" cy="6248400"/>
          </a:xfrm>
        </p:spPr>
        <p:txBody>
          <a:bodyPr>
            <a:normAutofit/>
          </a:bodyPr>
          <a:lstStyle/>
          <a:p>
            <a:r>
              <a:rPr lang="en-US" sz="2400" dirty="0"/>
              <a:t>If a primary key has a </a:t>
            </a:r>
            <a:r>
              <a:rPr lang="en-US" sz="2400" i="1" dirty="0"/>
              <a:t>single attribute, </a:t>
            </a:r>
            <a:r>
              <a:rPr lang="en-US" sz="2400" b="1" i="1" dirty="0"/>
              <a:t>the clause can follow the attribute directly. </a:t>
            </a:r>
          </a:p>
          <a:p>
            <a:r>
              <a:rPr lang="en-US" sz="2400" i="1" dirty="0"/>
              <a:t>For example: </a:t>
            </a:r>
            <a:r>
              <a:rPr lang="en-US" sz="2400" dirty="0"/>
              <a:t>the primary key of DEPARTMENT can be specified as follows (instead of the way it is specified before) as</a:t>
            </a:r>
          </a:p>
          <a:p>
            <a:pPr>
              <a:buNone/>
            </a:pPr>
            <a:r>
              <a:rPr lang="en-US" sz="2400" dirty="0"/>
              <a:t>                      DNUMBER INT </a:t>
            </a:r>
            <a:r>
              <a:rPr lang="en-US" sz="2400" b="1" dirty="0"/>
              <a:t>PRIMARY KEY;</a:t>
            </a:r>
            <a:endParaRPr lang="en-US" sz="2400" i="1" dirty="0"/>
          </a:p>
          <a:p>
            <a:r>
              <a:rPr lang="en-US" sz="2400" b="1" dirty="0">
                <a:solidFill>
                  <a:srgbClr val="FF0000"/>
                </a:solidFill>
              </a:rPr>
              <a:t>Referential integrity </a:t>
            </a:r>
            <a:r>
              <a:rPr lang="en-US" sz="2400" dirty="0"/>
              <a:t>is specified via the </a:t>
            </a:r>
            <a:r>
              <a:rPr lang="en-US" sz="2400" b="1" dirty="0"/>
              <a:t>FOREIGN KEY clause</a:t>
            </a:r>
          </a:p>
          <a:p>
            <a:r>
              <a:rPr lang="en-US" sz="2400" dirty="0"/>
              <a:t>a referential integrity constraint can be </a:t>
            </a:r>
            <a:r>
              <a:rPr lang="en-US" sz="2400" b="1" dirty="0"/>
              <a:t>violated when tuples are inserted or deleted,</a:t>
            </a:r>
            <a:r>
              <a:rPr lang="en-US" sz="2400" dirty="0"/>
              <a:t> or when a foreign key or primary key attribute value is modified</a:t>
            </a:r>
          </a:p>
          <a:p>
            <a:r>
              <a:rPr lang="en-US" sz="2400" dirty="0"/>
              <a:t>schema designer can specify an </a:t>
            </a:r>
            <a:r>
              <a:rPr lang="en-US" sz="2400" dirty="0">
                <a:solidFill>
                  <a:srgbClr val="FF0000"/>
                </a:solidFill>
              </a:rPr>
              <a:t>alternative action</a:t>
            </a:r>
            <a:r>
              <a:rPr lang="en-US" sz="2400" dirty="0"/>
              <a:t> to be taken if a referential integrity constraint is violated, by attaching a referential triggered action like  </a:t>
            </a:r>
            <a:r>
              <a:rPr lang="en-US" sz="2400" b="1" dirty="0"/>
              <a:t>ON DELETE or ON UPDATE SET NULL, CASCADE, and SET DEFAULT.</a:t>
            </a:r>
          </a:p>
          <a:p>
            <a:endParaRPr lang="en-US" sz="24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 y="0"/>
            <a:ext cx="8991600" cy="457200"/>
          </a:xfrm>
        </p:spPr>
        <p:txBody>
          <a:bodyPr>
            <a:normAutofit fontScale="90000"/>
          </a:bodyPr>
          <a:lstStyle/>
          <a:p>
            <a:endParaRPr lang="en-US" dirty="0"/>
          </a:p>
        </p:txBody>
      </p:sp>
      <p:sp>
        <p:nvSpPr>
          <p:cNvPr id="3" name="Content Placeholder 2"/>
          <p:cNvSpPr>
            <a:spLocks noGrp="1"/>
          </p:cNvSpPr>
          <p:nvPr>
            <p:ph idx="1"/>
          </p:nvPr>
        </p:nvSpPr>
        <p:spPr>
          <a:xfrm>
            <a:off x="0" y="533400"/>
            <a:ext cx="9144000" cy="6172200"/>
          </a:xfrm>
        </p:spPr>
        <p:txBody>
          <a:bodyPr>
            <a:normAutofit/>
          </a:bodyPr>
          <a:lstStyle/>
          <a:p>
            <a:pPr marL="0" indent="0">
              <a:buNone/>
            </a:pPr>
            <a:r>
              <a:rPr lang="en-US" sz="2400" dirty="0">
                <a:solidFill>
                  <a:srgbClr val="FF0000"/>
                </a:solidFill>
              </a:rPr>
              <a:t>For example</a:t>
            </a:r>
            <a:r>
              <a:rPr lang="en-US" sz="2400" dirty="0"/>
              <a:t>: SET NULL ON DELETE and CASCADE ON UPDATE for the foreign key SUPERSSN of EMPLOYEE. </a:t>
            </a:r>
          </a:p>
          <a:p>
            <a:r>
              <a:rPr lang="en-US" sz="2400" dirty="0"/>
              <a:t>This means that if the tuple for a supervising employee is </a:t>
            </a:r>
            <a:r>
              <a:rPr lang="en-US" sz="2400" b="1" i="1" dirty="0">
                <a:solidFill>
                  <a:srgbClr val="FF0000"/>
                </a:solidFill>
              </a:rPr>
              <a:t>deleted,</a:t>
            </a:r>
            <a:r>
              <a:rPr lang="en-US" sz="2400" b="1" i="1" dirty="0"/>
              <a:t> the value of SUPERSSN is automatically set to NULL for all employee tuples that were </a:t>
            </a:r>
            <a:r>
              <a:rPr lang="en-US" sz="2400" b="1" dirty="0"/>
              <a:t>referencing the deleted employee tuple</a:t>
            </a:r>
            <a:r>
              <a:rPr lang="en-US" sz="2400" dirty="0"/>
              <a:t>.</a:t>
            </a:r>
          </a:p>
          <a:p>
            <a:r>
              <a:rPr lang="en-US" sz="2400" dirty="0"/>
              <a:t> On the other hand, if the SSN value for a supervising employee is </a:t>
            </a:r>
            <a:r>
              <a:rPr lang="en-US" sz="2400" b="1" i="1" dirty="0">
                <a:solidFill>
                  <a:srgbClr val="FF0000"/>
                </a:solidFill>
              </a:rPr>
              <a:t>updated</a:t>
            </a:r>
            <a:r>
              <a:rPr lang="en-US" sz="2400" i="1" dirty="0"/>
              <a:t> (say, because it was entered incorrectly), </a:t>
            </a:r>
            <a:r>
              <a:rPr lang="en-US" sz="2400" b="1" i="1" dirty="0"/>
              <a:t>the new value is cascaded to SUPERSSN for all employee tuples referencing the updated employee tuple.</a:t>
            </a:r>
            <a:endParaRPr lang="en-US" sz="2400" b="1"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 y="381000"/>
            <a:ext cx="8991600" cy="381000"/>
          </a:xfrm>
        </p:spPr>
        <p:txBody>
          <a:bodyPr>
            <a:noAutofit/>
          </a:bodyPr>
          <a:lstStyle/>
          <a:p>
            <a:r>
              <a:rPr lang="en-US" sz="3200" dirty="0"/>
              <a:t>Schema change statements</a:t>
            </a:r>
          </a:p>
        </p:txBody>
      </p:sp>
      <p:sp>
        <p:nvSpPr>
          <p:cNvPr id="3" name="Content Placeholder 2"/>
          <p:cNvSpPr>
            <a:spLocks noGrp="1"/>
          </p:cNvSpPr>
          <p:nvPr>
            <p:ph idx="1"/>
          </p:nvPr>
        </p:nvSpPr>
        <p:spPr>
          <a:xfrm>
            <a:off x="0" y="1066800"/>
            <a:ext cx="9144000" cy="6248400"/>
          </a:xfrm>
        </p:spPr>
        <p:txBody>
          <a:bodyPr>
            <a:normAutofit/>
          </a:bodyPr>
          <a:lstStyle/>
          <a:p>
            <a:r>
              <a:rPr lang="en-US" sz="2400" dirty="0"/>
              <a:t>used to alter a schema by adding or dropping tables, attributes, constraints, and other schema element</a:t>
            </a:r>
          </a:p>
          <a:p>
            <a:pPr>
              <a:buNone/>
            </a:pPr>
            <a:r>
              <a:rPr lang="en-US" sz="2400" b="1" dirty="0"/>
              <a:t>The DROP Command</a:t>
            </a:r>
          </a:p>
          <a:p>
            <a:r>
              <a:rPr lang="en-US" sz="2400" dirty="0"/>
              <a:t>The DROP command can be used to </a:t>
            </a:r>
            <a:r>
              <a:rPr lang="en-US" sz="2400" b="1" dirty="0"/>
              <a:t>drop </a:t>
            </a:r>
            <a:r>
              <a:rPr lang="en-US" sz="2400" b="1" i="1" dirty="0"/>
              <a:t>named schema elements, such as tables, </a:t>
            </a:r>
            <a:r>
              <a:rPr lang="en-US" sz="2400" b="1" dirty="0"/>
              <a:t>domains, or constraints</a:t>
            </a:r>
          </a:p>
          <a:p>
            <a:r>
              <a:rPr lang="en-US" sz="2400" dirty="0"/>
              <a:t>For example, if a whole schema is not needed any more, the DROP SCHEMA command can be used.</a:t>
            </a:r>
          </a:p>
          <a:p>
            <a:r>
              <a:rPr lang="en-US" sz="2400" dirty="0"/>
              <a:t> There are two </a:t>
            </a:r>
            <a:r>
              <a:rPr lang="en-US" sz="2400" i="1" dirty="0"/>
              <a:t>drop behavior options: CASCADE and RESTRICT.</a:t>
            </a:r>
          </a:p>
          <a:p>
            <a:r>
              <a:rPr lang="en-US" sz="2400" i="1" dirty="0"/>
              <a:t> For example, to remove the COMPANY database </a:t>
            </a:r>
            <a:r>
              <a:rPr lang="en-US" sz="2400" dirty="0"/>
              <a:t>schema and all its tables, domains, and other elements, the CASCADE option is used as follows:</a:t>
            </a:r>
            <a:endParaRPr lang="en-US" sz="2400" i="1" dirty="0"/>
          </a:p>
          <a:p>
            <a:pPr>
              <a:buNone/>
            </a:pPr>
            <a:r>
              <a:rPr lang="en-US" sz="2400" b="1" i="1" dirty="0"/>
              <a:t>                    </a:t>
            </a:r>
            <a:r>
              <a:rPr lang="en-US" sz="2400" b="1" i="1" dirty="0">
                <a:solidFill>
                  <a:srgbClr val="FF0000"/>
                </a:solidFill>
              </a:rPr>
              <a:t>DROP SCHEMA</a:t>
            </a:r>
            <a:r>
              <a:rPr lang="en-US" sz="2400" i="1" dirty="0">
                <a:solidFill>
                  <a:srgbClr val="FF0000"/>
                </a:solidFill>
              </a:rPr>
              <a:t> COMPANY </a:t>
            </a:r>
            <a:r>
              <a:rPr lang="en-US" sz="2400" b="1" i="1" dirty="0">
                <a:solidFill>
                  <a:srgbClr val="FF0000"/>
                </a:solidFill>
              </a:rPr>
              <a:t>CASCADE</a:t>
            </a:r>
            <a:r>
              <a:rPr lang="en-US" sz="2400" b="1" dirty="0"/>
              <a:t>;</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 y="304800"/>
            <a:ext cx="8991600" cy="457200"/>
          </a:xfrm>
        </p:spPr>
        <p:txBody>
          <a:bodyPr>
            <a:normAutofit fontScale="90000"/>
          </a:bodyPr>
          <a:lstStyle/>
          <a:p>
            <a:br>
              <a:rPr lang="en-US" sz="4400" b="1" dirty="0"/>
            </a:br>
            <a:r>
              <a:rPr lang="en-US" sz="4400" b="1" dirty="0"/>
              <a:t>The alter command </a:t>
            </a:r>
            <a:br>
              <a:rPr lang="en-US" sz="4400" b="1" dirty="0"/>
            </a:br>
            <a:endParaRPr lang="en-US" dirty="0"/>
          </a:p>
        </p:txBody>
      </p:sp>
      <p:sp>
        <p:nvSpPr>
          <p:cNvPr id="3" name="Content Placeholder 2"/>
          <p:cNvSpPr>
            <a:spLocks noGrp="1"/>
          </p:cNvSpPr>
          <p:nvPr>
            <p:ph idx="1"/>
          </p:nvPr>
        </p:nvSpPr>
        <p:spPr>
          <a:xfrm>
            <a:off x="0" y="914400"/>
            <a:ext cx="9144000" cy="5791200"/>
          </a:xfrm>
        </p:spPr>
        <p:txBody>
          <a:bodyPr>
            <a:normAutofit/>
          </a:bodyPr>
          <a:lstStyle/>
          <a:p>
            <a:r>
              <a:rPr lang="en-US" sz="2400" dirty="0"/>
              <a:t>tables or other named schema elements can be changed by using the ALTER command</a:t>
            </a:r>
          </a:p>
          <a:p>
            <a:r>
              <a:rPr lang="en-US" sz="2400" dirty="0"/>
              <a:t>For base tables, the possible </a:t>
            </a:r>
            <a:r>
              <a:rPr lang="en-US" sz="2400" i="1" dirty="0"/>
              <a:t>alter table actions include </a:t>
            </a:r>
            <a:r>
              <a:rPr lang="en-US" sz="2400" b="1" i="1" dirty="0"/>
              <a:t>adding </a:t>
            </a:r>
            <a:r>
              <a:rPr lang="en-US" sz="2400" b="1" dirty="0"/>
              <a:t>or dropping a column (attribute), changing a column definition, and adding or dropping table constraints.</a:t>
            </a:r>
          </a:p>
          <a:p>
            <a:r>
              <a:rPr lang="en-US" sz="2400" dirty="0"/>
              <a:t>For example to add an attribute for keeping track of </a:t>
            </a:r>
            <a:r>
              <a:rPr lang="en-US" sz="2400" b="1" dirty="0"/>
              <a:t>jobs</a:t>
            </a:r>
            <a:r>
              <a:rPr lang="en-US" sz="2400" dirty="0"/>
              <a:t> of employees to the EMPLOYEE  relations in the COMPANY schema, we can use the command </a:t>
            </a:r>
          </a:p>
          <a:p>
            <a:pPr>
              <a:buNone/>
            </a:pPr>
            <a:r>
              <a:rPr lang="en-US" sz="2400" dirty="0">
                <a:solidFill>
                  <a:srgbClr val="FF0000"/>
                </a:solidFill>
              </a:rPr>
              <a:t>             </a:t>
            </a:r>
            <a:r>
              <a:rPr lang="en-US" sz="2400" b="1" dirty="0">
                <a:solidFill>
                  <a:srgbClr val="FF0000"/>
                </a:solidFill>
              </a:rPr>
              <a:t>ALTER TABLE </a:t>
            </a:r>
            <a:r>
              <a:rPr lang="en-US" sz="2400" dirty="0">
                <a:solidFill>
                  <a:srgbClr val="FF0000"/>
                </a:solidFill>
              </a:rPr>
              <a:t> EMPLOYEE </a:t>
            </a:r>
            <a:r>
              <a:rPr lang="en-US" sz="2400" b="1" dirty="0">
                <a:solidFill>
                  <a:srgbClr val="FF0000"/>
                </a:solidFill>
              </a:rPr>
              <a:t>ADD </a:t>
            </a:r>
            <a:r>
              <a:rPr lang="en-US" sz="2400" dirty="0">
                <a:solidFill>
                  <a:srgbClr val="FF0000"/>
                </a:solidFill>
              </a:rPr>
              <a:t>JOB VARCHAR(12);</a:t>
            </a:r>
          </a:p>
          <a:p>
            <a:r>
              <a:rPr lang="en-US" sz="2400" dirty="0"/>
              <a:t>To drop a column, we must choose either CASCADE or RESTRICT for drop behavior.</a:t>
            </a:r>
          </a:p>
          <a:p>
            <a:r>
              <a:rPr lang="en-US" sz="2400" dirty="0"/>
              <a:t>If CASCADE is chosen, all constraints and views that reference the column are dropped automatically from the schema, along with the column.</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 y="304800"/>
            <a:ext cx="8991600" cy="457200"/>
          </a:xfrm>
        </p:spPr>
        <p:txBody>
          <a:bodyPr>
            <a:normAutofit fontScale="90000"/>
          </a:bodyPr>
          <a:lstStyle/>
          <a:p>
            <a:r>
              <a:rPr lang="en-US" sz="4400" b="1" dirty="0"/>
              <a:t>The alter command</a:t>
            </a:r>
            <a:endParaRPr lang="en-US" dirty="0"/>
          </a:p>
        </p:txBody>
      </p:sp>
      <p:sp>
        <p:nvSpPr>
          <p:cNvPr id="3" name="Content Placeholder 2"/>
          <p:cNvSpPr>
            <a:spLocks noGrp="1"/>
          </p:cNvSpPr>
          <p:nvPr>
            <p:ph idx="1"/>
          </p:nvPr>
        </p:nvSpPr>
        <p:spPr>
          <a:xfrm>
            <a:off x="0" y="762000"/>
            <a:ext cx="9144000" cy="6172200"/>
          </a:xfrm>
        </p:spPr>
        <p:txBody>
          <a:bodyPr>
            <a:normAutofit/>
          </a:bodyPr>
          <a:lstStyle/>
          <a:p>
            <a:endParaRPr lang="en-US" sz="2400" dirty="0">
              <a:solidFill>
                <a:srgbClr val="FF0000"/>
              </a:solidFill>
            </a:endParaRPr>
          </a:p>
          <a:p>
            <a:r>
              <a:rPr lang="en-US" sz="2400" dirty="0">
                <a:solidFill>
                  <a:srgbClr val="FF0000"/>
                </a:solidFill>
              </a:rPr>
              <a:t>For example</a:t>
            </a:r>
            <a:r>
              <a:rPr lang="en-US" sz="2400" dirty="0"/>
              <a:t>, the following command removes the attribute ADDRESS from the EMPLOYEE base table:</a:t>
            </a:r>
          </a:p>
          <a:p>
            <a:pPr>
              <a:buNone/>
            </a:pPr>
            <a:r>
              <a:rPr lang="en-US" sz="2400" b="1" dirty="0"/>
              <a:t>       </a:t>
            </a:r>
            <a:r>
              <a:rPr lang="en-US" sz="2400" b="1" dirty="0">
                <a:solidFill>
                  <a:srgbClr val="FF0000"/>
                </a:solidFill>
              </a:rPr>
              <a:t>ALTER TABLE </a:t>
            </a:r>
            <a:r>
              <a:rPr lang="en-US" sz="2400" dirty="0">
                <a:solidFill>
                  <a:srgbClr val="FF0000"/>
                </a:solidFill>
              </a:rPr>
              <a:t>EMPLOYEE</a:t>
            </a:r>
            <a:r>
              <a:rPr lang="en-US" sz="2400" b="1" dirty="0">
                <a:solidFill>
                  <a:srgbClr val="FF0000"/>
                </a:solidFill>
              </a:rPr>
              <a:t> DROP </a:t>
            </a:r>
            <a:r>
              <a:rPr lang="en-US" sz="2400" dirty="0">
                <a:solidFill>
                  <a:srgbClr val="FF0000"/>
                </a:solidFill>
              </a:rPr>
              <a:t>ADDRESS CASCADE;</a:t>
            </a:r>
          </a:p>
          <a:p>
            <a:r>
              <a:rPr lang="en-US" sz="2400" dirty="0"/>
              <a:t>It is also possible to </a:t>
            </a:r>
            <a:r>
              <a:rPr lang="en-US" sz="2400" b="1" dirty="0"/>
              <a:t>alter a column definition by dropping an existing default clause</a:t>
            </a:r>
            <a:r>
              <a:rPr lang="en-US" sz="2400" dirty="0"/>
              <a:t> or by defining a new default clause.</a:t>
            </a:r>
          </a:p>
          <a:p>
            <a:r>
              <a:rPr lang="en-US" sz="2400" dirty="0"/>
              <a:t> The following examples illustrate this clause:</a:t>
            </a:r>
          </a:p>
          <a:p>
            <a:pPr>
              <a:buNone/>
            </a:pPr>
            <a:r>
              <a:rPr lang="en-US" sz="1800" b="1" i="1" dirty="0"/>
              <a:t>                      ALTER TABLE DEPARTMENT ALTER MGRSSN DROP DEFAULT;</a:t>
            </a:r>
          </a:p>
          <a:p>
            <a:pPr>
              <a:buNone/>
            </a:pPr>
            <a:r>
              <a:rPr lang="en-US" sz="1800" b="1" i="1" dirty="0"/>
              <a:t>                      ALTER TABLE DEPARTMENT ALTER MGRSSN SET DEFAULT  </a:t>
            </a:r>
            <a:r>
              <a:rPr lang="en-US" sz="1800" i="1" dirty="0"/>
              <a:t>"333445555";</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 y="0"/>
            <a:ext cx="8991600" cy="457200"/>
          </a:xfrm>
        </p:spPr>
        <p:txBody>
          <a:bodyPr>
            <a:noAutofit/>
          </a:bodyPr>
          <a:lstStyle/>
          <a:p>
            <a:endParaRPr lang="en-US" sz="2800" dirty="0"/>
          </a:p>
        </p:txBody>
      </p:sp>
      <p:sp>
        <p:nvSpPr>
          <p:cNvPr id="3" name="Content Placeholder 2"/>
          <p:cNvSpPr>
            <a:spLocks noGrp="1"/>
          </p:cNvSpPr>
          <p:nvPr>
            <p:ph idx="1"/>
          </p:nvPr>
        </p:nvSpPr>
        <p:spPr>
          <a:xfrm>
            <a:off x="0" y="533400"/>
            <a:ext cx="9144000" cy="6172200"/>
          </a:xfrm>
        </p:spPr>
        <p:txBody>
          <a:bodyPr>
            <a:normAutofit/>
          </a:bodyPr>
          <a:lstStyle/>
          <a:p>
            <a:pPr>
              <a:buNone/>
            </a:pPr>
            <a:r>
              <a:rPr lang="en-US" dirty="0"/>
              <a:t>             </a:t>
            </a:r>
          </a:p>
          <a:p>
            <a:pPr>
              <a:buNone/>
            </a:pPr>
            <a:endParaRPr lang="en-US" dirty="0"/>
          </a:p>
          <a:p>
            <a:pPr>
              <a:buNone/>
            </a:pPr>
            <a:r>
              <a:rPr lang="en-US" sz="6600" dirty="0"/>
              <a:t>         Basic Queries in SQL</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 y="0"/>
            <a:ext cx="8991600" cy="457200"/>
          </a:xfrm>
        </p:spPr>
        <p:txBody>
          <a:bodyPr>
            <a:noAutofit/>
          </a:bodyPr>
          <a:lstStyle/>
          <a:p>
            <a:r>
              <a:rPr lang="en-US" sz="2800" dirty="0"/>
              <a:t>1. THE SElECT Statement</a:t>
            </a:r>
          </a:p>
        </p:txBody>
      </p:sp>
      <p:sp>
        <p:nvSpPr>
          <p:cNvPr id="3" name="Content Placeholder 2"/>
          <p:cNvSpPr>
            <a:spLocks noGrp="1"/>
          </p:cNvSpPr>
          <p:nvPr>
            <p:ph idx="1"/>
          </p:nvPr>
        </p:nvSpPr>
        <p:spPr>
          <a:xfrm>
            <a:off x="0" y="533400"/>
            <a:ext cx="9144000" cy="6172200"/>
          </a:xfrm>
        </p:spPr>
        <p:txBody>
          <a:bodyPr/>
          <a:lstStyle/>
          <a:p>
            <a:pPr>
              <a:buNone/>
            </a:pPr>
            <a:r>
              <a:rPr lang="en-US" sz="2400" dirty="0"/>
              <a:t>The SElECT-FROM-WHERE Structure syntax </a:t>
            </a:r>
          </a:p>
          <a:p>
            <a:pPr>
              <a:buNone/>
            </a:pPr>
            <a:r>
              <a:rPr lang="en-US" sz="2400" dirty="0"/>
              <a:t>                   </a:t>
            </a:r>
            <a:r>
              <a:rPr lang="en-US" sz="2400" dirty="0">
                <a:solidFill>
                  <a:schemeClr val="tx2">
                    <a:lumMod val="60000"/>
                    <a:lumOff val="40000"/>
                  </a:schemeClr>
                </a:solidFill>
              </a:rPr>
              <a:t>SELECT</a:t>
            </a:r>
            <a:r>
              <a:rPr lang="en-US" sz="2400" dirty="0"/>
              <a:t>&lt;attribute list&gt;</a:t>
            </a:r>
          </a:p>
          <a:p>
            <a:pPr>
              <a:buNone/>
            </a:pPr>
            <a:r>
              <a:rPr lang="en-US" sz="2400" dirty="0"/>
              <a:t>                   </a:t>
            </a:r>
            <a:r>
              <a:rPr lang="en-US" sz="2400" dirty="0">
                <a:solidFill>
                  <a:schemeClr val="tx2">
                    <a:lumMod val="60000"/>
                    <a:lumOff val="40000"/>
                  </a:schemeClr>
                </a:solidFill>
              </a:rPr>
              <a:t>FROM</a:t>
            </a:r>
            <a:r>
              <a:rPr lang="en-US" sz="2400" dirty="0"/>
              <a:t>&lt;table list&gt;</a:t>
            </a:r>
          </a:p>
          <a:p>
            <a:pPr>
              <a:buNone/>
            </a:pPr>
            <a:r>
              <a:rPr lang="en-US" sz="2400" dirty="0"/>
              <a:t>                   </a:t>
            </a:r>
            <a:r>
              <a:rPr lang="en-US" sz="2400" dirty="0">
                <a:solidFill>
                  <a:schemeClr val="tx2">
                    <a:lumMod val="60000"/>
                    <a:lumOff val="40000"/>
                  </a:schemeClr>
                </a:solidFill>
              </a:rPr>
              <a:t>WHERE</a:t>
            </a:r>
            <a:r>
              <a:rPr lang="en-US" sz="2400" dirty="0"/>
              <a:t>&lt;condition&gt;;</a:t>
            </a:r>
          </a:p>
          <a:p>
            <a:pPr>
              <a:buNone/>
            </a:pPr>
            <a:r>
              <a:rPr lang="en-US" sz="2400" dirty="0"/>
              <a:t>Where</a:t>
            </a:r>
          </a:p>
          <a:p>
            <a:r>
              <a:rPr lang="en-US" sz="2400" dirty="0"/>
              <a:t> </a:t>
            </a:r>
            <a:r>
              <a:rPr lang="en-US" sz="2400" b="1" i="1" dirty="0"/>
              <a:t>&lt;attribute list</a:t>
            </a:r>
            <a:r>
              <a:rPr lang="en-US" sz="2400" dirty="0"/>
              <a:t>&gt; is a list of attribute names whose values are to be retrieved by the query.</a:t>
            </a:r>
          </a:p>
          <a:p>
            <a:r>
              <a:rPr lang="en-US" sz="2400" b="1" i="1" dirty="0"/>
              <a:t>&lt;table list&gt; </a:t>
            </a:r>
            <a:r>
              <a:rPr lang="en-US" sz="2400" dirty="0"/>
              <a:t>is a list of the relation names required to process the query.</a:t>
            </a:r>
          </a:p>
          <a:p>
            <a:r>
              <a:rPr lang="en-US" sz="2400" b="1" i="1" dirty="0"/>
              <a:t>&lt;condition&gt; </a:t>
            </a:r>
            <a:r>
              <a:rPr lang="en-US" sz="2400" dirty="0"/>
              <a:t>is a conditional (Boolean) expression that identifies the tuples to be retrieved by the query.</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0"/>
            <a:ext cx="8686800" cy="381000"/>
          </a:xfrm>
        </p:spPr>
        <p:txBody>
          <a:bodyPr>
            <a:normAutofit fontScale="90000"/>
          </a:bodyPr>
          <a:lstStyle/>
          <a:p>
            <a:endParaRPr lang="en-US" dirty="0"/>
          </a:p>
        </p:txBody>
      </p:sp>
      <p:sp>
        <p:nvSpPr>
          <p:cNvPr id="3" name="Content Placeholder 2"/>
          <p:cNvSpPr>
            <a:spLocks noGrp="1"/>
          </p:cNvSpPr>
          <p:nvPr>
            <p:ph idx="1"/>
          </p:nvPr>
        </p:nvSpPr>
        <p:spPr>
          <a:xfrm>
            <a:off x="0" y="457200"/>
            <a:ext cx="8991600" cy="6400800"/>
          </a:xfrm>
        </p:spPr>
        <p:txBody>
          <a:bodyPr>
            <a:normAutofit/>
          </a:bodyPr>
          <a:lstStyle/>
          <a:p>
            <a:pPr>
              <a:buNone/>
            </a:pPr>
            <a:r>
              <a:rPr lang="en-US" sz="2400" b="1" dirty="0">
                <a:solidFill>
                  <a:srgbClr val="FF0000"/>
                </a:solidFill>
              </a:rPr>
              <a:t>Example 1</a:t>
            </a:r>
            <a:r>
              <a:rPr lang="en-US" sz="2400" dirty="0">
                <a:solidFill>
                  <a:srgbClr val="FF0000"/>
                </a:solidFill>
              </a:rPr>
              <a:t>:</a:t>
            </a:r>
          </a:p>
          <a:p>
            <a:r>
              <a:rPr lang="en-US" sz="2000" dirty="0"/>
              <a:t>Retrieve the </a:t>
            </a:r>
            <a:r>
              <a:rPr lang="en-US" sz="2000" b="1" dirty="0"/>
              <a:t>birthdate</a:t>
            </a:r>
            <a:r>
              <a:rPr lang="en-US" sz="2000" dirty="0"/>
              <a:t> and </a:t>
            </a:r>
            <a:r>
              <a:rPr lang="en-US" sz="2000" b="1" dirty="0"/>
              <a:t>address</a:t>
            </a:r>
            <a:r>
              <a:rPr lang="en-US" sz="2000" dirty="0"/>
              <a:t> of the employee) whose name is 'John B. Smith</a:t>
            </a:r>
            <a:r>
              <a:rPr lang="en-US" sz="2400" dirty="0"/>
              <a:t>'.</a:t>
            </a:r>
          </a:p>
          <a:p>
            <a:pPr lvl="1">
              <a:buNone/>
            </a:pPr>
            <a:r>
              <a:rPr lang="en-US" sz="2000" dirty="0"/>
              <a:t>      </a:t>
            </a:r>
            <a:r>
              <a:rPr lang="en-US" sz="2000" b="1" i="1" dirty="0"/>
              <a:t>SELECT BDATE, ADDRESS</a:t>
            </a:r>
          </a:p>
          <a:p>
            <a:pPr lvl="1">
              <a:buNone/>
            </a:pPr>
            <a:r>
              <a:rPr lang="en-US" sz="2000" b="1" i="1" dirty="0"/>
              <a:t>      FROM EMPLOYEE</a:t>
            </a:r>
          </a:p>
          <a:p>
            <a:pPr lvl="1">
              <a:buNone/>
            </a:pPr>
            <a:r>
              <a:rPr lang="en-US" sz="2000" b="1" i="1" dirty="0"/>
              <a:t>      WHERE    FNAME='John' AND MINIT='B' AND LNAME='Smith';</a:t>
            </a:r>
          </a:p>
          <a:p>
            <a:r>
              <a:rPr lang="en-US" sz="2400" dirty="0"/>
              <a:t>The query </a:t>
            </a:r>
            <a:r>
              <a:rPr lang="en-US" sz="2800" i="1" dirty="0"/>
              <a:t>selects </a:t>
            </a:r>
            <a:r>
              <a:rPr lang="en-US" sz="2400" i="1" dirty="0"/>
              <a:t>the </a:t>
            </a:r>
            <a:r>
              <a:rPr lang="en-US" sz="2000" i="1" dirty="0"/>
              <a:t>EMPLOYEE </a:t>
            </a:r>
            <a:r>
              <a:rPr lang="en-US" sz="2400" i="1" dirty="0"/>
              <a:t>tuples that satisfy the condition of the </a:t>
            </a:r>
            <a:r>
              <a:rPr lang="en-US" sz="2000" i="1" dirty="0"/>
              <a:t>WHERE </a:t>
            </a:r>
            <a:r>
              <a:rPr lang="en-US" sz="2400" i="1" dirty="0"/>
              <a:t>clause, then </a:t>
            </a:r>
            <a:r>
              <a:rPr lang="en-US" sz="2800" i="1" dirty="0"/>
              <a:t>projects </a:t>
            </a:r>
            <a:r>
              <a:rPr lang="en-US" sz="2400" i="1" dirty="0"/>
              <a:t>the </a:t>
            </a:r>
            <a:r>
              <a:rPr lang="en-US" sz="2400" dirty="0"/>
              <a:t>result on the </a:t>
            </a:r>
            <a:r>
              <a:rPr lang="en-US" sz="2000" dirty="0"/>
              <a:t>BDATE </a:t>
            </a:r>
            <a:r>
              <a:rPr lang="en-US" sz="2400" dirty="0"/>
              <a:t>and </a:t>
            </a:r>
            <a:r>
              <a:rPr lang="en-US" sz="2000" dirty="0"/>
              <a:t>ADDRESS </a:t>
            </a:r>
            <a:r>
              <a:rPr lang="en-US" sz="2400" dirty="0"/>
              <a:t>attributes listed in the </a:t>
            </a:r>
            <a:r>
              <a:rPr lang="en-US" sz="2000" dirty="0"/>
              <a:t>SELECT.</a:t>
            </a:r>
          </a:p>
          <a:p>
            <a:r>
              <a:rPr lang="en-US" sz="2000" dirty="0"/>
              <a:t>is similar to the following relational algebra expression</a:t>
            </a:r>
          </a:p>
          <a:p>
            <a:pPr>
              <a:buNone/>
            </a:pPr>
            <a:r>
              <a:rPr lang="en-US" sz="2400" b="1" i="1" dirty="0">
                <a:latin typeface="SimHei"/>
                <a:ea typeface="SimHei"/>
              </a:rPr>
              <a:t>   ∏</a:t>
            </a:r>
            <a:r>
              <a:rPr lang="en-US" sz="1800" dirty="0"/>
              <a:t>BDATE,ADDRESS(</a:t>
            </a:r>
            <a:r>
              <a:rPr lang="en-US" sz="2400" b="1" i="1" dirty="0" err="1"/>
              <a:t>σ</a:t>
            </a:r>
            <a:r>
              <a:rPr lang="en-US" sz="1800" dirty="0" err="1"/>
              <a:t>FNAME</a:t>
            </a:r>
            <a:r>
              <a:rPr lang="en-US" sz="1800" dirty="0"/>
              <a:t>=' John' AND MINIT=' B' AND LNAME=' Smith' (EMPLOYEE</a:t>
            </a:r>
            <a:r>
              <a:rPr lang="en-US" sz="2000" dirty="0"/>
              <a:t>))</a:t>
            </a:r>
          </a:p>
          <a:p>
            <a:pPr>
              <a:buNone/>
            </a:pPr>
            <a:endParaRPr lang="en-US" sz="2000" b="1" dirty="0"/>
          </a:p>
        </p:txBody>
      </p:sp>
      <p:sp>
        <p:nvSpPr>
          <p:cNvPr id="4" name="Rectangle 3"/>
          <p:cNvSpPr/>
          <p:nvPr/>
        </p:nvSpPr>
        <p:spPr>
          <a:xfrm>
            <a:off x="1219200" y="5334000"/>
            <a:ext cx="4876800" cy="914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170" name="Picture 2"/>
          <p:cNvPicPr>
            <a:picLocks noChangeAspect="1" noChangeArrowheads="1"/>
          </p:cNvPicPr>
          <p:nvPr/>
        </p:nvPicPr>
        <p:blipFill>
          <a:blip r:embed="rId2"/>
          <a:srcRect/>
          <a:stretch>
            <a:fillRect/>
          </a:stretch>
        </p:blipFill>
        <p:spPr bwMode="auto">
          <a:xfrm>
            <a:off x="1219200" y="5334000"/>
            <a:ext cx="4819650" cy="952500"/>
          </a:xfrm>
          <a:prstGeom prst="rect">
            <a:avLst/>
          </a:prstGeom>
          <a:noFill/>
          <a:ln w="9525">
            <a:noFill/>
            <a:miter lim="800000"/>
            <a:headEnd/>
            <a:tailEnd/>
          </a:ln>
          <a:effectLst/>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0"/>
            <a:ext cx="8686800" cy="381000"/>
          </a:xfrm>
        </p:spPr>
        <p:txBody>
          <a:bodyPr>
            <a:normAutofit fontScale="90000"/>
          </a:bodyPr>
          <a:lstStyle/>
          <a:p>
            <a:endParaRPr lang="en-US" dirty="0"/>
          </a:p>
        </p:txBody>
      </p:sp>
      <p:sp>
        <p:nvSpPr>
          <p:cNvPr id="3" name="Content Placeholder 2"/>
          <p:cNvSpPr>
            <a:spLocks noGrp="1"/>
          </p:cNvSpPr>
          <p:nvPr>
            <p:ph idx="1"/>
          </p:nvPr>
        </p:nvSpPr>
        <p:spPr>
          <a:xfrm>
            <a:off x="0" y="457200"/>
            <a:ext cx="8991600" cy="6400800"/>
          </a:xfrm>
        </p:spPr>
        <p:txBody>
          <a:bodyPr>
            <a:normAutofit lnSpcReduction="10000"/>
          </a:bodyPr>
          <a:lstStyle/>
          <a:p>
            <a:pPr>
              <a:buNone/>
            </a:pPr>
            <a:r>
              <a:rPr lang="en-US" sz="2400" b="1" dirty="0"/>
              <a:t>Example 2:</a:t>
            </a:r>
          </a:p>
          <a:p>
            <a:pPr>
              <a:buNone/>
            </a:pPr>
            <a:r>
              <a:rPr lang="en-US" sz="2400" dirty="0"/>
              <a:t>Retrieve the name and address of all employees who work for the 'Research' department.</a:t>
            </a:r>
          </a:p>
          <a:p>
            <a:pPr lvl="1">
              <a:buNone/>
            </a:pPr>
            <a:r>
              <a:rPr lang="en-US" sz="2000" b="1" dirty="0"/>
              <a:t>SELECT  </a:t>
            </a:r>
            <a:r>
              <a:rPr lang="en-US" sz="2000" dirty="0"/>
              <a:t>FNAME,LNAME,ADDRESS</a:t>
            </a:r>
          </a:p>
          <a:p>
            <a:pPr lvl="1">
              <a:buNone/>
            </a:pPr>
            <a:r>
              <a:rPr lang="en-US" sz="2000" b="1" dirty="0"/>
              <a:t>FROM </a:t>
            </a:r>
            <a:r>
              <a:rPr lang="en-US" sz="2000" dirty="0"/>
              <a:t>EMPLOYEE,DEPARTMENT</a:t>
            </a:r>
          </a:p>
          <a:p>
            <a:pPr lvl="1">
              <a:buNone/>
            </a:pPr>
            <a:r>
              <a:rPr lang="en-US" sz="2000" b="1" dirty="0"/>
              <a:t>WHERE </a:t>
            </a:r>
            <a:r>
              <a:rPr lang="en-US" sz="2000" dirty="0"/>
              <a:t>DNAME='Research' </a:t>
            </a:r>
            <a:r>
              <a:rPr lang="en-US" sz="2000" b="1" dirty="0"/>
              <a:t>AND DNUMBER=DNO;</a:t>
            </a:r>
          </a:p>
          <a:p>
            <a:pPr lvl="1">
              <a:buNone/>
            </a:pPr>
            <a:endParaRPr lang="en-US" sz="2000" b="1" dirty="0"/>
          </a:p>
          <a:p>
            <a:pPr lvl="1">
              <a:buNone/>
            </a:pPr>
            <a:endParaRPr lang="en-US" sz="2000" dirty="0"/>
          </a:p>
          <a:p>
            <a:pPr>
              <a:buNone/>
            </a:pPr>
            <a:endParaRPr lang="en-US" sz="2400" dirty="0"/>
          </a:p>
          <a:p>
            <a:pPr>
              <a:buNone/>
            </a:pPr>
            <a:endParaRPr lang="en-US" sz="2400" dirty="0"/>
          </a:p>
          <a:p>
            <a:pPr>
              <a:buNone/>
            </a:pPr>
            <a:endParaRPr lang="en-US" sz="2400" dirty="0"/>
          </a:p>
          <a:p>
            <a:pPr>
              <a:buNone/>
            </a:pPr>
            <a:endParaRPr lang="en-US" sz="2400" dirty="0"/>
          </a:p>
          <a:p>
            <a:pPr>
              <a:buNone/>
            </a:pPr>
            <a:r>
              <a:rPr lang="en-US" sz="2400" dirty="0">
                <a:solidFill>
                  <a:srgbClr val="FF0000"/>
                </a:solidFill>
              </a:rPr>
              <a:t>Example:3</a:t>
            </a:r>
          </a:p>
          <a:p>
            <a:r>
              <a:rPr lang="en-US" sz="2400" dirty="0"/>
              <a:t>For every project located in 'Stafford', list the project number, the controlling department number, and the department manager's last name, address, and birthdates.</a:t>
            </a:r>
          </a:p>
        </p:txBody>
      </p:sp>
      <p:sp>
        <p:nvSpPr>
          <p:cNvPr id="8" name="Rectangle 7"/>
          <p:cNvSpPr/>
          <p:nvPr/>
        </p:nvSpPr>
        <p:spPr>
          <a:xfrm>
            <a:off x="609600" y="2971800"/>
            <a:ext cx="6172200" cy="1981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6149" name="Picture 5"/>
          <p:cNvPicPr>
            <a:picLocks noChangeAspect="1" noChangeArrowheads="1"/>
          </p:cNvPicPr>
          <p:nvPr/>
        </p:nvPicPr>
        <p:blipFill>
          <a:blip r:embed="rId2"/>
          <a:srcRect/>
          <a:stretch>
            <a:fillRect/>
          </a:stretch>
        </p:blipFill>
        <p:spPr bwMode="auto">
          <a:xfrm>
            <a:off x="457200" y="2895601"/>
            <a:ext cx="7610475" cy="2057400"/>
          </a:xfrm>
          <a:prstGeom prst="rect">
            <a:avLst/>
          </a:prstGeom>
          <a:noFill/>
          <a:ln w="9525">
            <a:noFill/>
            <a:miter lim="800000"/>
            <a:headEnd/>
            <a:tailEnd/>
          </a:ln>
          <a:effectLst/>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381000"/>
          </a:xfrm>
        </p:spPr>
        <p:txBody>
          <a:bodyPr>
            <a:normAutofit fontScale="90000"/>
          </a:bodyPr>
          <a:lstStyle/>
          <a:p>
            <a:endParaRPr lang="en-US" dirty="0"/>
          </a:p>
        </p:txBody>
      </p:sp>
      <p:sp>
        <p:nvSpPr>
          <p:cNvPr id="3" name="Content Placeholder 2"/>
          <p:cNvSpPr>
            <a:spLocks noGrp="1"/>
          </p:cNvSpPr>
          <p:nvPr>
            <p:ph idx="1"/>
          </p:nvPr>
        </p:nvSpPr>
        <p:spPr>
          <a:xfrm>
            <a:off x="152400" y="381000"/>
            <a:ext cx="8839200" cy="6477000"/>
          </a:xfrm>
        </p:spPr>
        <p:txBody>
          <a:bodyPr>
            <a:normAutofit/>
          </a:bodyPr>
          <a:lstStyle/>
          <a:p>
            <a:pPr>
              <a:buNone/>
            </a:pPr>
            <a:r>
              <a:rPr lang="en-US" sz="2400" b="1" dirty="0"/>
              <a:t>SELECT</a:t>
            </a:r>
            <a:r>
              <a:rPr lang="en-US" sz="2400" dirty="0"/>
              <a:t> PNUMBER,DNUM,LNAME,ADDRESS,BDATE</a:t>
            </a:r>
          </a:p>
          <a:p>
            <a:pPr>
              <a:buNone/>
            </a:pPr>
            <a:r>
              <a:rPr lang="en-US" sz="2400" b="1" dirty="0"/>
              <a:t>FROM</a:t>
            </a:r>
            <a:r>
              <a:rPr lang="en-US" sz="2400" dirty="0"/>
              <a:t>   PROJECT,DEPARTMENT,EMPLOYEE</a:t>
            </a:r>
          </a:p>
          <a:p>
            <a:pPr>
              <a:buNone/>
            </a:pPr>
            <a:r>
              <a:rPr lang="en-US" sz="2400" b="1" dirty="0"/>
              <a:t>WHERE</a:t>
            </a:r>
            <a:r>
              <a:rPr lang="en-US" sz="2400" dirty="0"/>
              <a:t> DNUM=DNUMBER AND MGRSSN=SSN AND</a:t>
            </a:r>
          </a:p>
          <a:p>
            <a:pPr>
              <a:buNone/>
            </a:pPr>
            <a:r>
              <a:rPr lang="en-US" sz="2400" dirty="0"/>
              <a:t>               PLOCATION=“Stafford”;</a:t>
            </a:r>
          </a:p>
          <a:p>
            <a:pPr>
              <a:buNone/>
            </a:pPr>
            <a:endParaRPr lang="en-US" sz="2400" dirty="0"/>
          </a:p>
          <a:p>
            <a:pPr>
              <a:buNone/>
            </a:pPr>
            <a:endParaRPr lang="en-US" sz="2400" dirty="0"/>
          </a:p>
          <a:p>
            <a:pPr>
              <a:buNone/>
            </a:pPr>
            <a:endParaRPr lang="en-US" sz="2400" dirty="0"/>
          </a:p>
          <a:p>
            <a:pPr>
              <a:buNone/>
            </a:pPr>
            <a:endParaRPr lang="en-US" sz="2000" dirty="0"/>
          </a:p>
          <a:p>
            <a:r>
              <a:rPr lang="en-US" sz="2400" dirty="0"/>
              <a:t>The join condition DNUM = DNUMBER relates a project to its controlling department, whereas the join condition MGRSSN = SSN relates the controlling department to the employee who manages that department</a:t>
            </a:r>
          </a:p>
          <a:p>
            <a:endParaRPr lang="en-US" sz="2400" dirty="0"/>
          </a:p>
        </p:txBody>
      </p:sp>
      <p:sp>
        <p:nvSpPr>
          <p:cNvPr id="6" name="Rectangle 5"/>
          <p:cNvSpPr/>
          <p:nvPr/>
        </p:nvSpPr>
        <p:spPr>
          <a:xfrm>
            <a:off x="762000" y="2819400"/>
            <a:ext cx="7467600" cy="762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28" name="Picture 4"/>
          <p:cNvPicPr>
            <a:picLocks noChangeAspect="1" noChangeArrowheads="1"/>
          </p:cNvPicPr>
          <p:nvPr/>
        </p:nvPicPr>
        <p:blipFill>
          <a:blip r:embed="rId2"/>
          <a:srcRect/>
          <a:stretch>
            <a:fillRect/>
          </a:stretch>
        </p:blipFill>
        <p:spPr bwMode="auto">
          <a:xfrm>
            <a:off x="0" y="2286000"/>
            <a:ext cx="8763000" cy="1371599"/>
          </a:xfrm>
          <a:prstGeom prst="rect">
            <a:avLst/>
          </a:prstGeom>
          <a:noFill/>
          <a:ln w="9525">
            <a:noFill/>
            <a:miter lim="800000"/>
            <a:headEnd/>
            <a:tailEnd/>
          </a:ln>
          <a:effectLst/>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200" y="381000"/>
            <a:ext cx="9144000" cy="457200"/>
          </a:xfrm>
        </p:spPr>
        <p:txBody>
          <a:bodyPr>
            <a:normAutofit/>
          </a:bodyPr>
          <a:lstStyle/>
          <a:p>
            <a:pPr algn="l"/>
            <a:r>
              <a:rPr lang="en-US" sz="2400" b="1" dirty="0"/>
              <a:t>Ambiguous Attribute Names, Aliasing, and Tuple Variables</a:t>
            </a:r>
            <a:endParaRPr lang="en-US" sz="3200" dirty="0"/>
          </a:p>
        </p:txBody>
      </p:sp>
      <p:sp>
        <p:nvSpPr>
          <p:cNvPr id="3" name="Content Placeholder 2"/>
          <p:cNvSpPr>
            <a:spLocks noGrp="1"/>
          </p:cNvSpPr>
          <p:nvPr>
            <p:ph idx="1"/>
          </p:nvPr>
        </p:nvSpPr>
        <p:spPr>
          <a:xfrm>
            <a:off x="0" y="990600"/>
            <a:ext cx="9144000" cy="5867400"/>
          </a:xfrm>
        </p:spPr>
        <p:txBody>
          <a:bodyPr>
            <a:normAutofit/>
          </a:bodyPr>
          <a:lstStyle/>
          <a:p>
            <a:endParaRPr lang="en-US" sz="2000" dirty="0"/>
          </a:p>
          <a:p>
            <a:r>
              <a:rPr lang="en-US" sz="2000" dirty="0"/>
              <a:t>In SQL the same name can be used for two (or more) attributes as long as the attributes are </a:t>
            </a:r>
            <a:r>
              <a:rPr lang="en-US" sz="2000" b="1" dirty="0"/>
              <a:t>in </a:t>
            </a:r>
            <a:r>
              <a:rPr lang="en-US" sz="2000" b="1" i="1" dirty="0"/>
              <a:t>different relations</a:t>
            </a:r>
            <a:r>
              <a:rPr lang="en-US" sz="2000" i="1" dirty="0"/>
              <a:t>. </a:t>
            </a:r>
          </a:p>
          <a:p>
            <a:r>
              <a:rPr lang="en-US" sz="2000" i="1" dirty="0"/>
              <a:t>If this is the case, and a query refers to two or more attributes with the </a:t>
            </a:r>
            <a:r>
              <a:rPr lang="en-US" sz="2000" dirty="0"/>
              <a:t>same name, we must </a:t>
            </a:r>
            <a:r>
              <a:rPr lang="en-US" sz="2000" b="1" dirty="0"/>
              <a:t>qualify the attribute name with the relation name to prevent ambiguity</a:t>
            </a:r>
            <a:r>
              <a:rPr lang="en-US" sz="2000" dirty="0"/>
              <a:t>.</a:t>
            </a:r>
          </a:p>
          <a:p>
            <a:r>
              <a:rPr lang="en-US" sz="2000" dirty="0"/>
              <a:t>This is done by </a:t>
            </a:r>
            <a:r>
              <a:rPr lang="en-US" sz="2000" i="1" dirty="0"/>
              <a:t>prefixing the relation name to the attribute name and separating the </a:t>
            </a:r>
            <a:r>
              <a:rPr lang="en-US" sz="2000" dirty="0"/>
              <a:t>two by a period.</a:t>
            </a:r>
          </a:p>
          <a:p>
            <a:r>
              <a:rPr lang="en-US" sz="2000" b="1" dirty="0">
                <a:solidFill>
                  <a:srgbClr val="FF0000"/>
                </a:solidFill>
              </a:rPr>
              <a:t>Ex</a:t>
            </a:r>
            <a:r>
              <a:rPr lang="en-US" sz="2000" dirty="0"/>
              <a:t> : if the DNO and LNAME attributes of the EMPLOYEE relation were called DNUMBER and NAME, and the DNAME attribute of DEPARTMENT was also called NAME. Then to prevent ambiguity, the query rewritten as :</a:t>
            </a:r>
          </a:p>
          <a:p>
            <a:endParaRPr lang="en-US" sz="2400" dirty="0"/>
          </a:p>
          <a:p>
            <a:endParaRPr lang="en-US" sz="2400" dirty="0"/>
          </a:p>
        </p:txBody>
      </p:sp>
      <p:sp>
        <p:nvSpPr>
          <p:cNvPr id="5" name="Rectangle 4"/>
          <p:cNvSpPr/>
          <p:nvPr/>
        </p:nvSpPr>
        <p:spPr>
          <a:xfrm>
            <a:off x="381000" y="4876800"/>
            <a:ext cx="8229600" cy="18288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2051" name="Picture 3"/>
          <p:cNvPicPr>
            <a:picLocks noChangeAspect="1" noChangeArrowheads="1"/>
          </p:cNvPicPr>
          <p:nvPr/>
        </p:nvPicPr>
        <p:blipFill>
          <a:blip r:embed="rId2"/>
          <a:srcRect/>
          <a:stretch>
            <a:fillRect/>
          </a:stretch>
        </p:blipFill>
        <p:spPr bwMode="auto">
          <a:xfrm>
            <a:off x="381000" y="4876800"/>
            <a:ext cx="8305800" cy="1695450"/>
          </a:xfrm>
          <a:prstGeom prst="rect">
            <a:avLst/>
          </a:prstGeom>
          <a:noFill/>
          <a:ln w="9525">
            <a:noFill/>
            <a:miter lim="800000"/>
            <a:headEnd/>
            <a:tailEnd/>
          </a:ln>
          <a:effectLst/>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381000"/>
          </a:xfrm>
        </p:spPr>
        <p:txBody>
          <a:bodyPr>
            <a:normAutofit fontScale="90000"/>
          </a:bodyPr>
          <a:lstStyle/>
          <a:p>
            <a:endParaRPr lang="en-US" dirty="0"/>
          </a:p>
        </p:txBody>
      </p:sp>
      <p:sp>
        <p:nvSpPr>
          <p:cNvPr id="3" name="Content Placeholder 2"/>
          <p:cNvSpPr>
            <a:spLocks noGrp="1"/>
          </p:cNvSpPr>
          <p:nvPr>
            <p:ph idx="1"/>
          </p:nvPr>
        </p:nvSpPr>
        <p:spPr>
          <a:xfrm>
            <a:off x="152400" y="381000"/>
            <a:ext cx="8839200" cy="6477000"/>
          </a:xfrm>
        </p:spPr>
        <p:txBody>
          <a:bodyPr>
            <a:normAutofit fontScale="92500" lnSpcReduction="10000"/>
          </a:bodyPr>
          <a:lstStyle/>
          <a:p>
            <a:r>
              <a:rPr lang="en-US" sz="2800" dirty="0"/>
              <a:t>Ambiguity also arises in the case of queries that refer to the same relation twice, as in the following example</a:t>
            </a:r>
          </a:p>
          <a:p>
            <a:r>
              <a:rPr lang="en-US" sz="2800" dirty="0">
                <a:solidFill>
                  <a:srgbClr val="FF0000"/>
                </a:solidFill>
              </a:rPr>
              <a:t>Example</a:t>
            </a:r>
            <a:r>
              <a:rPr lang="en-US" sz="2800" dirty="0"/>
              <a:t>: </a:t>
            </a:r>
            <a:r>
              <a:rPr lang="en-US" sz="2400" b="1" i="1" dirty="0"/>
              <a:t>For each employee, retrieve the employee's first and last name and the first and last name of his or her immediate supervisor.</a:t>
            </a:r>
          </a:p>
          <a:p>
            <a:pPr lvl="2">
              <a:buNone/>
            </a:pPr>
            <a:r>
              <a:rPr lang="en-US" sz="2000" dirty="0"/>
              <a:t>SELECT</a:t>
            </a:r>
            <a:r>
              <a:rPr lang="en-US" sz="2000" b="1" dirty="0"/>
              <a:t> </a:t>
            </a:r>
            <a:r>
              <a:rPr lang="en-US" sz="2000" dirty="0"/>
              <a:t>E.FNAME, E.LNAME, S.FNAME, S.LNAME</a:t>
            </a:r>
            <a:endParaRPr lang="en-US" sz="2000" b="1" dirty="0"/>
          </a:p>
          <a:p>
            <a:pPr lvl="2">
              <a:buNone/>
            </a:pPr>
            <a:r>
              <a:rPr lang="en-US" sz="2000" dirty="0"/>
              <a:t>FROM</a:t>
            </a:r>
            <a:r>
              <a:rPr lang="en-US" sz="2000" b="1" dirty="0"/>
              <a:t>    EMPLOYEE</a:t>
            </a:r>
            <a:r>
              <a:rPr lang="en-US" sz="2000" dirty="0"/>
              <a:t> </a:t>
            </a:r>
            <a:r>
              <a:rPr lang="en-US" sz="2000" b="1" dirty="0"/>
              <a:t>AS E, EMPLOYEE AS S</a:t>
            </a:r>
          </a:p>
          <a:p>
            <a:pPr lvl="2">
              <a:buNone/>
            </a:pPr>
            <a:r>
              <a:rPr lang="en-US" sz="2000" dirty="0"/>
              <a:t>WHERE</a:t>
            </a:r>
            <a:r>
              <a:rPr lang="en-US" sz="2000" b="1" dirty="0"/>
              <a:t> </a:t>
            </a:r>
            <a:r>
              <a:rPr lang="en-US" sz="2000" dirty="0"/>
              <a:t>E.SUPERSSN=S.SSN;</a:t>
            </a:r>
          </a:p>
          <a:p>
            <a:r>
              <a:rPr lang="en-US" sz="2800" dirty="0"/>
              <a:t>In this case, we are allowed to declare alternative relation names E and S, called</a:t>
            </a:r>
            <a:r>
              <a:rPr lang="en-US" sz="2800" dirty="0">
                <a:solidFill>
                  <a:srgbClr val="FF0000"/>
                </a:solidFill>
              </a:rPr>
              <a:t> aliases </a:t>
            </a:r>
            <a:r>
              <a:rPr lang="en-US" sz="2800" dirty="0"/>
              <a:t>or tuple variables, for the EMPLOYEE relation.</a:t>
            </a:r>
          </a:p>
          <a:p>
            <a:r>
              <a:rPr lang="en-US" sz="2800" dirty="0"/>
              <a:t>An alias can follow the keyword AS, as shown in above</a:t>
            </a:r>
            <a:r>
              <a:rPr lang="en-US" sz="2800" i="1" dirty="0"/>
              <a:t>, or it can directly follow the relation name-for example, by writing </a:t>
            </a:r>
            <a:r>
              <a:rPr lang="en-US" sz="2800" b="1" i="1" dirty="0"/>
              <a:t>EMPLOYEE </a:t>
            </a:r>
            <a:r>
              <a:rPr lang="en-US" sz="2800" b="1" dirty="0"/>
              <a:t>E, EMPLOYEE S </a:t>
            </a:r>
            <a:r>
              <a:rPr lang="en-US" sz="2800" dirty="0"/>
              <a:t>in the FROM clause</a:t>
            </a:r>
          </a:p>
          <a:p>
            <a:r>
              <a:rPr lang="en-US" sz="2800" dirty="0"/>
              <a:t>IN this example we can think of E and S as two </a:t>
            </a:r>
            <a:r>
              <a:rPr lang="en-US" sz="2800" i="1" dirty="0"/>
              <a:t>different copies of the EMPLOYEE relation; the first, </a:t>
            </a:r>
            <a:r>
              <a:rPr lang="en-US" sz="2800" b="1" i="1" dirty="0"/>
              <a:t>E, </a:t>
            </a:r>
            <a:r>
              <a:rPr lang="en-US" sz="2800" b="1" dirty="0"/>
              <a:t>represents employees in the role of supervisees; the second, S, represents employees in the role of supervisors</a:t>
            </a:r>
            <a:r>
              <a:rPr lang="en-US" sz="2800" dirty="0"/>
              <a:t>.</a:t>
            </a:r>
            <a:endParaRPr lang="en-US" sz="2800" b="1" i="1"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381000"/>
          </a:xfrm>
        </p:spPr>
        <p:txBody>
          <a:bodyPr>
            <a:normAutofit fontScale="90000"/>
          </a:bodyPr>
          <a:lstStyle/>
          <a:p>
            <a:endParaRPr lang="en-US" dirty="0"/>
          </a:p>
        </p:txBody>
      </p:sp>
      <p:sp>
        <p:nvSpPr>
          <p:cNvPr id="3" name="Content Placeholder 2"/>
          <p:cNvSpPr>
            <a:spLocks noGrp="1"/>
          </p:cNvSpPr>
          <p:nvPr>
            <p:ph idx="1"/>
          </p:nvPr>
        </p:nvSpPr>
        <p:spPr>
          <a:xfrm>
            <a:off x="152400" y="381000"/>
            <a:ext cx="8839200" cy="6477000"/>
          </a:xfrm>
        </p:spPr>
        <p:txBody>
          <a:bodyPr>
            <a:normAutofit/>
          </a:bodyPr>
          <a:lstStyle/>
          <a:p>
            <a:endParaRPr lang="en-US" sz="2400" dirty="0"/>
          </a:p>
          <a:p>
            <a:endParaRPr lang="en-US" sz="2400" dirty="0"/>
          </a:p>
          <a:p>
            <a:endParaRPr lang="en-US" sz="2400" dirty="0"/>
          </a:p>
          <a:p>
            <a:endParaRPr lang="en-US" sz="2400" dirty="0"/>
          </a:p>
          <a:p>
            <a:endParaRPr lang="en-US" sz="2400" dirty="0"/>
          </a:p>
          <a:p>
            <a:endParaRPr lang="en-US" sz="2400" dirty="0"/>
          </a:p>
          <a:p>
            <a:pPr>
              <a:buNone/>
            </a:pPr>
            <a:endParaRPr lang="en-US" sz="2400" dirty="0"/>
          </a:p>
          <a:p>
            <a:r>
              <a:rPr lang="en-US" sz="2400" dirty="0"/>
              <a:t>It is also possible to rename the relation attributes within the query in SQL by giving them aliases. For example, if we write EMPLOYEE </a:t>
            </a:r>
            <a:r>
              <a:rPr lang="en-US" sz="2400" b="1" dirty="0"/>
              <a:t>AS E(FN, MI, LN, SSN, SD, ADDR, SEX, SAL, SSSN, DNO)</a:t>
            </a:r>
            <a:endParaRPr lang="en-US" sz="2400" dirty="0"/>
          </a:p>
        </p:txBody>
      </p:sp>
      <p:sp>
        <p:nvSpPr>
          <p:cNvPr id="4" name="Rectangle 3"/>
          <p:cNvSpPr/>
          <p:nvPr/>
        </p:nvSpPr>
        <p:spPr>
          <a:xfrm>
            <a:off x="381000" y="609600"/>
            <a:ext cx="8534400" cy="25908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026" name="Picture 2"/>
          <p:cNvPicPr>
            <a:picLocks noChangeAspect="1" noChangeArrowheads="1"/>
          </p:cNvPicPr>
          <p:nvPr/>
        </p:nvPicPr>
        <p:blipFill>
          <a:blip r:embed="rId2"/>
          <a:srcRect/>
          <a:stretch>
            <a:fillRect/>
          </a:stretch>
        </p:blipFill>
        <p:spPr bwMode="auto">
          <a:xfrm>
            <a:off x="304800" y="609600"/>
            <a:ext cx="8610600" cy="2705100"/>
          </a:xfrm>
          <a:prstGeom prst="rect">
            <a:avLst/>
          </a:prstGeom>
          <a:noFill/>
          <a:ln w="9525">
            <a:noFill/>
            <a:miter lim="800000"/>
            <a:headEnd/>
            <a:tailEnd/>
          </a:ln>
          <a:effectLst/>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304800"/>
            <a:ext cx="9144000" cy="457200"/>
          </a:xfrm>
        </p:spPr>
        <p:txBody>
          <a:bodyPr>
            <a:noAutofit/>
          </a:bodyPr>
          <a:lstStyle/>
          <a:p>
            <a:r>
              <a:rPr lang="en-US" sz="2800" b="1" dirty="0"/>
              <a:t>Unspecified WHERE Clause and Use of the Asterisk</a:t>
            </a:r>
          </a:p>
        </p:txBody>
      </p:sp>
      <p:sp>
        <p:nvSpPr>
          <p:cNvPr id="3" name="Content Placeholder 2"/>
          <p:cNvSpPr>
            <a:spLocks noGrp="1"/>
          </p:cNvSpPr>
          <p:nvPr>
            <p:ph idx="1"/>
          </p:nvPr>
        </p:nvSpPr>
        <p:spPr>
          <a:xfrm>
            <a:off x="152400" y="762000"/>
            <a:ext cx="8839200" cy="6096000"/>
          </a:xfrm>
        </p:spPr>
        <p:txBody>
          <a:bodyPr>
            <a:normAutofit/>
          </a:bodyPr>
          <a:lstStyle/>
          <a:p>
            <a:r>
              <a:rPr lang="en-US" sz="2000" dirty="0">
                <a:solidFill>
                  <a:srgbClr val="FF0000"/>
                </a:solidFill>
              </a:rPr>
              <a:t>A </a:t>
            </a:r>
            <a:r>
              <a:rPr lang="en-US" sz="2000" i="1" dirty="0">
                <a:solidFill>
                  <a:srgbClr val="FF0000"/>
                </a:solidFill>
              </a:rPr>
              <a:t>missing WHERE </a:t>
            </a:r>
            <a:r>
              <a:rPr lang="en-US" sz="2000" i="1" dirty="0"/>
              <a:t>clause indicates no condition </a:t>
            </a:r>
            <a:r>
              <a:rPr lang="en-US" sz="2000" dirty="0"/>
              <a:t>on tuple selection; hence, </a:t>
            </a:r>
            <a:r>
              <a:rPr lang="en-US" sz="2000" i="1" dirty="0"/>
              <a:t>all tuples of the relation specified in the FROM clause </a:t>
            </a:r>
            <a:r>
              <a:rPr lang="en-US" sz="2000" dirty="0"/>
              <a:t>qualify and are selected for the query result</a:t>
            </a:r>
          </a:p>
          <a:p>
            <a:r>
              <a:rPr lang="en-US" sz="2000" i="1" dirty="0"/>
              <a:t>EX1:  </a:t>
            </a:r>
            <a:r>
              <a:rPr lang="en-US" sz="2000" b="1" i="1" dirty="0"/>
              <a:t>SELECT </a:t>
            </a:r>
            <a:r>
              <a:rPr lang="en-US" sz="2000" i="1" dirty="0"/>
              <a:t>SSN</a:t>
            </a:r>
          </a:p>
          <a:p>
            <a:pPr>
              <a:buNone/>
            </a:pPr>
            <a:r>
              <a:rPr lang="en-US" sz="2000" i="1" dirty="0"/>
              <a:t>              </a:t>
            </a:r>
            <a:r>
              <a:rPr lang="en-US" sz="2000" b="1" i="1" dirty="0"/>
              <a:t>FROM  EMPLOYEE;</a:t>
            </a:r>
            <a:endParaRPr lang="en-US" sz="2000" dirty="0"/>
          </a:p>
          <a:p>
            <a:r>
              <a:rPr lang="en-US" sz="2000" dirty="0"/>
              <a:t>If more than one relation is specified in the FROM clause and there is no WHERE clause, then </a:t>
            </a:r>
            <a:r>
              <a:rPr lang="en-US" sz="2000" b="1" dirty="0"/>
              <a:t>the CROSS PRODUC</a:t>
            </a:r>
            <a:r>
              <a:rPr lang="en-US" sz="2000" dirty="0"/>
              <a:t>T</a:t>
            </a:r>
            <a:r>
              <a:rPr lang="en-US" sz="2000" i="1" dirty="0"/>
              <a:t>-all possible tuple combinations-of these  relations is selected.</a:t>
            </a:r>
          </a:p>
          <a:p>
            <a:r>
              <a:rPr lang="en-US" sz="2000" i="1" dirty="0"/>
              <a:t>Ex2: </a:t>
            </a:r>
            <a:r>
              <a:rPr lang="en-US" sz="2000" b="1" i="1" dirty="0"/>
              <a:t>SELECT</a:t>
            </a:r>
            <a:r>
              <a:rPr lang="en-US" sz="2000" i="1" dirty="0"/>
              <a:t> SSN ,DNAME</a:t>
            </a:r>
          </a:p>
          <a:p>
            <a:r>
              <a:rPr lang="en-US" sz="2000" i="1" dirty="0"/>
              <a:t>         </a:t>
            </a:r>
            <a:r>
              <a:rPr lang="en-US" sz="2000" b="1" i="1" dirty="0"/>
              <a:t>FROM</a:t>
            </a:r>
            <a:r>
              <a:rPr lang="en-US" sz="2000" i="1" dirty="0"/>
              <a:t> EMPLOYEE, DEPARTMENT;</a:t>
            </a:r>
          </a:p>
          <a:p>
            <a:r>
              <a:rPr lang="en-US" sz="2400" dirty="0"/>
              <a:t>To retrieve </a:t>
            </a:r>
            <a:r>
              <a:rPr lang="en-US" sz="2400" b="1" dirty="0"/>
              <a:t>all the attribute values </a:t>
            </a:r>
            <a:r>
              <a:rPr lang="en-US" sz="2400" dirty="0"/>
              <a:t>of the selected tuples, we do not have to list the attribute names explicitly in SQL; we just specify an </a:t>
            </a:r>
            <a:r>
              <a:rPr lang="en-US" sz="2400" i="1" dirty="0"/>
              <a:t>asterisk (*), which stands for all the attribute</a:t>
            </a:r>
          </a:p>
          <a:p>
            <a:r>
              <a:rPr lang="en-US" sz="2400" i="1" dirty="0"/>
              <a:t>Ex    </a:t>
            </a:r>
            <a:r>
              <a:rPr lang="en-US" sz="2400" b="1" i="1" dirty="0"/>
              <a:t>SELECT *</a:t>
            </a:r>
          </a:p>
          <a:p>
            <a:pPr>
              <a:buNone/>
            </a:pPr>
            <a:r>
              <a:rPr lang="en-US" sz="2400" i="1" dirty="0"/>
              <a:t>             </a:t>
            </a:r>
            <a:r>
              <a:rPr lang="en-US" sz="2400" b="1" i="1" dirty="0"/>
              <a:t>FROM</a:t>
            </a:r>
            <a:r>
              <a:rPr lang="en-US" sz="2400" i="1" dirty="0"/>
              <a:t> EMPLOYEE</a:t>
            </a:r>
          </a:p>
          <a:p>
            <a:pPr>
              <a:buNone/>
            </a:pPr>
            <a:r>
              <a:rPr lang="en-US" sz="2400" i="1" dirty="0"/>
              <a:t>            </a:t>
            </a:r>
            <a:r>
              <a:rPr lang="en-US" sz="2400" b="1" i="1" dirty="0"/>
              <a:t>WHERE</a:t>
            </a:r>
            <a:r>
              <a:rPr lang="en-US" sz="2400" i="1" dirty="0"/>
              <a:t> DNO=5;</a:t>
            </a:r>
            <a:endParaRPr lang="en-US" sz="2400" dirty="0"/>
          </a:p>
        </p:txBody>
      </p:sp>
      <p:sp>
        <p:nvSpPr>
          <p:cNvPr id="4" name="Rectangle 3"/>
          <p:cNvSpPr/>
          <p:nvPr/>
        </p:nvSpPr>
        <p:spPr>
          <a:xfrm>
            <a:off x="3657600" y="5257800"/>
            <a:ext cx="4267200" cy="14478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2050" name="Picture 2"/>
          <p:cNvPicPr>
            <a:picLocks noChangeAspect="1" noChangeArrowheads="1"/>
          </p:cNvPicPr>
          <p:nvPr/>
        </p:nvPicPr>
        <p:blipFill>
          <a:blip r:embed="rId2"/>
          <a:srcRect/>
          <a:stretch>
            <a:fillRect/>
          </a:stretch>
        </p:blipFill>
        <p:spPr bwMode="auto">
          <a:xfrm>
            <a:off x="3657601" y="5257800"/>
            <a:ext cx="4267199" cy="1447800"/>
          </a:xfrm>
          <a:prstGeom prst="rect">
            <a:avLst/>
          </a:prstGeom>
          <a:noFill/>
          <a:ln w="9525">
            <a:noFill/>
            <a:miter lim="800000"/>
            <a:headEnd/>
            <a:tailEnd/>
          </a:ln>
          <a:effectLst/>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304800"/>
            <a:ext cx="9144000" cy="381000"/>
          </a:xfrm>
        </p:spPr>
        <p:txBody>
          <a:bodyPr>
            <a:noAutofit/>
          </a:bodyPr>
          <a:lstStyle/>
          <a:p>
            <a:r>
              <a:rPr lang="en-US" sz="3200" b="1" dirty="0"/>
              <a:t>Tables as Sets in </a:t>
            </a:r>
            <a:r>
              <a:rPr lang="en-US" sz="3200" b="1" dirty="0" err="1"/>
              <a:t>SQl</a:t>
            </a:r>
            <a:endParaRPr lang="en-US" sz="3200" b="1" dirty="0"/>
          </a:p>
        </p:txBody>
      </p:sp>
      <p:sp>
        <p:nvSpPr>
          <p:cNvPr id="3" name="Content Placeholder 2"/>
          <p:cNvSpPr>
            <a:spLocks noGrp="1"/>
          </p:cNvSpPr>
          <p:nvPr>
            <p:ph idx="1"/>
          </p:nvPr>
        </p:nvSpPr>
        <p:spPr>
          <a:xfrm>
            <a:off x="152400" y="685800"/>
            <a:ext cx="8839200" cy="6172200"/>
          </a:xfrm>
        </p:spPr>
        <p:txBody>
          <a:bodyPr>
            <a:normAutofit lnSpcReduction="10000"/>
          </a:bodyPr>
          <a:lstStyle/>
          <a:p>
            <a:pPr>
              <a:buNone/>
            </a:pPr>
            <a:r>
              <a:rPr lang="en-US" sz="2400" b="1" i="1" dirty="0"/>
              <a:t>DISTINCT</a:t>
            </a:r>
          </a:p>
          <a:p>
            <a:r>
              <a:rPr lang="en-US" sz="2400" dirty="0"/>
              <a:t>SQL usually treats a table not as a set but rather as a multiset; </a:t>
            </a:r>
            <a:r>
              <a:rPr lang="en-US" sz="2400" i="1" dirty="0"/>
              <a:t>duplicate tuples can appear more than once in a table.</a:t>
            </a:r>
          </a:p>
          <a:p>
            <a:r>
              <a:rPr lang="en-US" sz="2400" dirty="0"/>
              <a:t>An SQL table with a key is restricted to being a set, since the key value must be distinct in each tuple</a:t>
            </a:r>
          </a:p>
          <a:p>
            <a:r>
              <a:rPr lang="en-US" sz="2400" dirty="0"/>
              <a:t>If we do </a:t>
            </a:r>
            <a:r>
              <a:rPr lang="en-US" sz="2400" i="1" dirty="0"/>
              <a:t>want to </a:t>
            </a:r>
            <a:r>
              <a:rPr lang="en-US" sz="2400" b="1" i="1" dirty="0"/>
              <a:t>eliminate duplicate tuples from the result </a:t>
            </a:r>
            <a:r>
              <a:rPr lang="en-US" sz="2400" i="1" dirty="0"/>
              <a:t>of an SQL </a:t>
            </a:r>
            <a:r>
              <a:rPr lang="en-US" sz="2400" dirty="0"/>
              <a:t>query, we use the keyword DISTINCT in the SELECT clause, meaning that only distinct tuples should remain in the result</a:t>
            </a:r>
          </a:p>
          <a:p>
            <a:r>
              <a:rPr lang="en-US" sz="2400" dirty="0"/>
              <a:t>A  query with SELECT DISTINCT eliminates duplicates, whereas a query with SELECT ALL does not.</a:t>
            </a:r>
          </a:p>
          <a:p>
            <a:r>
              <a:rPr lang="en-US" sz="2400" dirty="0"/>
              <a:t>example, </a:t>
            </a:r>
            <a:r>
              <a:rPr lang="en-US" sz="2400" b="1" dirty="0"/>
              <a:t>Query (a) </a:t>
            </a:r>
            <a:r>
              <a:rPr lang="en-US" sz="2400" dirty="0"/>
              <a:t>retrieves the salary of every employee; </a:t>
            </a:r>
            <a:r>
              <a:rPr lang="en-US" sz="2400" b="1" dirty="0"/>
              <a:t>if several employees have the same salar</a:t>
            </a:r>
            <a:r>
              <a:rPr lang="en-US" sz="2400" dirty="0"/>
              <a:t>y, that salary value will appear as many times in the result of the query:</a:t>
            </a:r>
          </a:p>
          <a:p>
            <a:r>
              <a:rPr lang="en-US" sz="2400" dirty="0"/>
              <a:t> If we are interested </a:t>
            </a:r>
            <a:r>
              <a:rPr lang="en-US" sz="2400" b="1" dirty="0"/>
              <a:t>only in distinct</a:t>
            </a:r>
            <a:r>
              <a:rPr lang="en-US" sz="2400" dirty="0"/>
              <a:t> salary values, we want each value to appear only once, regardless of how many employees earn that salary. By using the keyword DISTINCT as in </a:t>
            </a:r>
            <a:r>
              <a:rPr lang="en-US" sz="2400" i="1" dirty="0"/>
              <a:t>Query (b), we accomplish this,</a:t>
            </a:r>
            <a:endParaRPr lang="en-US" sz="24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381000"/>
          </a:xfrm>
        </p:spPr>
        <p:txBody>
          <a:bodyPr>
            <a:normAutofit fontScale="90000"/>
          </a:bodyPr>
          <a:lstStyle/>
          <a:p>
            <a:endParaRPr lang="en-US" dirty="0"/>
          </a:p>
        </p:txBody>
      </p:sp>
      <p:sp>
        <p:nvSpPr>
          <p:cNvPr id="3" name="Content Placeholder 2"/>
          <p:cNvSpPr>
            <a:spLocks noGrp="1"/>
          </p:cNvSpPr>
          <p:nvPr>
            <p:ph idx="1"/>
          </p:nvPr>
        </p:nvSpPr>
        <p:spPr>
          <a:xfrm>
            <a:off x="152400" y="381000"/>
            <a:ext cx="8839200" cy="6477000"/>
          </a:xfrm>
        </p:spPr>
        <p:txBody>
          <a:bodyPr>
            <a:normAutofit/>
          </a:bodyPr>
          <a:lstStyle/>
          <a:p>
            <a:r>
              <a:rPr lang="en-US" sz="2400" dirty="0"/>
              <a:t>Query a):</a:t>
            </a:r>
          </a:p>
          <a:p>
            <a:pPr>
              <a:buNone/>
            </a:pPr>
            <a:r>
              <a:rPr lang="en-US" sz="2400" dirty="0"/>
              <a:t>           </a:t>
            </a:r>
            <a:r>
              <a:rPr lang="en-US" sz="2400" b="1" dirty="0"/>
              <a:t>SELECT</a:t>
            </a:r>
            <a:r>
              <a:rPr lang="en-US" sz="2400" dirty="0"/>
              <a:t>  SALARY</a:t>
            </a:r>
          </a:p>
          <a:p>
            <a:pPr>
              <a:buNone/>
            </a:pPr>
            <a:r>
              <a:rPr lang="en-US" sz="2400" dirty="0"/>
              <a:t> </a:t>
            </a:r>
            <a:r>
              <a:rPr lang="en-US" sz="2400" b="1" dirty="0"/>
              <a:t>          FROM  </a:t>
            </a:r>
            <a:r>
              <a:rPr lang="en-US" sz="2400" dirty="0"/>
              <a:t>EMPLOYEE</a:t>
            </a:r>
          </a:p>
          <a:p>
            <a:r>
              <a:rPr lang="en-US" sz="2400" dirty="0"/>
              <a:t>Query  b):</a:t>
            </a:r>
          </a:p>
          <a:p>
            <a:pPr>
              <a:buNone/>
            </a:pPr>
            <a:r>
              <a:rPr lang="en-US" sz="2400" dirty="0"/>
              <a:t>        </a:t>
            </a:r>
            <a:r>
              <a:rPr lang="en-US" sz="2400" b="1" dirty="0"/>
              <a:t>SELECT DISTINCT </a:t>
            </a:r>
            <a:r>
              <a:rPr lang="en-US" sz="2400" dirty="0"/>
              <a:t>SALARY</a:t>
            </a:r>
          </a:p>
          <a:p>
            <a:pPr>
              <a:buNone/>
            </a:pPr>
            <a:r>
              <a:rPr lang="en-US" sz="2400" b="1" dirty="0"/>
              <a:t>        FROM  </a:t>
            </a:r>
            <a:r>
              <a:rPr lang="en-US" sz="2400" dirty="0"/>
              <a:t>EMPLOYEE</a:t>
            </a:r>
          </a:p>
          <a:p>
            <a:pPr>
              <a:buNone/>
            </a:pPr>
            <a:endParaRPr lang="en-US" sz="2400" dirty="0"/>
          </a:p>
        </p:txBody>
      </p:sp>
      <p:sp>
        <p:nvSpPr>
          <p:cNvPr id="4" name="Rectangle 3"/>
          <p:cNvSpPr/>
          <p:nvPr/>
        </p:nvSpPr>
        <p:spPr>
          <a:xfrm>
            <a:off x="457200" y="3048000"/>
            <a:ext cx="8458200" cy="1905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26" name="Picture 2"/>
          <p:cNvPicPr>
            <a:picLocks noChangeAspect="1" noChangeArrowheads="1"/>
          </p:cNvPicPr>
          <p:nvPr/>
        </p:nvPicPr>
        <p:blipFill>
          <a:blip r:embed="rId2"/>
          <a:srcRect/>
          <a:stretch>
            <a:fillRect/>
          </a:stretch>
        </p:blipFill>
        <p:spPr bwMode="auto">
          <a:xfrm>
            <a:off x="457200" y="3048000"/>
            <a:ext cx="8458200" cy="1905000"/>
          </a:xfrm>
          <a:prstGeom prst="rect">
            <a:avLst/>
          </a:prstGeom>
          <a:noFill/>
          <a:ln w="9525">
            <a:noFill/>
            <a:miter lim="800000"/>
            <a:headEnd/>
            <a:tailEnd/>
          </a:ln>
          <a:effectLst/>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381000"/>
          </a:xfrm>
        </p:spPr>
        <p:txBody>
          <a:bodyPr>
            <a:noAutofit/>
          </a:bodyPr>
          <a:lstStyle/>
          <a:p>
            <a:r>
              <a:rPr lang="en-US" sz="2400" dirty="0"/>
              <a:t>SET UNION,INTERSECTION, AND DIFFERENCE IN SQL</a:t>
            </a:r>
          </a:p>
        </p:txBody>
      </p:sp>
      <p:sp>
        <p:nvSpPr>
          <p:cNvPr id="3" name="Content Placeholder 2"/>
          <p:cNvSpPr>
            <a:spLocks noGrp="1"/>
          </p:cNvSpPr>
          <p:nvPr>
            <p:ph idx="1"/>
          </p:nvPr>
        </p:nvSpPr>
        <p:spPr>
          <a:xfrm>
            <a:off x="152400" y="381000"/>
            <a:ext cx="8839200" cy="6477000"/>
          </a:xfrm>
        </p:spPr>
        <p:txBody>
          <a:bodyPr>
            <a:normAutofit lnSpcReduction="10000"/>
          </a:bodyPr>
          <a:lstStyle/>
          <a:p>
            <a:r>
              <a:rPr lang="en-US" sz="2400" dirty="0"/>
              <a:t>SQL has directly incorporated some of the set operations of relational algebra.</a:t>
            </a:r>
          </a:p>
          <a:p>
            <a:r>
              <a:rPr lang="en-US" sz="2400" dirty="0"/>
              <a:t> There are set union (UNION), set difference (EXCEPT), and set intersection (INTERSECT) operations.</a:t>
            </a:r>
          </a:p>
          <a:p>
            <a:r>
              <a:rPr lang="en-US" sz="2400" dirty="0"/>
              <a:t>The relations resulting from these set operations are sets of tuples; that is, </a:t>
            </a:r>
            <a:r>
              <a:rPr lang="en-US" sz="2400" i="1" dirty="0"/>
              <a:t>duplicate tuples are eliminated from the result.</a:t>
            </a:r>
          </a:p>
          <a:p>
            <a:r>
              <a:rPr lang="en-US" sz="2400" b="1" i="1" dirty="0"/>
              <a:t>Example</a:t>
            </a:r>
            <a:r>
              <a:rPr lang="en-US" sz="2400" i="1" dirty="0"/>
              <a:t>: </a:t>
            </a:r>
            <a:r>
              <a:rPr lang="en-US" sz="2400" b="1" i="1" dirty="0"/>
              <a:t>Make a list of all project numbers for projects that involve an employee whose last name is 'Smith', either as a worker or as a manager of the department that controls the project </a:t>
            </a:r>
          </a:p>
          <a:p>
            <a:pPr lvl="1">
              <a:buNone/>
            </a:pPr>
            <a:r>
              <a:rPr lang="en-US" sz="2000" dirty="0"/>
              <a:t>(</a:t>
            </a:r>
            <a:r>
              <a:rPr lang="en-US" sz="2000" b="1" dirty="0"/>
              <a:t>SELECT</a:t>
            </a:r>
            <a:r>
              <a:rPr lang="en-US" sz="2000" dirty="0"/>
              <a:t>  </a:t>
            </a:r>
            <a:r>
              <a:rPr lang="en-US" sz="2000" b="1" dirty="0"/>
              <a:t>DISTINCT</a:t>
            </a:r>
            <a:r>
              <a:rPr lang="en-US" sz="2000" dirty="0"/>
              <a:t> PNUMBER</a:t>
            </a:r>
          </a:p>
          <a:p>
            <a:pPr lvl="1">
              <a:buNone/>
            </a:pPr>
            <a:r>
              <a:rPr lang="en-US" sz="2000" b="1" dirty="0"/>
              <a:t>  FROM </a:t>
            </a:r>
            <a:r>
              <a:rPr lang="en-US" sz="2000" dirty="0"/>
              <a:t>   PROJECT, DEPARTMENT, EMPLOYEE</a:t>
            </a:r>
          </a:p>
          <a:p>
            <a:pPr lvl="1">
              <a:buNone/>
            </a:pPr>
            <a:r>
              <a:rPr lang="en-US" sz="2000" dirty="0"/>
              <a:t> </a:t>
            </a:r>
            <a:r>
              <a:rPr lang="en-US" sz="2000" b="1" dirty="0"/>
              <a:t> WHERE </a:t>
            </a:r>
            <a:r>
              <a:rPr lang="en-US" sz="2000" dirty="0"/>
              <a:t>DNUM=DNUMBER AND MGRSSN=SSN AND  LNAME='Smith')</a:t>
            </a:r>
          </a:p>
          <a:p>
            <a:pPr lvl="1">
              <a:buNone/>
            </a:pPr>
            <a:r>
              <a:rPr lang="en-US" sz="2000" b="1" dirty="0"/>
              <a:t>  UNION</a:t>
            </a:r>
          </a:p>
          <a:p>
            <a:pPr lvl="1">
              <a:buNone/>
            </a:pPr>
            <a:r>
              <a:rPr lang="en-US" sz="2000" dirty="0"/>
              <a:t>  (</a:t>
            </a:r>
            <a:r>
              <a:rPr lang="en-US" sz="2000" b="1" dirty="0"/>
              <a:t>SELECT</a:t>
            </a:r>
            <a:r>
              <a:rPr lang="en-US" sz="2000" dirty="0"/>
              <a:t> </a:t>
            </a:r>
            <a:r>
              <a:rPr lang="en-US" sz="2000" b="1" dirty="0"/>
              <a:t>DISTINCT</a:t>
            </a:r>
            <a:r>
              <a:rPr lang="en-US" sz="2000" dirty="0"/>
              <a:t> PNUMBER</a:t>
            </a:r>
          </a:p>
          <a:p>
            <a:pPr lvl="1">
              <a:buNone/>
            </a:pPr>
            <a:r>
              <a:rPr lang="en-US" sz="2000" dirty="0"/>
              <a:t>  </a:t>
            </a:r>
            <a:r>
              <a:rPr lang="en-US" sz="2000" b="1" dirty="0"/>
              <a:t>FROM</a:t>
            </a:r>
            <a:r>
              <a:rPr lang="en-US" sz="2000" dirty="0"/>
              <a:t> PROJECT, WORKS_ON, EMPLOYEE</a:t>
            </a:r>
          </a:p>
          <a:p>
            <a:pPr lvl="1">
              <a:buNone/>
            </a:pPr>
            <a:r>
              <a:rPr lang="en-US" sz="2000" b="1" dirty="0"/>
              <a:t>  WHERE</a:t>
            </a:r>
            <a:r>
              <a:rPr lang="en-US" sz="2000" dirty="0"/>
              <a:t> PNUMBER=PNO AND ESSN=SSN AND LNAME='Smith');</a:t>
            </a:r>
            <a:endParaRPr lang="en-US" sz="2000" i="1"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381000"/>
          </a:xfrm>
        </p:spPr>
        <p:txBody>
          <a:bodyPr>
            <a:normAutofit fontScale="90000"/>
          </a:bodyPr>
          <a:lstStyle/>
          <a:p>
            <a:endParaRPr lang="en-US" dirty="0"/>
          </a:p>
        </p:txBody>
      </p:sp>
      <p:sp>
        <p:nvSpPr>
          <p:cNvPr id="3" name="Content Placeholder 2"/>
          <p:cNvSpPr>
            <a:spLocks noGrp="1"/>
          </p:cNvSpPr>
          <p:nvPr>
            <p:ph idx="1"/>
          </p:nvPr>
        </p:nvSpPr>
        <p:spPr>
          <a:xfrm>
            <a:off x="152400" y="381000"/>
            <a:ext cx="8839200" cy="6477000"/>
          </a:xfrm>
        </p:spPr>
        <p:txBody>
          <a:bodyPr>
            <a:normAutofit/>
          </a:bodyPr>
          <a:lstStyle/>
          <a:p>
            <a:r>
              <a:rPr lang="en-US" sz="2400" dirty="0"/>
              <a:t>The first SELECT query retrieves the projects that involve a 'Smith' as manager of the department that controls the project, and the second retrieves the projects that involve a 'Smith' as a worker on the project. </a:t>
            </a:r>
          </a:p>
          <a:p>
            <a:r>
              <a:rPr lang="en-US" sz="2400" dirty="0"/>
              <a:t>Notice that if several employees have the last name 'Smith', the project names involving any of them will be retrieved. </a:t>
            </a:r>
          </a:p>
          <a:p>
            <a:r>
              <a:rPr lang="en-US" sz="2400" dirty="0"/>
              <a:t>Applying the UNION operation to the two SELECT queries gives the desired result.</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 y="457200"/>
            <a:ext cx="9144000" cy="381000"/>
          </a:xfrm>
        </p:spPr>
        <p:txBody>
          <a:bodyPr>
            <a:noAutofit/>
          </a:bodyPr>
          <a:lstStyle/>
          <a:p>
            <a:r>
              <a:rPr lang="en-US" sz="2800" b="1" dirty="0"/>
              <a:t>Substring Pattern Matching and Arithmetic Operators</a:t>
            </a:r>
            <a:endParaRPr lang="en-US" sz="2800" dirty="0"/>
          </a:p>
        </p:txBody>
      </p:sp>
      <p:sp>
        <p:nvSpPr>
          <p:cNvPr id="3" name="Content Placeholder 2"/>
          <p:cNvSpPr>
            <a:spLocks noGrp="1"/>
          </p:cNvSpPr>
          <p:nvPr>
            <p:ph idx="1"/>
          </p:nvPr>
        </p:nvSpPr>
        <p:spPr>
          <a:xfrm>
            <a:off x="152400" y="838200"/>
            <a:ext cx="8839200" cy="6019800"/>
          </a:xfrm>
        </p:spPr>
        <p:txBody>
          <a:bodyPr>
            <a:normAutofit/>
          </a:bodyPr>
          <a:lstStyle/>
          <a:p>
            <a:pPr>
              <a:buNone/>
            </a:pPr>
            <a:endParaRPr lang="en-US" sz="2000" dirty="0"/>
          </a:p>
          <a:p>
            <a:pPr>
              <a:buNone/>
            </a:pPr>
            <a:r>
              <a:rPr lang="en-US" sz="2000" dirty="0"/>
              <a:t>This section describes several pattern matching in SQL</a:t>
            </a:r>
          </a:p>
          <a:p>
            <a:pPr marL="457200" indent="-457200">
              <a:buAutoNum type="arabicPeriod"/>
            </a:pPr>
            <a:r>
              <a:rPr lang="en-US" sz="2000" b="1" dirty="0"/>
              <a:t>LIKE</a:t>
            </a:r>
            <a:r>
              <a:rPr lang="en-US" sz="2000" dirty="0"/>
              <a:t> :  allows comparison  conditions on only parts of a character string, using the comparison operator or string pattern matching</a:t>
            </a:r>
          </a:p>
          <a:p>
            <a:r>
              <a:rPr lang="en-US" sz="2000" dirty="0"/>
              <a:t>Partial strings are specified using two reserved characters: </a:t>
            </a:r>
          </a:p>
          <a:p>
            <a:r>
              <a:rPr lang="en-US" sz="2000" b="1" dirty="0"/>
              <a:t>%</a:t>
            </a:r>
            <a:r>
              <a:rPr lang="en-US" sz="2000" dirty="0"/>
              <a:t> replaces an arbitrary number of zero or more characters, and the underscore  (_) replaces a single character.</a:t>
            </a:r>
          </a:p>
          <a:p>
            <a:pPr>
              <a:buNone/>
            </a:pPr>
            <a:r>
              <a:rPr lang="en-US" sz="2000" b="1" dirty="0"/>
              <a:t>Example:  To Retrieve all employees whose address is in Houston, Texas.</a:t>
            </a:r>
          </a:p>
          <a:p>
            <a:pPr lvl="1">
              <a:buNone/>
            </a:pPr>
            <a:r>
              <a:rPr lang="en-US" sz="1800" b="1" dirty="0"/>
              <a:t>SELECT </a:t>
            </a:r>
            <a:r>
              <a:rPr lang="en-US" sz="1800" dirty="0"/>
              <a:t>FNAME, LNAME</a:t>
            </a:r>
            <a:endParaRPr lang="en-US" sz="1800" b="1" dirty="0"/>
          </a:p>
          <a:p>
            <a:pPr lvl="1">
              <a:buNone/>
            </a:pPr>
            <a:r>
              <a:rPr lang="en-US" sz="1800" b="1" dirty="0"/>
              <a:t>FROM </a:t>
            </a:r>
            <a:r>
              <a:rPr lang="en-US" sz="1800" dirty="0"/>
              <a:t>EMPLOYEE</a:t>
            </a:r>
            <a:endParaRPr lang="en-US" sz="1800" b="1" dirty="0"/>
          </a:p>
          <a:p>
            <a:pPr lvl="1">
              <a:buNone/>
            </a:pPr>
            <a:r>
              <a:rPr lang="en-US" sz="1800" b="1" dirty="0"/>
              <a:t>WHERE </a:t>
            </a:r>
            <a:r>
              <a:rPr lang="en-US" sz="1800" dirty="0"/>
              <a:t>ADDRESS </a:t>
            </a:r>
            <a:r>
              <a:rPr lang="en-US" sz="1800" b="1" dirty="0"/>
              <a:t>LIKE '%</a:t>
            </a:r>
            <a:r>
              <a:rPr lang="en-US" sz="1800" b="1" dirty="0" err="1"/>
              <a:t>Houston,TX</a:t>
            </a:r>
            <a:r>
              <a:rPr lang="en-US" sz="1800" b="1" dirty="0"/>
              <a:t>%';</a:t>
            </a:r>
          </a:p>
          <a:p>
            <a:pPr>
              <a:buNone/>
            </a:pPr>
            <a:r>
              <a:rPr lang="en-US" sz="2000" b="1" dirty="0"/>
              <a:t>To </a:t>
            </a:r>
            <a:r>
              <a:rPr lang="en-US" sz="2000" dirty="0"/>
              <a:t>select all names of employee that start with “T”</a:t>
            </a:r>
          </a:p>
          <a:p>
            <a:pPr lvl="1">
              <a:buNone/>
            </a:pPr>
            <a:r>
              <a:rPr lang="en-US" sz="1800" b="1" dirty="0"/>
              <a:t>SELECT</a:t>
            </a:r>
            <a:r>
              <a:rPr lang="en-US" sz="1800" dirty="0"/>
              <a:t> FNAME </a:t>
            </a:r>
          </a:p>
          <a:p>
            <a:pPr lvl="1">
              <a:buNone/>
            </a:pPr>
            <a:r>
              <a:rPr lang="en-US" sz="1800" b="1" dirty="0"/>
              <a:t>FROM</a:t>
            </a:r>
            <a:r>
              <a:rPr lang="en-US" sz="1800" dirty="0"/>
              <a:t> EMPLOYEE </a:t>
            </a:r>
          </a:p>
          <a:p>
            <a:pPr lvl="1">
              <a:buNone/>
            </a:pPr>
            <a:r>
              <a:rPr lang="en-US" sz="1800" b="1" dirty="0"/>
              <a:t>WHERE</a:t>
            </a:r>
            <a:r>
              <a:rPr lang="en-US" sz="1800" dirty="0"/>
              <a:t> FNAME LIKE “T%”;</a:t>
            </a:r>
          </a:p>
          <a:p>
            <a:pPr lvl="1">
              <a:buNone/>
            </a:pPr>
            <a:endParaRPr lang="en-US" sz="1800" dirty="0"/>
          </a:p>
          <a:p>
            <a:endParaRPr lang="en-US" sz="24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 y="0"/>
            <a:ext cx="8839200" cy="457200"/>
          </a:xfrm>
        </p:spPr>
        <p:txBody>
          <a:bodyPr>
            <a:noAutofit/>
          </a:bodyPr>
          <a:lstStyle/>
          <a:p>
            <a:endParaRPr lang="en-US" sz="3200" dirty="0"/>
          </a:p>
        </p:txBody>
      </p:sp>
      <p:sp>
        <p:nvSpPr>
          <p:cNvPr id="3" name="Content Placeholder 2"/>
          <p:cNvSpPr>
            <a:spLocks noGrp="1"/>
          </p:cNvSpPr>
          <p:nvPr>
            <p:ph idx="1"/>
          </p:nvPr>
        </p:nvSpPr>
        <p:spPr>
          <a:xfrm>
            <a:off x="152400" y="533400"/>
            <a:ext cx="8991600" cy="6172200"/>
          </a:xfrm>
        </p:spPr>
        <p:txBody>
          <a:bodyPr>
            <a:normAutofit/>
          </a:bodyPr>
          <a:lstStyle/>
          <a:p>
            <a:r>
              <a:rPr lang="en-US" sz="2400" dirty="0"/>
              <a:t>To retrieve all employees who were born during the 1950s, we can use  the next query.</a:t>
            </a:r>
          </a:p>
          <a:p>
            <a:r>
              <a:rPr lang="en-US" sz="2400" dirty="0"/>
              <a:t>Here, '5' must be the third character of the string (according to our format for date), so we use the value ‘_ _ 5_ _ _ _ _ _ _ ', with each underscore serving as a placeholder for an arbitrary character.</a:t>
            </a:r>
          </a:p>
        </p:txBody>
      </p:sp>
      <p:pic>
        <p:nvPicPr>
          <p:cNvPr id="2050" name="Picture 2"/>
          <p:cNvPicPr>
            <a:picLocks noChangeAspect="1" noChangeArrowheads="1"/>
          </p:cNvPicPr>
          <p:nvPr/>
        </p:nvPicPr>
        <p:blipFill>
          <a:blip r:embed="rId2"/>
          <a:srcRect/>
          <a:stretch>
            <a:fillRect/>
          </a:stretch>
        </p:blipFill>
        <p:spPr bwMode="auto">
          <a:xfrm>
            <a:off x="381000" y="2667000"/>
            <a:ext cx="6815137" cy="838200"/>
          </a:xfrm>
          <a:prstGeom prst="rect">
            <a:avLst/>
          </a:prstGeom>
          <a:noFill/>
          <a:ln w="9525">
            <a:noFill/>
            <a:miter lim="800000"/>
            <a:headEnd/>
            <a:tailEnd/>
          </a:ln>
          <a:effectLst/>
        </p:spPr>
      </p:pic>
      <p:sp>
        <p:nvSpPr>
          <p:cNvPr id="8" name="Rectangle 7"/>
          <p:cNvSpPr/>
          <p:nvPr/>
        </p:nvSpPr>
        <p:spPr>
          <a:xfrm>
            <a:off x="228600" y="2514600"/>
            <a:ext cx="8686800" cy="32766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Another feature allows the use of arithmetic in queries</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533400"/>
          </a:xfrm>
        </p:spPr>
        <p:txBody>
          <a:bodyPr>
            <a:noAutofit/>
          </a:bodyPr>
          <a:lstStyle/>
          <a:p>
            <a:endParaRPr lang="en-US" sz="2400" dirty="0"/>
          </a:p>
        </p:txBody>
      </p:sp>
      <p:sp>
        <p:nvSpPr>
          <p:cNvPr id="3" name="Content Placeholder 2"/>
          <p:cNvSpPr>
            <a:spLocks noGrp="1"/>
          </p:cNvSpPr>
          <p:nvPr>
            <p:ph idx="1"/>
          </p:nvPr>
        </p:nvSpPr>
        <p:spPr>
          <a:xfrm>
            <a:off x="152400" y="533400"/>
            <a:ext cx="8839200" cy="6096000"/>
          </a:xfrm>
        </p:spPr>
        <p:txBody>
          <a:bodyPr>
            <a:normAutofit lnSpcReduction="10000"/>
          </a:bodyPr>
          <a:lstStyle/>
          <a:p>
            <a:r>
              <a:rPr lang="en-US" sz="2400" b="1" dirty="0"/>
              <a:t>Another feature allows the use of arithmetic in queries</a:t>
            </a:r>
          </a:p>
          <a:p>
            <a:r>
              <a:rPr lang="en-US" sz="2400" dirty="0"/>
              <a:t>For example, suppose that we want to see the effect of giving all employees who work on the '</a:t>
            </a:r>
            <a:r>
              <a:rPr lang="en-US" sz="2400" dirty="0" err="1"/>
              <a:t>ProductX</a:t>
            </a:r>
            <a:r>
              <a:rPr lang="en-US" sz="2400" dirty="0"/>
              <a:t>' project a </a:t>
            </a:r>
            <a:r>
              <a:rPr lang="en-US" sz="2400" b="1" dirty="0"/>
              <a:t>10 percent raise</a:t>
            </a:r>
          </a:p>
          <a:p>
            <a:pPr lvl="1">
              <a:buNone/>
            </a:pPr>
            <a:r>
              <a:rPr lang="en-US" sz="2000" b="1" dirty="0"/>
              <a:t>SELECT  </a:t>
            </a:r>
            <a:r>
              <a:rPr lang="en-US" sz="2000" dirty="0"/>
              <a:t>FNAME, LNAME, 1.1*SALARY AS INCREASED_SAL</a:t>
            </a:r>
          </a:p>
          <a:p>
            <a:pPr lvl="1">
              <a:buNone/>
            </a:pPr>
            <a:r>
              <a:rPr lang="en-US" sz="2000" b="1" dirty="0"/>
              <a:t>FROM    </a:t>
            </a:r>
            <a:r>
              <a:rPr lang="en-US" sz="2000" dirty="0"/>
              <a:t>EMPLOYEE, WORKS_ON, PROJECT</a:t>
            </a:r>
          </a:p>
          <a:p>
            <a:pPr lvl="1">
              <a:buNone/>
            </a:pPr>
            <a:r>
              <a:rPr lang="en-US" sz="2000" b="1" dirty="0"/>
              <a:t>WHERE  </a:t>
            </a:r>
            <a:r>
              <a:rPr lang="en-US" sz="2000" dirty="0"/>
              <a:t>SSN=ESSN AND PNO=PNUMBER AND PNAME='</a:t>
            </a:r>
            <a:r>
              <a:rPr lang="en-US" sz="2000" dirty="0" err="1"/>
              <a:t>ProductX</a:t>
            </a:r>
            <a:r>
              <a:rPr lang="en-US" sz="2000" dirty="0"/>
              <a:t>';</a:t>
            </a:r>
          </a:p>
          <a:p>
            <a:pPr lvl="1">
              <a:buNone/>
            </a:pPr>
            <a:endParaRPr lang="en-US" sz="2000" dirty="0"/>
          </a:p>
          <a:p>
            <a:pPr>
              <a:buNone/>
            </a:pPr>
            <a:r>
              <a:rPr lang="en-US" sz="2400" b="1" dirty="0"/>
              <a:t>BETWEEN</a:t>
            </a:r>
            <a:r>
              <a:rPr lang="en-US" sz="2400" dirty="0"/>
              <a:t>: is Another comparison operator that can be used for retrieving values in a given range</a:t>
            </a:r>
          </a:p>
          <a:p>
            <a:r>
              <a:rPr lang="en-US" sz="2400" dirty="0">
                <a:solidFill>
                  <a:srgbClr val="FF0000"/>
                </a:solidFill>
              </a:rPr>
              <a:t>EX</a:t>
            </a:r>
            <a:r>
              <a:rPr lang="en-US" sz="2400" dirty="0"/>
              <a:t>: Retrieve all employees in department 5 whose salary is between $30,000 and $40,000.</a:t>
            </a:r>
          </a:p>
          <a:p>
            <a:pPr lvl="1">
              <a:buNone/>
            </a:pPr>
            <a:r>
              <a:rPr lang="en-US" sz="2000" b="1" dirty="0"/>
              <a:t>SELECT</a:t>
            </a:r>
            <a:r>
              <a:rPr lang="en-US" sz="2000" dirty="0"/>
              <a:t> *</a:t>
            </a:r>
          </a:p>
          <a:p>
            <a:pPr lvl="1">
              <a:buNone/>
            </a:pPr>
            <a:r>
              <a:rPr lang="en-US" sz="2000" b="1" dirty="0"/>
              <a:t>FROM</a:t>
            </a:r>
            <a:r>
              <a:rPr lang="en-US" sz="2000" dirty="0"/>
              <a:t>  EMPLOYEE</a:t>
            </a:r>
          </a:p>
          <a:p>
            <a:pPr lvl="1">
              <a:buNone/>
            </a:pPr>
            <a:r>
              <a:rPr lang="en-US" sz="2000" b="1" dirty="0"/>
              <a:t>WHERE</a:t>
            </a:r>
            <a:r>
              <a:rPr lang="en-US" sz="2000" dirty="0"/>
              <a:t>  (SALARY </a:t>
            </a:r>
            <a:r>
              <a:rPr lang="en-US" sz="2000" b="1" dirty="0"/>
              <a:t>BETWEEN</a:t>
            </a:r>
            <a:r>
              <a:rPr lang="en-US" sz="2000" dirty="0"/>
              <a:t> 30000 </a:t>
            </a:r>
            <a:r>
              <a:rPr lang="en-US" sz="2000" b="1" dirty="0"/>
              <a:t>AND</a:t>
            </a:r>
            <a:r>
              <a:rPr lang="en-US" sz="2000" dirty="0"/>
              <a:t> 40000) </a:t>
            </a:r>
            <a:r>
              <a:rPr lang="en-US" sz="2000" b="1" dirty="0"/>
              <a:t>AND</a:t>
            </a:r>
            <a:r>
              <a:rPr lang="en-US" sz="2000" dirty="0"/>
              <a:t> DNO =5;</a:t>
            </a:r>
          </a:p>
          <a:p>
            <a:r>
              <a:rPr lang="en-US" sz="2400" dirty="0"/>
              <a:t>The condition (SALARY BETWEEN 30000 AND 40000) in above is equivalent to the condition ((SALARY &gt;= 30000) AND (SALARY &lt;= 40000».</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81000"/>
            <a:ext cx="8229600" cy="457200"/>
          </a:xfrm>
        </p:spPr>
        <p:txBody>
          <a:bodyPr>
            <a:noAutofit/>
          </a:bodyPr>
          <a:lstStyle/>
          <a:p>
            <a:r>
              <a:rPr lang="en-US" sz="2800" b="1" dirty="0"/>
              <a:t>Ordering of Query Results</a:t>
            </a:r>
            <a:endParaRPr lang="en-US" sz="2800" dirty="0"/>
          </a:p>
        </p:txBody>
      </p:sp>
      <p:sp>
        <p:nvSpPr>
          <p:cNvPr id="3" name="Content Placeholder 2"/>
          <p:cNvSpPr>
            <a:spLocks noGrp="1"/>
          </p:cNvSpPr>
          <p:nvPr>
            <p:ph idx="1"/>
          </p:nvPr>
        </p:nvSpPr>
        <p:spPr>
          <a:xfrm>
            <a:off x="0" y="762000"/>
            <a:ext cx="8991600" cy="6096000"/>
          </a:xfrm>
        </p:spPr>
        <p:txBody>
          <a:bodyPr>
            <a:normAutofit/>
          </a:bodyPr>
          <a:lstStyle/>
          <a:p>
            <a:endParaRPr lang="en-US" sz="2000" dirty="0"/>
          </a:p>
          <a:p>
            <a:r>
              <a:rPr lang="en-US" sz="2000" dirty="0">
                <a:solidFill>
                  <a:srgbClr val="002060"/>
                </a:solidFill>
              </a:rPr>
              <a:t>SQL allows the user to order the tuples in the result of a query by the values of one or more attributes, using the ORDER BY clause</a:t>
            </a:r>
          </a:p>
          <a:p>
            <a:r>
              <a:rPr lang="en-US" sz="2000" b="1" dirty="0"/>
              <a:t>Example: </a:t>
            </a:r>
            <a:r>
              <a:rPr lang="en-US" sz="2000" dirty="0"/>
              <a:t> Retrieve a list of employees and the projects they are working on, ordered by department and, within each department, ordered alphabetically by last name, first name.</a:t>
            </a:r>
          </a:p>
          <a:p>
            <a:pPr lvl="1">
              <a:buNone/>
            </a:pPr>
            <a:r>
              <a:rPr lang="en-US" sz="1800" b="1" dirty="0"/>
              <a:t>SELECT </a:t>
            </a:r>
            <a:r>
              <a:rPr lang="en-US" sz="1800" dirty="0"/>
              <a:t>DNAME, LNAME, FNAME, PNAME</a:t>
            </a:r>
          </a:p>
          <a:p>
            <a:pPr lvl="1">
              <a:buNone/>
            </a:pPr>
            <a:r>
              <a:rPr lang="en-US" sz="1800" b="1" dirty="0"/>
              <a:t>FROM </a:t>
            </a:r>
            <a:r>
              <a:rPr lang="en-US" sz="1800" dirty="0"/>
              <a:t>DEPARTMENT, EMPLOYEE, WORKS_ON, PROJECT</a:t>
            </a:r>
            <a:endParaRPr lang="en-US" sz="1800" b="1" dirty="0"/>
          </a:p>
          <a:p>
            <a:pPr lvl="1">
              <a:buNone/>
            </a:pPr>
            <a:r>
              <a:rPr lang="en-US" sz="1800" b="1" dirty="0"/>
              <a:t>WHERE </a:t>
            </a:r>
            <a:r>
              <a:rPr lang="en-US" sz="1800" dirty="0"/>
              <a:t>DNUMBER=DNO </a:t>
            </a:r>
            <a:r>
              <a:rPr lang="en-US" sz="1800" b="1" dirty="0"/>
              <a:t>AND SSN=ESSN AND PNO=PNUMBER</a:t>
            </a:r>
          </a:p>
          <a:p>
            <a:pPr lvl="1">
              <a:buNone/>
            </a:pPr>
            <a:r>
              <a:rPr lang="en-US" sz="1800" b="1" dirty="0">
                <a:solidFill>
                  <a:srgbClr val="FF0000"/>
                </a:solidFill>
              </a:rPr>
              <a:t>ORDER BY </a:t>
            </a:r>
            <a:r>
              <a:rPr lang="en-US" sz="1800" dirty="0"/>
              <a:t>DNAME, LNAME, FNAME;</a:t>
            </a:r>
          </a:p>
          <a:p>
            <a:r>
              <a:rPr lang="en-US" sz="2000" dirty="0"/>
              <a:t>The default order is in ascending order of values</a:t>
            </a:r>
          </a:p>
          <a:p>
            <a:r>
              <a:rPr lang="en-US" sz="2000" dirty="0"/>
              <a:t>Retrieve the names of all employees who do not have supervisors.</a:t>
            </a:r>
          </a:p>
          <a:p>
            <a:pPr algn="ctr">
              <a:buNone/>
            </a:pPr>
            <a:r>
              <a:rPr lang="en-US" sz="2000" b="1" dirty="0"/>
              <a:t>Comparisons Involving NULL</a:t>
            </a:r>
          </a:p>
          <a:p>
            <a:pPr>
              <a:buNone/>
            </a:pPr>
            <a:r>
              <a:rPr lang="en-US" sz="2000" b="1" dirty="0"/>
              <a:t>Ex: </a:t>
            </a:r>
            <a:r>
              <a:rPr lang="en-US" sz="2000" dirty="0"/>
              <a:t>Retrieve the names of all employees who do not have supervisors</a:t>
            </a:r>
          </a:p>
          <a:p>
            <a:pPr lvl="1">
              <a:buNone/>
            </a:pPr>
            <a:r>
              <a:rPr lang="en-US" sz="1800" dirty="0"/>
              <a:t>SELECT FNAME, LNAME</a:t>
            </a:r>
          </a:p>
          <a:p>
            <a:pPr lvl="1">
              <a:buNone/>
            </a:pPr>
            <a:r>
              <a:rPr lang="en-US" sz="1800" dirty="0"/>
              <a:t>FROM EMPLOYEE</a:t>
            </a:r>
          </a:p>
          <a:p>
            <a:pPr lvl="1">
              <a:buNone/>
            </a:pPr>
            <a:r>
              <a:rPr lang="en-US" sz="1800" dirty="0"/>
              <a:t>WHERE SUPERSSN IS NULL;</a:t>
            </a:r>
          </a:p>
          <a:p>
            <a:pPr>
              <a:buNone/>
            </a:pPr>
            <a:endParaRPr lang="en-US" sz="24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457200"/>
          </a:xfrm>
        </p:spPr>
        <p:txBody>
          <a:bodyPr>
            <a:noAutofit/>
          </a:bodyPr>
          <a:lstStyle/>
          <a:p>
            <a:r>
              <a:rPr lang="en-US" sz="2400" dirty="0"/>
              <a:t>Nested Queries,</a:t>
            </a:r>
          </a:p>
        </p:txBody>
      </p:sp>
      <p:sp>
        <p:nvSpPr>
          <p:cNvPr id="3" name="Content Placeholder 2"/>
          <p:cNvSpPr>
            <a:spLocks noGrp="1"/>
          </p:cNvSpPr>
          <p:nvPr>
            <p:ph idx="1"/>
          </p:nvPr>
        </p:nvSpPr>
        <p:spPr>
          <a:xfrm>
            <a:off x="0" y="533400"/>
            <a:ext cx="8991600" cy="6096000"/>
          </a:xfrm>
        </p:spPr>
        <p:txBody>
          <a:bodyPr>
            <a:normAutofit fontScale="92500" lnSpcReduction="10000"/>
          </a:bodyPr>
          <a:lstStyle/>
          <a:p>
            <a:r>
              <a:rPr lang="en-US" sz="2400" dirty="0"/>
              <a:t>Some queries require that existing values in the database be fetched and then used in a comparison condition. </a:t>
            </a:r>
          </a:p>
          <a:p>
            <a:r>
              <a:rPr lang="en-US" sz="2400" dirty="0"/>
              <a:t>Such queries can be conveniently formulated by using nested queries, which are complete select-from-where blocks within the WHERE clause of another query.</a:t>
            </a:r>
          </a:p>
          <a:p>
            <a:pPr>
              <a:buNone/>
            </a:pPr>
            <a:r>
              <a:rPr lang="en-US" sz="2400" dirty="0"/>
              <a:t>Ex: SELECT DISTINCT PNUMBER</a:t>
            </a:r>
          </a:p>
          <a:p>
            <a:pPr lvl="1">
              <a:buNone/>
            </a:pPr>
            <a:r>
              <a:rPr lang="en-US" sz="2000" dirty="0"/>
              <a:t>FROM PROJECT</a:t>
            </a:r>
          </a:p>
          <a:p>
            <a:pPr lvl="1">
              <a:buNone/>
            </a:pPr>
            <a:r>
              <a:rPr lang="en-US" sz="1600" dirty="0"/>
              <a:t>WHERE PNUMBER IN ( SELECT PNUMBER </a:t>
            </a:r>
          </a:p>
          <a:p>
            <a:pPr lvl="1">
              <a:buNone/>
            </a:pPr>
            <a:r>
              <a:rPr lang="en-US" sz="1600" dirty="0"/>
              <a:t>                                           FROM PROJECT, DEPARTMENT, EMPLOYEE</a:t>
            </a:r>
          </a:p>
          <a:p>
            <a:pPr lvl="1">
              <a:buNone/>
            </a:pPr>
            <a:r>
              <a:rPr lang="en-US" sz="1600" dirty="0"/>
              <a:t>                                           WHERE DNUM=DNUMBER AND </a:t>
            </a:r>
            <a:r>
              <a:rPr lang="en-US" sz="1600" b="1" dirty="0"/>
              <a:t>MGRSSN=SSN AND</a:t>
            </a:r>
          </a:p>
          <a:p>
            <a:pPr lvl="1">
              <a:buNone/>
            </a:pPr>
            <a:r>
              <a:rPr lang="en-US" sz="2000" b="1" dirty="0"/>
              <a:t>                                   </a:t>
            </a:r>
            <a:r>
              <a:rPr lang="en-US" sz="1600" dirty="0"/>
              <a:t>LNAME='Smith')</a:t>
            </a:r>
            <a:endParaRPr lang="en-US" sz="2000" dirty="0"/>
          </a:p>
          <a:p>
            <a:pPr lvl="1">
              <a:buNone/>
            </a:pPr>
            <a:r>
              <a:rPr lang="en-US" sz="1800" b="1" dirty="0"/>
              <a:t>OR</a:t>
            </a:r>
          </a:p>
          <a:p>
            <a:pPr lvl="1">
              <a:buNone/>
            </a:pPr>
            <a:r>
              <a:rPr lang="en-US" sz="1800" dirty="0"/>
              <a:t>PNUMBERIN (SELECT PNO  FROM WORKS_ON, EMPLOYEE</a:t>
            </a:r>
          </a:p>
          <a:p>
            <a:pPr lvl="1">
              <a:buNone/>
            </a:pPr>
            <a:r>
              <a:rPr lang="en-US" sz="1800" dirty="0"/>
              <a:t>                         WHERE ESSN=SSN AND LNAME='Smith');</a:t>
            </a:r>
            <a:endParaRPr lang="en-US" sz="5400" dirty="0"/>
          </a:p>
          <a:p>
            <a:r>
              <a:rPr lang="en-US" sz="2400" dirty="0"/>
              <a:t>The first nested query selects the project numbers of projects that have a 'Smith‘ involved as manager while the second selects the project numbers of projects that have a 'Smith' involved as worker. we use the </a:t>
            </a:r>
            <a:r>
              <a:rPr lang="en-US" sz="2400" b="1" dirty="0"/>
              <a:t>OR logical connective to retrieve </a:t>
            </a:r>
            <a:r>
              <a:rPr lang="en-US" sz="2400" dirty="0"/>
              <a:t>a PROJECT tuple if the PNUMBER value of that tuple is in the result of either nested query.</a:t>
            </a:r>
          </a:p>
          <a:p>
            <a:endParaRPr lang="en-US" sz="2400" dirty="0"/>
          </a:p>
          <a:p>
            <a:pPr lvl="1"/>
            <a:endParaRPr lang="en-US" sz="2000" dirty="0"/>
          </a:p>
          <a:p>
            <a:pPr lvl="1"/>
            <a:endParaRPr lang="en-US" sz="2000" dirty="0"/>
          </a:p>
          <a:p>
            <a:pPr lvl="1"/>
            <a:endParaRPr lang="en-US" sz="2000" dirty="0"/>
          </a:p>
          <a:p>
            <a:pPr lvl="1"/>
            <a:endParaRPr lang="en-US" sz="20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457200"/>
          </a:xfrm>
        </p:spPr>
        <p:txBody>
          <a:bodyPr>
            <a:normAutofit fontScale="90000"/>
          </a:bodyPr>
          <a:lstStyle/>
          <a:p>
            <a:endParaRPr lang="en-US" dirty="0"/>
          </a:p>
        </p:txBody>
      </p:sp>
      <p:sp>
        <p:nvSpPr>
          <p:cNvPr id="3" name="Content Placeholder 2"/>
          <p:cNvSpPr>
            <a:spLocks noGrp="1"/>
          </p:cNvSpPr>
          <p:nvPr>
            <p:ph idx="1"/>
          </p:nvPr>
        </p:nvSpPr>
        <p:spPr>
          <a:xfrm>
            <a:off x="0" y="533400"/>
            <a:ext cx="8991600" cy="6096000"/>
          </a:xfrm>
        </p:spPr>
        <p:txBody>
          <a:bodyPr>
            <a:normAutofit/>
          </a:bodyPr>
          <a:lstStyle/>
          <a:p>
            <a:r>
              <a:rPr lang="en-US" sz="2400" dirty="0"/>
              <a:t>Example2: Retrieve the name of each employee who has a dependent with the same first name and same sex as the employee.</a:t>
            </a:r>
          </a:p>
          <a:p>
            <a:pPr>
              <a:buNone/>
            </a:pPr>
            <a:r>
              <a:rPr lang="en-US" sz="2400" dirty="0"/>
              <a:t>SELECT E.FNAME, E.LNAME</a:t>
            </a:r>
          </a:p>
          <a:p>
            <a:pPr>
              <a:buNone/>
            </a:pPr>
            <a:r>
              <a:rPr lang="en-US" sz="2400" dirty="0"/>
              <a:t>FROM EMPLOYEE AS E</a:t>
            </a:r>
          </a:p>
          <a:p>
            <a:pPr>
              <a:buNone/>
            </a:pPr>
            <a:r>
              <a:rPr lang="en-US" sz="2400" dirty="0"/>
              <a:t>WHERE E.SSN IN (SELECT   ESSN </a:t>
            </a:r>
          </a:p>
          <a:p>
            <a:pPr>
              <a:buNone/>
            </a:pPr>
            <a:r>
              <a:rPr lang="en-US" sz="2400" dirty="0"/>
              <a:t>                                  FROM   DEPENDENT</a:t>
            </a:r>
          </a:p>
          <a:p>
            <a:pPr>
              <a:buNone/>
            </a:pPr>
            <a:r>
              <a:rPr lang="en-US" sz="2400" dirty="0"/>
              <a:t>                                  WHERE E.FNAME=DEPENDENT_NAME AND  </a:t>
            </a:r>
          </a:p>
          <a:p>
            <a:pPr>
              <a:buNone/>
            </a:pPr>
            <a:r>
              <a:rPr lang="en-US" sz="2400" dirty="0"/>
              <a:t>                                                 E.SEX=SEX);</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457200"/>
          </a:xfrm>
        </p:spPr>
        <p:txBody>
          <a:bodyPr>
            <a:normAutofit fontScale="90000"/>
          </a:bodyPr>
          <a:lstStyle/>
          <a:p>
            <a:r>
              <a:rPr lang="en-US" sz="2700" b="1" dirty="0"/>
              <a:t>The EXISTS and UNIQUE Functions in SQ</a:t>
            </a:r>
            <a:r>
              <a:rPr lang="en-US" b="1" dirty="0"/>
              <a:t>L</a:t>
            </a:r>
            <a:endParaRPr lang="en-US" dirty="0"/>
          </a:p>
        </p:txBody>
      </p:sp>
      <p:sp>
        <p:nvSpPr>
          <p:cNvPr id="3" name="Content Placeholder 2"/>
          <p:cNvSpPr>
            <a:spLocks noGrp="1"/>
          </p:cNvSpPr>
          <p:nvPr>
            <p:ph idx="1"/>
          </p:nvPr>
        </p:nvSpPr>
        <p:spPr>
          <a:xfrm>
            <a:off x="0" y="533400"/>
            <a:ext cx="8991600" cy="6096000"/>
          </a:xfrm>
        </p:spPr>
        <p:txBody>
          <a:bodyPr>
            <a:normAutofit/>
          </a:bodyPr>
          <a:lstStyle/>
          <a:p>
            <a:r>
              <a:rPr lang="en-US" sz="2400" dirty="0"/>
              <a:t>The EXISTS function in SQL is used to check whether the result of a correlated nested query is empty (contains no tuples) or not.</a:t>
            </a:r>
          </a:p>
          <a:p>
            <a:r>
              <a:rPr lang="en-US" sz="2400" dirty="0"/>
              <a:t>ex1:Retrieve the names of employees who have no dependents</a:t>
            </a:r>
          </a:p>
          <a:p>
            <a:pPr lvl="1">
              <a:buNone/>
            </a:pPr>
            <a:r>
              <a:rPr lang="en-US" sz="2000" dirty="0"/>
              <a:t>SELECT FNAME, LNAME</a:t>
            </a:r>
          </a:p>
          <a:p>
            <a:pPr lvl="1">
              <a:buNone/>
            </a:pPr>
            <a:r>
              <a:rPr lang="en-US" sz="2000" dirty="0"/>
              <a:t>FROM EMPLOYEE</a:t>
            </a:r>
          </a:p>
          <a:p>
            <a:pPr lvl="1">
              <a:buNone/>
            </a:pPr>
            <a:r>
              <a:rPr lang="en-US" sz="2000" dirty="0"/>
              <a:t>WHERE NOT EXISTS (SELECT * FROM DEPENDENT </a:t>
            </a:r>
          </a:p>
          <a:p>
            <a:pPr lvl="1">
              <a:buNone/>
            </a:pPr>
            <a:r>
              <a:rPr lang="en-US" sz="2000" dirty="0"/>
              <a:t>                                       WHERE SSN=ESSN);</a:t>
            </a:r>
          </a:p>
          <a:p>
            <a:pPr>
              <a:buNone/>
            </a:pPr>
            <a:r>
              <a:rPr lang="en-US" sz="2400" dirty="0"/>
              <a:t>Ex2:List the names of managers who have at least one dependent.</a:t>
            </a:r>
          </a:p>
          <a:p>
            <a:pPr lvl="1">
              <a:buNone/>
            </a:pPr>
            <a:r>
              <a:rPr lang="en-US" sz="2000" b="1" dirty="0"/>
              <a:t>SELECT </a:t>
            </a:r>
            <a:r>
              <a:rPr lang="en-US" sz="2000" dirty="0"/>
              <a:t>FNAME, LNAME</a:t>
            </a:r>
          </a:p>
          <a:p>
            <a:pPr lvl="1">
              <a:buNone/>
            </a:pPr>
            <a:r>
              <a:rPr lang="en-US" sz="2000" b="1" dirty="0"/>
              <a:t>FROM </a:t>
            </a:r>
            <a:r>
              <a:rPr lang="en-US" sz="2000" dirty="0"/>
              <a:t>EMPLOYEE </a:t>
            </a:r>
            <a:endParaRPr lang="en-US" sz="2000" b="1" dirty="0"/>
          </a:p>
          <a:p>
            <a:pPr lvl="1">
              <a:buNone/>
            </a:pPr>
            <a:r>
              <a:rPr lang="en-US" sz="2000" b="1" dirty="0"/>
              <a:t>WHERE EXISTS (SELECT *FROM DEPENDENT </a:t>
            </a:r>
          </a:p>
          <a:p>
            <a:pPr lvl="1">
              <a:buNone/>
            </a:pPr>
            <a:r>
              <a:rPr lang="en-US" sz="2000" b="1" dirty="0"/>
              <a:t>                              WHERE SSN=ESSN)</a:t>
            </a:r>
            <a:endParaRPr lang="en-US" sz="2000" dirty="0"/>
          </a:p>
          <a:p>
            <a:pPr lvl="1">
              <a:buNone/>
            </a:pPr>
            <a:r>
              <a:rPr lang="en-US" sz="2000" b="1" dirty="0"/>
              <a:t>AND</a:t>
            </a:r>
          </a:p>
          <a:p>
            <a:pPr>
              <a:buNone/>
            </a:pPr>
            <a:r>
              <a:rPr lang="en-US" sz="2000" b="1" dirty="0"/>
              <a:t>        EXISTS </a:t>
            </a:r>
            <a:r>
              <a:rPr lang="en-US" sz="1800" dirty="0"/>
              <a:t>(</a:t>
            </a:r>
            <a:r>
              <a:rPr lang="en-US" sz="1800" b="1" dirty="0"/>
              <a:t>SELECT * </a:t>
            </a:r>
          </a:p>
          <a:p>
            <a:pPr>
              <a:buNone/>
            </a:pPr>
            <a:r>
              <a:rPr lang="en-US" sz="1800" b="1" dirty="0"/>
              <a:t>          FROM DEPARTMENT</a:t>
            </a:r>
          </a:p>
          <a:p>
            <a:pPr>
              <a:buNone/>
            </a:pPr>
            <a:r>
              <a:rPr lang="en-US" sz="1800" b="1" dirty="0"/>
              <a:t>          WHERE SSN=MGRSSN</a:t>
            </a:r>
            <a:r>
              <a:rPr lang="en-US" sz="1800" dirty="0"/>
              <a:t>);</a:t>
            </a:r>
            <a:endParaRPr lang="en-US" sz="4800" dirty="0"/>
          </a:p>
          <a:p>
            <a:pPr lvl="1">
              <a:buNone/>
            </a:pPr>
            <a:endParaRPr lang="en-US" sz="20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81000"/>
            <a:ext cx="8229600" cy="457200"/>
          </a:xfrm>
        </p:spPr>
        <p:txBody>
          <a:bodyPr>
            <a:noAutofit/>
          </a:bodyPr>
          <a:lstStyle/>
          <a:p>
            <a:r>
              <a:rPr lang="en-US" sz="2400" b="1" dirty="0"/>
              <a:t>Aggregate Functions in SQL</a:t>
            </a:r>
            <a:endParaRPr lang="en-US" sz="2400" dirty="0"/>
          </a:p>
        </p:txBody>
      </p:sp>
      <p:sp>
        <p:nvSpPr>
          <p:cNvPr id="3" name="Content Placeholder 2"/>
          <p:cNvSpPr>
            <a:spLocks noGrp="1"/>
          </p:cNvSpPr>
          <p:nvPr>
            <p:ph idx="1"/>
          </p:nvPr>
        </p:nvSpPr>
        <p:spPr>
          <a:xfrm>
            <a:off x="0" y="533400"/>
            <a:ext cx="8991600" cy="6096000"/>
          </a:xfrm>
        </p:spPr>
        <p:txBody>
          <a:bodyPr>
            <a:normAutofit/>
          </a:bodyPr>
          <a:lstStyle/>
          <a:p>
            <a:endParaRPr lang="en-US" sz="2400" dirty="0"/>
          </a:p>
          <a:p>
            <a:r>
              <a:rPr lang="en-US" sz="2400" dirty="0"/>
              <a:t>A number of built-in functions exist: COUNT, SUM, MAX, MIN, and AVG</a:t>
            </a:r>
          </a:p>
          <a:p>
            <a:r>
              <a:rPr lang="en-US" sz="2400" dirty="0">
                <a:solidFill>
                  <a:srgbClr val="FF0000"/>
                </a:solidFill>
              </a:rPr>
              <a:t>EX</a:t>
            </a:r>
            <a:r>
              <a:rPr lang="en-US" sz="2400" dirty="0"/>
              <a:t>: Find the sum of the salaries of all employees, the maximum salary, the minimum </a:t>
            </a:r>
            <a:r>
              <a:rPr lang="en-US" sz="2400" dirty="0" err="1"/>
              <a:t>salary,and</a:t>
            </a:r>
            <a:r>
              <a:rPr lang="en-US" sz="2400" dirty="0"/>
              <a:t> the average salary.</a:t>
            </a:r>
          </a:p>
          <a:p>
            <a:pPr lvl="1">
              <a:buNone/>
            </a:pPr>
            <a:r>
              <a:rPr lang="en-US" sz="2000" b="1" dirty="0"/>
              <a:t>SELECT SUM (SALARY), MAX (SALARY), MIN (SALARY),AVG (SALARY)</a:t>
            </a:r>
          </a:p>
          <a:p>
            <a:pPr lvl="1">
              <a:buNone/>
            </a:pPr>
            <a:r>
              <a:rPr lang="en-US" sz="2000" b="1" dirty="0"/>
              <a:t>FROM EMPLOYEE;</a:t>
            </a:r>
          </a:p>
          <a:p>
            <a:r>
              <a:rPr lang="en-US" sz="2400" dirty="0">
                <a:solidFill>
                  <a:srgbClr val="FF0000"/>
                </a:solidFill>
              </a:rPr>
              <a:t>EX2</a:t>
            </a:r>
            <a:r>
              <a:rPr lang="en-US" sz="2400" dirty="0"/>
              <a:t>: Find the sum of the salaries of all employees of the 'Research' department, as well as the maximum salary, the minimum salary, and the average salary in this department.</a:t>
            </a:r>
          </a:p>
          <a:p>
            <a:pPr lvl="1">
              <a:buNone/>
            </a:pPr>
            <a:r>
              <a:rPr lang="en-US" sz="2000" b="1" dirty="0"/>
              <a:t>SELECT  SUM (SALARY), MAX (SALARY), MIN (SALARY),AVG (SALARY) </a:t>
            </a:r>
          </a:p>
          <a:p>
            <a:pPr lvl="1">
              <a:buNone/>
            </a:pPr>
            <a:r>
              <a:rPr lang="en-US" sz="2000" b="1" dirty="0"/>
              <a:t>FROM   </a:t>
            </a:r>
            <a:r>
              <a:rPr lang="en-US" sz="2000" dirty="0"/>
              <a:t>(EMPLOYEE </a:t>
            </a:r>
            <a:r>
              <a:rPr lang="en-US" sz="2000" b="1" dirty="0"/>
              <a:t>JOIN DEPARTMENT ON DNO=DNUMBER)</a:t>
            </a:r>
          </a:p>
          <a:p>
            <a:pPr lvl="1">
              <a:buNone/>
            </a:pPr>
            <a:r>
              <a:rPr lang="en-US" sz="2000" b="1" dirty="0"/>
              <a:t>WHERE </a:t>
            </a:r>
            <a:r>
              <a:rPr lang="en-US" sz="2000" dirty="0"/>
              <a:t>DNAME='Research';</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457200"/>
          </a:xfrm>
        </p:spPr>
        <p:txBody>
          <a:bodyPr>
            <a:noAutofit/>
          </a:bodyPr>
          <a:lstStyle/>
          <a:p>
            <a:endParaRPr lang="en-US" sz="2400" dirty="0"/>
          </a:p>
        </p:txBody>
      </p:sp>
      <p:sp>
        <p:nvSpPr>
          <p:cNvPr id="3" name="Content Placeholder 2"/>
          <p:cNvSpPr>
            <a:spLocks noGrp="1"/>
          </p:cNvSpPr>
          <p:nvPr>
            <p:ph idx="1"/>
          </p:nvPr>
        </p:nvSpPr>
        <p:spPr>
          <a:xfrm>
            <a:off x="0" y="533400"/>
            <a:ext cx="8991600" cy="6096000"/>
          </a:xfrm>
        </p:spPr>
        <p:txBody>
          <a:bodyPr>
            <a:normAutofit/>
          </a:bodyPr>
          <a:lstStyle/>
          <a:p>
            <a:pPr>
              <a:buNone/>
            </a:pPr>
            <a:r>
              <a:rPr lang="en-US" sz="2400" dirty="0"/>
              <a:t>EX3: Retrieve the total number of employees in the company </a:t>
            </a:r>
            <a:r>
              <a:rPr lang="en-US" sz="2400" i="1" dirty="0"/>
              <a:t>(Q21)</a:t>
            </a:r>
          </a:p>
          <a:p>
            <a:pPr lvl="1">
              <a:buNone/>
            </a:pPr>
            <a:r>
              <a:rPr lang="en-US" sz="2000" b="1" dirty="0"/>
              <a:t>SELECT  COUNT (*)</a:t>
            </a:r>
          </a:p>
          <a:p>
            <a:pPr lvl="1">
              <a:buNone/>
            </a:pPr>
            <a:r>
              <a:rPr lang="en-US" sz="2000" b="1" dirty="0"/>
              <a:t>FROM </a:t>
            </a:r>
            <a:r>
              <a:rPr lang="en-US" sz="2000" dirty="0"/>
              <a:t>EMPLOYEE;</a:t>
            </a:r>
          </a:p>
          <a:p>
            <a:pPr>
              <a:buNone/>
            </a:pPr>
            <a:r>
              <a:rPr lang="en-US" sz="2400" b="1" dirty="0"/>
              <a:t>EX4: </a:t>
            </a:r>
            <a:r>
              <a:rPr lang="en-US" sz="2400" i="1" dirty="0"/>
              <a:t>Retrieve the number of </a:t>
            </a:r>
            <a:r>
              <a:rPr lang="en-US" sz="2400" dirty="0"/>
              <a:t>employees in the 'Research' department </a:t>
            </a:r>
            <a:r>
              <a:rPr lang="en-US" sz="2400" i="1" dirty="0"/>
              <a:t>(</a:t>
            </a:r>
            <a:endParaRPr lang="en-US" sz="2400" b="1" dirty="0"/>
          </a:p>
          <a:p>
            <a:pPr lvl="1">
              <a:buNone/>
            </a:pPr>
            <a:r>
              <a:rPr lang="en-US" sz="2000" b="1" i="1" dirty="0"/>
              <a:t>SELECT </a:t>
            </a:r>
            <a:r>
              <a:rPr lang="en-US" sz="2000" b="1" dirty="0"/>
              <a:t>COUNT (*)</a:t>
            </a:r>
            <a:endParaRPr lang="en-US" sz="2000" b="1" i="1" dirty="0"/>
          </a:p>
          <a:p>
            <a:pPr lvl="1">
              <a:buNone/>
            </a:pPr>
            <a:r>
              <a:rPr lang="en-US" sz="2000" b="1" dirty="0"/>
              <a:t>FROM </a:t>
            </a:r>
            <a:r>
              <a:rPr lang="en-US" sz="2000" dirty="0"/>
              <a:t>EMPLOYEE,DEPARTMENT</a:t>
            </a:r>
            <a:endParaRPr lang="en-US" sz="2000" b="1" dirty="0"/>
          </a:p>
          <a:p>
            <a:pPr lvl="1">
              <a:buNone/>
            </a:pPr>
            <a:r>
              <a:rPr lang="en-US" sz="2000" b="1" dirty="0"/>
              <a:t>WHERE </a:t>
            </a:r>
            <a:r>
              <a:rPr lang="en-US" sz="2000" dirty="0"/>
              <a:t>DNO=DNUMBER </a:t>
            </a:r>
            <a:r>
              <a:rPr lang="en-US" sz="2000" b="1" dirty="0"/>
              <a:t>AND DNAME='Research';</a:t>
            </a:r>
          </a:p>
          <a:p>
            <a:r>
              <a:rPr lang="en-US" sz="2400" dirty="0" err="1"/>
              <a:t>Herethe</a:t>
            </a:r>
            <a:r>
              <a:rPr lang="en-US" sz="2400" dirty="0"/>
              <a:t> asterisk (*) refers to the </a:t>
            </a:r>
            <a:r>
              <a:rPr lang="en-US" sz="2400" i="1" dirty="0"/>
              <a:t>rows (tuples), so COUNT (*) returns the number of </a:t>
            </a:r>
            <a:r>
              <a:rPr lang="en-US" sz="2400" dirty="0"/>
              <a:t>rows in the result of the query</a:t>
            </a:r>
          </a:p>
          <a:p>
            <a:r>
              <a:rPr lang="en-US" sz="2400" dirty="0"/>
              <a:t>We may also use the COUNT function to count values in a column rather than tuples, as in the next example.</a:t>
            </a:r>
          </a:p>
          <a:p>
            <a:r>
              <a:rPr lang="en-US" sz="2400" dirty="0"/>
              <a:t>Ex5: Count the number of distinct salary values in the database.</a:t>
            </a:r>
          </a:p>
          <a:p>
            <a:pPr lvl="1">
              <a:buNone/>
            </a:pPr>
            <a:r>
              <a:rPr lang="en-US" sz="2000" b="1" dirty="0"/>
              <a:t>SELECT COUNT (DISTINCT SALARY)</a:t>
            </a:r>
          </a:p>
          <a:p>
            <a:pPr lvl="1">
              <a:buNone/>
            </a:pPr>
            <a:r>
              <a:rPr lang="en-US" sz="2000" b="1" dirty="0"/>
              <a:t>FROM EMPLOYEE;</a:t>
            </a:r>
            <a:endParaRPr lang="en-US" sz="20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457200"/>
          </a:xfrm>
        </p:spPr>
        <p:txBody>
          <a:bodyPr>
            <a:noAutofit/>
          </a:bodyPr>
          <a:lstStyle/>
          <a:p>
            <a:r>
              <a:rPr lang="en-US" sz="2800" dirty="0"/>
              <a:t>JOIN ED TABLES IN SQL </a:t>
            </a:r>
          </a:p>
        </p:txBody>
      </p:sp>
      <p:sp>
        <p:nvSpPr>
          <p:cNvPr id="3" name="Content Placeholder 2"/>
          <p:cNvSpPr>
            <a:spLocks noGrp="1"/>
          </p:cNvSpPr>
          <p:nvPr>
            <p:ph idx="1"/>
          </p:nvPr>
        </p:nvSpPr>
        <p:spPr>
          <a:xfrm>
            <a:off x="0" y="533400"/>
            <a:ext cx="8991600" cy="6096000"/>
          </a:xfrm>
        </p:spPr>
        <p:txBody>
          <a:bodyPr>
            <a:normAutofit/>
          </a:bodyPr>
          <a:lstStyle/>
          <a:p>
            <a:r>
              <a:rPr lang="en-US" sz="2400" dirty="0"/>
              <a:t>Helps users to specify a table resulting from a join operation in </a:t>
            </a:r>
            <a:r>
              <a:rPr lang="en-US" sz="2400" i="1" dirty="0"/>
              <a:t>the FROM clause of a query.</a:t>
            </a:r>
          </a:p>
          <a:p>
            <a:r>
              <a:rPr lang="en-US" sz="2400" dirty="0"/>
              <a:t>For example, consider the following query, </a:t>
            </a:r>
            <a:r>
              <a:rPr lang="en-US" sz="2400" i="1" dirty="0"/>
              <a:t>which retrieves the name </a:t>
            </a:r>
            <a:r>
              <a:rPr lang="en-US" sz="2400" dirty="0"/>
              <a:t>and address of every employee who works for the 'Research' department. </a:t>
            </a:r>
          </a:p>
          <a:p>
            <a:r>
              <a:rPr lang="en-US" sz="2400" dirty="0"/>
              <a:t>It may be easier first to specify the join of the EMPLOYEE and DEPARTMENT relations, and then to select the desired tuples and attributes.</a:t>
            </a:r>
          </a:p>
          <a:p>
            <a:pPr lvl="1">
              <a:buNone/>
            </a:pPr>
            <a:r>
              <a:rPr lang="en-US" sz="2000" b="1" dirty="0"/>
              <a:t>SELECT </a:t>
            </a:r>
            <a:r>
              <a:rPr lang="en-US" sz="2000" dirty="0"/>
              <a:t>FNAME, LNAME, ADDRESS</a:t>
            </a:r>
            <a:endParaRPr lang="en-US" sz="2000" b="1" dirty="0"/>
          </a:p>
          <a:p>
            <a:pPr lvl="1">
              <a:buNone/>
            </a:pPr>
            <a:r>
              <a:rPr lang="en-US" sz="2000" b="1" dirty="0"/>
              <a:t>FROM </a:t>
            </a:r>
            <a:r>
              <a:rPr lang="en-US" sz="2000" dirty="0"/>
              <a:t>(EMPLOYEE </a:t>
            </a:r>
            <a:r>
              <a:rPr lang="en-US" sz="2000" b="1" dirty="0"/>
              <a:t>JOIN DEPARTMENT ON DNO=DNUMBER)</a:t>
            </a:r>
          </a:p>
          <a:p>
            <a:pPr lvl="1">
              <a:buNone/>
            </a:pPr>
            <a:r>
              <a:rPr lang="en-US" sz="2000" b="1" dirty="0"/>
              <a:t>WHERE </a:t>
            </a:r>
            <a:r>
              <a:rPr lang="en-US" sz="2000" dirty="0"/>
              <a:t>DNAME='Research';</a:t>
            </a:r>
          </a:p>
          <a:p>
            <a:pPr>
              <a:buNone/>
            </a:pPr>
            <a:r>
              <a:rPr lang="en-US" sz="2400" b="1" dirty="0"/>
              <a:t>Reading assignment: left join</a:t>
            </a:r>
          </a:p>
          <a:p>
            <a:pPr>
              <a:buNone/>
            </a:pPr>
            <a:r>
              <a:rPr lang="en-US" sz="2400" b="1" dirty="0"/>
              <a:t>                                       outer join</a:t>
            </a:r>
          </a:p>
          <a:p>
            <a:pPr>
              <a:buNone/>
            </a:pPr>
            <a:r>
              <a:rPr lang="en-US" sz="2400" b="1" dirty="0"/>
              <a:t>                                       inner join</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457200"/>
          </a:xfrm>
        </p:spPr>
        <p:txBody>
          <a:bodyPr>
            <a:noAutofit/>
          </a:bodyPr>
          <a:lstStyle/>
          <a:p>
            <a:r>
              <a:rPr lang="en-US" sz="2400" dirty="0"/>
              <a:t>Grouping: The GROUP BY and HAVING Clauses</a:t>
            </a:r>
          </a:p>
        </p:txBody>
      </p:sp>
      <p:sp>
        <p:nvSpPr>
          <p:cNvPr id="3" name="Content Placeholder 2"/>
          <p:cNvSpPr>
            <a:spLocks noGrp="1"/>
          </p:cNvSpPr>
          <p:nvPr>
            <p:ph idx="1"/>
          </p:nvPr>
        </p:nvSpPr>
        <p:spPr>
          <a:xfrm>
            <a:off x="0" y="533400"/>
            <a:ext cx="8991600" cy="6096000"/>
          </a:xfrm>
        </p:spPr>
        <p:txBody>
          <a:bodyPr>
            <a:normAutofit/>
          </a:bodyPr>
          <a:lstStyle/>
          <a:p>
            <a:r>
              <a:rPr lang="en-US" sz="2400" dirty="0"/>
              <a:t>In many cases we want to apply the aggregate functions to </a:t>
            </a:r>
            <a:r>
              <a:rPr lang="en-US" sz="2400" i="1" dirty="0"/>
              <a:t>subgroups of tuples in a relation, where</a:t>
            </a:r>
            <a:r>
              <a:rPr lang="en-US" sz="2400" dirty="0"/>
              <a:t> the subgroups are based on some attribute values.</a:t>
            </a:r>
          </a:p>
          <a:p>
            <a:r>
              <a:rPr lang="en-US" sz="2400" dirty="0"/>
              <a:t>For example, we may want to find </a:t>
            </a:r>
            <a:r>
              <a:rPr lang="en-US" sz="2400" b="1" dirty="0"/>
              <a:t>the average salary </a:t>
            </a:r>
            <a:r>
              <a:rPr lang="en-US" sz="2400" dirty="0"/>
              <a:t>of employees in </a:t>
            </a:r>
            <a:r>
              <a:rPr lang="en-US" sz="2400" i="1" dirty="0"/>
              <a:t>each department or </a:t>
            </a:r>
            <a:r>
              <a:rPr lang="en-US" sz="2400" b="1" i="1" dirty="0"/>
              <a:t>the number of employees who </a:t>
            </a:r>
            <a:r>
              <a:rPr lang="en-US" sz="2400" b="1" dirty="0"/>
              <a:t>work </a:t>
            </a:r>
            <a:r>
              <a:rPr lang="en-US" sz="2400" dirty="0"/>
              <a:t>on </a:t>
            </a:r>
            <a:r>
              <a:rPr lang="en-US" sz="2400" i="1" dirty="0"/>
              <a:t>each project.</a:t>
            </a:r>
          </a:p>
          <a:p>
            <a:r>
              <a:rPr lang="en-US" sz="2400" dirty="0"/>
              <a:t>The GROUP BY clause specifies the grouping attributes, which should </a:t>
            </a:r>
            <a:r>
              <a:rPr lang="en-US" sz="2400" i="1" dirty="0"/>
              <a:t>also appear in the SELECT clause, so that the value resulting from applying each aggregate function to a </a:t>
            </a:r>
            <a:r>
              <a:rPr lang="en-US" sz="2400" b="1" dirty="0"/>
              <a:t>group of tuples appears along with </a:t>
            </a:r>
            <a:r>
              <a:rPr lang="en-US" sz="2400" dirty="0"/>
              <a:t>the value of the grouping attributes.</a:t>
            </a:r>
          </a:p>
          <a:p>
            <a:endParaRPr lang="en-US" sz="24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457200"/>
          </a:xfrm>
        </p:spPr>
        <p:txBody>
          <a:bodyPr>
            <a:noAutofit/>
          </a:bodyPr>
          <a:lstStyle/>
          <a:p>
            <a:endParaRPr lang="en-US" sz="2400" dirty="0"/>
          </a:p>
        </p:txBody>
      </p:sp>
      <p:sp>
        <p:nvSpPr>
          <p:cNvPr id="3" name="Content Placeholder 2"/>
          <p:cNvSpPr>
            <a:spLocks noGrp="1"/>
          </p:cNvSpPr>
          <p:nvPr>
            <p:ph idx="1"/>
          </p:nvPr>
        </p:nvSpPr>
        <p:spPr>
          <a:xfrm>
            <a:off x="0" y="533400"/>
            <a:ext cx="8991600" cy="6096000"/>
          </a:xfrm>
        </p:spPr>
        <p:txBody>
          <a:bodyPr>
            <a:normAutofit/>
          </a:bodyPr>
          <a:lstStyle/>
          <a:p>
            <a:r>
              <a:rPr lang="en-US" sz="2400" dirty="0">
                <a:solidFill>
                  <a:srgbClr val="FF0000"/>
                </a:solidFill>
              </a:rPr>
              <a:t>Ex</a:t>
            </a:r>
            <a:r>
              <a:rPr lang="en-US" sz="2400" dirty="0"/>
              <a:t>: For each department, retrieve the department number, the number of employees in the department, and their average salary.</a:t>
            </a:r>
          </a:p>
          <a:p>
            <a:pPr lvl="1">
              <a:buNone/>
            </a:pPr>
            <a:r>
              <a:rPr lang="en-US" sz="2000" dirty="0"/>
              <a:t>SELECT DNO , COUNT (*), AVG (SALARY)</a:t>
            </a:r>
          </a:p>
          <a:p>
            <a:pPr lvl="1">
              <a:buNone/>
            </a:pPr>
            <a:r>
              <a:rPr lang="en-US" sz="2000" dirty="0"/>
              <a:t>FROM EMPLOYEE</a:t>
            </a:r>
          </a:p>
          <a:p>
            <a:pPr lvl="1">
              <a:buNone/>
            </a:pPr>
            <a:r>
              <a:rPr lang="en-US" sz="2000" dirty="0"/>
              <a:t>GROUP BY DNO;</a:t>
            </a:r>
          </a:p>
          <a:p>
            <a:r>
              <a:rPr lang="en-US" sz="2400" dirty="0"/>
              <a:t>In this query the EMPLOYEE tuples are partitioned into groups-each group having the same value for the grouping attribute DNO. The COUNT and AVG functions are applied to each such group of tuples</a:t>
            </a:r>
          </a:p>
          <a:p>
            <a:r>
              <a:rPr lang="en-US" sz="2400" dirty="0"/>
              <a:t>the SELECT clause includes only the grouping attribute and the functions to be applied on each group of tuples.</a:t>
            </a:r>
          </a:p>
          <a:p>
            <a:r>
              <a:rPr lang="en-US" sz="2400" dirty="0"/>
              <a:t>The result is shown in figure 8.6(a)</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457200"/>
          </a:xfrm>
        </p:spPr>
        <p:txBody>
          <a:bodyPr>
            <a:normAutofit fontScale="90000"/>
          </a:bodyPr>
          <a:lstStyle/>
          <a:p>
            <a:endParaRPr lang="en-US" dirty="0"/>
          </a:p>
        </p:txBody>
      </p:sp>
      <p:sp>
        <p:nvSpPr>
          <p:cNvPr id="3" name="Content Placeholder 2"/>
          <p:cNvSpPr>
            <a:spLocks noGrp="1"/>
          </p:cNvSpPr>
          <p:nvPr>
            <p:ph idx="1"/>
          </p:nvPr>
        </p:nvSpPr>
        <p:spPr>
          <a:xfrm>
            <a:off x="0" y="533400"/>
            <a:ext cx="8991600" cy="6096000"/>
          </a:xfrm>
        </p:spPr>
        <p:txBody>
          <a:bodyPr>
            <a:normAutofit/>
          </a:bodyPr>
          <a:lstStyle/>
          <a:p>
            <a:r>
              <a:rPr lang="en-US" sz="2400" dirty="0"/>
              <a:t>Ex2: For each project, retrieve the project number, the project name, and the number of employees who work on that project.</a:t>
            </a:r>
          </a:p>
          <a:p>
            <a:pPr lvl="1">
              <a:buNone/>
            </a:pPr>
            <a:r>
              <a:rPr lang="en-US" sz="2000" b="1" dirty="0"/>
              <a:t>SELECT </a:t>
            </a:r>
            <a:r>
              <a:rPr lang="en-US" sz="2000" dirty="0"/>
              <a:t>PNUMBER, PNAME, COUNT (*)</a:t>
            </a:r>
            <a:endParaRPr lang="en-US" sz="2000" b="1" dirty="0"/>
          </a:p>
          <a:p>
            <a:pPr lvl="1">
              <a:buNone/>
            </a:pPr>
            <a:r>
              <a:rPr lang="en-US" sz="2000" b="1" dirty="0"/>
              <a:t>FROM </a:t>
            </a:r>
            <a:r>
              <a:rPr lang="en-US" sz="2000" dirty="0"/>
              <a:t>PROJECT, WORKS_ON</a:t>
            </a:r>
            <a:endParaRPr lang="en-US" sz="2000" b="1" dirty="0"/>
          </a:p>
          <a:p>
            <a:pPr lvl="1">
              <a:buNone/>
            </a:pPr>
            <a:r>
              <a:rPr lang="en-US" sz="2000" b="1" dirty="0"/>
              <a:t>WHERE </a:t>
            </a:r>
            <a:r>
              <a:rPr lang="en-US" sz="2000" dirty="0"/>
              <a:t>PNUMBER=PNO</a:t>
            </a:r>
            <a:r>
              <a:rPr lang="en-US" sz="2000" b="1" dirty="0"/>
              <a:t> </a:t>
            </a:r>
          </a:p>
          <a:p>
            <a:pPr lvl="1">
              <a:buNone/>
            </a:pPr>
            <a:r>
              <a:rPr lang="en-US" sz="2000" b="1" dirty="0"/>
              <a:t>GROUP BY </a:t>
            </a:r>
            <a:r>
              <a:rPr lang="en-US" sz="2000" dirty="0"/>
              <a:t>PNUMBER, PNAME;</a:t>
            </a:r>
          </a:p>
          <a:p>
            <a:r>
              <a:rPr lang="en-US" sz="2400" dirty="0"/>
              <a:t>In this example, the grouping and functions are applied </a:t>
            </a:r>
            <a:r>
              <a:rPr lang="en-US" sz="2400" i="1" dirty="0"/>
              <a:t>after the joining of the two relations(The result is shown in 8.6(b))</a:t>
            </a:r>
          </a:p>
          <a:p>
            <a:r>
              <a:rPr lang="en-US" sz="2400" dirty="0"/>
              <a:t>Sometimes we want to retrieve the values of these functions only for </a:t>
            </a:r>
            <a:r>
              <a:rPr lang="en-US" sz="2400" i="1" dirty="0"/>
              <a:t>groups that satisfy certain conditions</a:t>
            </a:r>
          </a:p>
          <a:p>
            <a:r>
              <a:rPr lang="en-US" sz="2400" dirty="0"/>
              <a:t>For example, suppose that we want to modify ex2 so that only projects with more than two employees appear in the result. </a:t>
            </a:r>
          </a:p>
          <a:p>
            <a:r>
              <a:rPr lang="en-US" sz="2400" dirty="0"/>
              <a:t> SQL provides a HAVING clause, which can appear in conjunction with a GROUP BY clause, for this purpose</a:t>
            </a:r>
            <a:endParaRPr lang="en-US" sz="2400" i="1" dirty="0"/>
          </a:p>
          <a:p>
            <a:endParaRPr lang="en-US" sz="24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457200"/>
          </a:xfrm>
        </p:spPr>
        <p:txBody>
          <a:bodyPr>
            <a:noAutofit/>
          </a:bodyPr>
          <a:lstStyle/>
          <a:p>
            <a:endParaRPr lang="en-US" sz="2400" dirty="0"/>
          </a:p>
        </p:txBody>
      </p:sp>
      <p:sp>
        <p:nvSpPr>
          <p:cNvPr id="3" name="Content Placeholder 2"/>
          <p:cNvSpPr>
            <a:spLocks noGrp="1"/>
          </p:cNvSpPr>
          <p:nvPr>
            <p:ph idx="1"/>
          </p:nvPr>
        </p:nvSpPr>
        <p:spPr>
          <a:xfrm>
            <a:off x="0" y="533400"/>
            <a:ext cx="8991600" cy="6096000"/>
          </a:xfrm>
        </p:spPr>
        <p:txBody>
          <a:bodyPr>
            <a:normAutofit/>
          </a:bodyPr>
          <a:lstStyle/>
          <a:p>
            <a:r>
              <a:rPr lang="en-US" sz="2400" dirty="0"/>
              <a:t>Example: For each project on </a:t>
            </a:r>
            <a:r>
              <a:rPr lang="en-US" sz="2400" i="1" dirty="0"/>
              <a:t>which more than two employees work, retrieve the project number, </a:t>
            </a:r>
            <a:r>
              <a:rPr lang="en-US" sz="2400" dirty="0"/>
              <a:t>the project name, and the number of employees who work on the project.</a:t>
            </a:r>
          </a:p>
          <a:p>
            <a:pPr lvl="1">
              <a:buNone/>
            </a:pPr>
            <a:endParaRPr lang="en-US" sz="1100" b="1" dirty="0"/>
          </a:p>
          <a:p>
            <a:pPr lvl="1">
              <a:buNone/>
            </a:pPr>
            <a:r>
              <a:rPr lang="en-US" sz="2000" b="1" dirty="0"/>
              <a:t>SELECT PNUMBER, PNAME, COUNT (*)</a:t>
            </a:r>
          </a:p>
          <a:p>
            <a:pPr lvl="1">
              <a:buNone/>
            </a:pPr>
            <a:r>
              <a:rPr lang="en-US" sz="2000" b="1" dirty="0"/>
              <a:t>FROM PROJECT, WORKS_ON</a:t>
            </a:r>
          </a:p>
          <a:p>
            <a:pPr lvl="1">
              <a:buNone/>
            </a:pPr>
            <a:r>
              <a:rPr lang="en-US" sz="2000" b="1" dirty="0"/>
              <a:t>WHERE PNUMBER=PNO</a:t>
            </a:r>
          </a:p>
          <a:p>
            <a:pPr lvl="1">
              <a:buNone/>
            </a:pPr>
            <a:r>
              <a:rPr lang="en-US" sz="2000" b="1" dirty="0"/>
              <a:t>GROUP BY PNUMBER, PNAME</a:t>
            </a:r>
          </a:p>
          <a:p>
            <a:pPr lvl="1">
              <a:buNone/>
            </a:pPr>
            <a:r>
              <a:rPr lang="en-US" sz="2000" b="1" dirty="0"/>
              <a:t>HAVING COUNT (*) &gt; 2;</a:t>
            </a:r>
            <a:endParaRPr lang="en-US" sz="20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457200"/>
          </a:xfrm>
        </p:spPr>
        <p:txBody>
          <a:bodyPr>
            <a:noAutofit/>
          </a:bodyPr>
          <a:lstStyle/>
          <a:p>
            <a:endParaRPr lang="en-US" sz="2400" dirty="0"/>
          </a:p>
        </p:txBody>
      </p:sp>
      <p:pic>
        <p:nvPicPr>
          <p:cNvPr id="1026" name="Picture 2"/>
          <p:cNvPicPr>
            <a:picLocks noGrp="1" noChangeAspect="1" noChangeArrowheads="1"/>
          </p:cNvPicPr>
          <p:nvPr>
            <p:ph idx="1"/>
          </p:nvPr>
        </p:nvPicPr>
        <p:blipFill>
          <a:blip r:embed="rId2"/>
          <a:srcRect/>
          <a:stretch>
            <a:fillRect/>
          </a:stretch>
        </p:blipFill>
        <p:spPr bwMode="auto">
          <a:xfrm>
            <a:off x="508936" y="533400"/>
            <a:ext cx="7973727" cy="6096000"/>
          </a:xfrm>
          <a:prstGeom prst="rect">
            <a:avLst/>
          </a:prstGeom>
          <a:noFill/>
          <a:ln w="9525">
            <a:noFill/>
            <a:miter lim="800000"/>
            <a:headEnd/>
            <a:tailEnd/>
          </a:ln>
          <a:effectLst/>
        </p:spPr>
      </p:pic>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457200"/>
          </a:xfrm>
        </p:spPr>
        <p:txBody>
          <a:bodyPr>
            <a:normAutofit fontScale="90000"/>
          </a:bodyPr>
          <a:lstStyle/>
          <a:p>
            <a:endParaRPr lang="en-US" dirty="0"/>
          </a:p>
        </p:txBody>
      </p:sp>
      <p:pic>
        <p:nvPicPr>
          <p:cNvPr id="2050" name="Picture 2"/>
          <p:cNvPicPr>
            <a:picLocks noGrp="1" noChangeAspect="1" noChangeArrowheads="1"/>
          </p:cNvPicPr>
          <p:nvPr>
            <p:ph idx="1"/>
          </p:nvPr>
        </p:nvPicPr>
        <p:blipFill>
          <a:blip r:embed="rId2"/>
          <a:srcRect/>
          <a:stretch>
            <a:fillRect/>
          </a:stretch>
        </p:blipFill>
        <p:spPr bwMode="auto">
          <a:xfrm>
            <a:off x="0" y="838200"/>
            <a:ext cx="8991600" cy="3075810"/>
          </a:xfrm>
          <a:prstGeom prst="rect">
            <a:avLst/>
          </a:prstGeom>
          <a:noFill/>
          <a:ln w="9525">
            <a:noFill/>
            <a:miter lim="800000"/>
            <a:headEnd/>
            <a:tailEnd/>
          </a:ln>
          <a:effectLst/>
        </p:spPr>
      </p:pic>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533400"/>
          </a:xfrm>
        </p:spPr>
        <p:txBody>
          <a:bodyPr>
            <a:noAutofit/>
          </a:bodyPr>
          <a:lstStyle/>
          <a:p>
            <a:r>
              <a:rPr lang="en-US" sz="2400" dirty="0"/>
              <a:t>Insert, Delete, and Update Statements in SQL</a:t>
            </a:r>
          </a:p>
        </p:txBody>
      </p:sp>
      <p:sp>
        <p:nvSpPr>
          <p:cNvPr id="3" name="Content Placeholder 2"/>
          <p:cNvSpPr>
            <a:spLocks noGrp="1"/>
          </p:cNvSpPr>
          <p:nvPr>
            <p:ph idx="1"/>
          </p:nvPr>
        </p:nvSpPr>
        <p:spPr>
          <a:xfrm>
            <a:off x="152400" y="533400"/>
            <a:ext cx="8839200" cy="6096000"/>
          </a:xfrm>
        </p:spPr>
        <p:txBody>
          <a:bodyPr>
            <a:normAutofit/>
          </a:bodyPr>
          <a:lstStyle/>
          <a:p>
            <a:r>
              <a:rPr lang="en-US" sz="2400" dirty="0"/>
              <a:t>In SQL, three commands can be used to modify the database: INSERT, DELETE, and UPDATE.</a:t>
            </a:r>
          </a:p>
          <a:p>
            <a:pPr marL="0" indent="0">
              <a:buNone/>
            </a:pPr>
            <a:r>
              <a:rPr lang="en-US" sz="2400" b="1" dirty="0"/>
              <a:t>The INSERT Command</a:t>
            </a:r>
          </a:p>
          <a:p>
            <a:r>
              <a:rPr lang="en-US" sz="2400" dirty="0"/>
              <a:t>In its simplest form, INSERT is used to add a single tuple to a relation. We must specify the relation name and a list of values for the tuple. </a:t>
            </a:r>
          </a:p>
          <a:p>
            <a:r>
              <a:rPr lang="en-US" sz="2400" dirty="0"/>
              <a:t>The values should be listed in </a:t>
            </a:r>
            <a:r>
              <a:rPr lang="en-US" sz="2400" i="1" dirty="0"/>
              <a:t>the same order in which the corresponding attributes were specified in the CREATE TABLE.</a:t>
            </a:r>
          </a:p>
          <a:p>
            <a:r>
              <a:rPr lang="en-US" sz="2400" i="1" dirty="0"/>
              <a:t>Example:</a:t>
            </a:r>
          </a:p>
          <a:p>
            <a:endParaRPr lang="en-US" sz="2400" i="1" dirty="0"/>
          </a:p>
          <a:p>
            <a:endParaRPr lang="en-US" sz="2400" i="1" dirty="0"/>
          </a:p>
          <a:p>
            <a:endParaRPr lang="en-US" sz="2400" dirty="0"/>
          </a:p>
        </p:txBody>
      </p:sp>
      <p:sp>
        <p:nvSpPr>
          <p:cNvPr id="11" name="Rectangle 10"/>
          <p:cNvSpPr/>
          <p:nvPr/>
        </p:nvSpPr>
        <p:spPr>
          <a:xfrm>
            <a:off x="1295400" y="4343400"/>
            <a:ext cx="6781800" cy="22098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32" name="Picture 8"/>
          <p:cNvPicPr>
            <a:picLocks noChangeAspect="1" noChangeArrowheads="1"/>
          </p:cNvPicPr>
          <p:nvPr/>
        </p:nvPicPr>
        <p:blipFill>
          <a:blip r:embed="rId2"/>
          <a:srcRect/>
          <a:stretch>
            <a:fillRect/>
          </a:stretch>
        </p:blipFill>
        <p:spPr bwMode="auto">
          <a:xfrm>
            <a:off x="1371600" y="4495800"/>
            <a:ext cx="6629400" cy="1790700"/>
          </a:xfrm>
          <a:prstGeom prst="rect">
            <a:avLst/>
          </a:prstGeom>
          <a:noFill/>
          <a:ln w="9525">
            <a:noFill/>
            <a:miter lim="800000"/>
            <a:headEnd/>
            <a:tailEnd/>
          </a:ln>
          <a:effectLst/>
        </p:spPr>
      </p:pic>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533400"/>
          </a:xfrm>
        </p:spPr>
        <p:txBody>
          <a:bodyPr>
            <a:noAutofit/>
          </a:bodyPr>
          <a:lstStyle/>
          <a:p>
            <a:endParaRPr lang="en-US" sz="2400" dirty="0"/>
          </a:p>
        </p:txBody>
      </p:sp>
      <p:sp>
        <p:nvSpPr>
          <p:cNvPr id="3" name="Content Placeholder 2"/>
          <p:cNvSpPr>
            <a:spLocks noGrp="1"/>
          </p:cNvSpPr>
          <p:nvPr>
            <p:ph idx="1"/>
          </p:nvPr>
        </p:nvSpPr>
        <p:spPr>
          <a:xfrm>
            <a:off x="152400" y="533400"/>
            <a:ext cx="8839200" cy="6096000"/>
          </a:xfrm>
        </p:spPr>
        <p:txBody>
          <a:bodyPr>
            <a:normAutofit/>
          </a:bodyPr>
          <a:lstStyle/>
          <a:p>
            <a:r>
              <a:rPr lang="en-US" sz="2400" dirty="0"/>
              <a:t>A second form of the INSERT statement allows the user to specify explicit attribute names that correspond to the values provided in the INSERT command. </a:t>
            </a:r>
          </a:p>
          <a:p>
            <a:r>
              <a:rPr lang="en-US" sz="2400" dirty="0"/>
              <a:t>This is useful if a relation has many attributes but only a few of those attributes are assigned values in the new tuple. </a:t>
            </a:r>
          </a:p>
          <a:p>
            <a:r>
              <a:rPr lang="en-US" sz="2400" dirty="0"/>
              <a:t>However, the values must include all attributes with NOT NULL specification and no default  value</a:t>
            </a:r>
          </a:p>
          <a:p>
            <a:endParaRPr lang="en-US" sz="2400" dirty="0"/>
          </a:p>
        </p:txBody>
      </p:sp>
      <p:sp>
        <p:nvSpPr>
          <p:cNvPr id="4" name="Rectangle 3"/>
          <p:cNvSpPr/>
          <p:nvPr/>
        </p:nvSpPr>
        <p:spPr>
          <a:xfrm>
            <a:off x="457200" y="3429000"/>
            <a:ext cx="8305800" cy="1219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050" name="Picture 2"/>
          <p:cNvPicPr>
            <a:picLocks noChangeAspect="1" noChangeArrowheads="1"/>
          </p:cNvPicPr>
          <p:nvPr/>
        </p:nvPicPr>
        <p:blipFill>
          <a:blip r:embed="rId2"/>
          <a:srcRect/>
          <a:stretch>
            <a:fillRect/>
          </a:stretch>
        </p:blipFill>
        <p:spPr bwMode="auto">
          <a:xfrm>
            <a:off x="457200" y="3429000"/>
            <a:ext cx="8153400" cy="1228725"/>
          </a:xfrm>
          <a:prstGeom prst="rect">
            <a:avLst/>
          </a:prstGeom>
          <a:noFill/>
          <a:ln w="9525">
            <a:noFill/>
            <a:miter lim="800000"/>
            <a:headEnd/>
            <a:tailEnd/>
          </a:ln>
          <a:effectLst/>
        </p:spPr>
      </p:pic>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533400"/>
          </a:xfrm>
        </p:spPr>
        <p:txBody>
          <a:bodyPr>
            <a:noAutofit/>
          </a:bodyPr>
          <a:lstStyle/>
          <a:p>
            <a:r>
              <a:rPr lang="en-US" sz="2400" dirty="0"/>
              <a:t>The Delete Command</a:t>
            </a:r>
          </a:p>
        </p:txBody>
      </p:sp>
      <p:sp>
        <p:nvSpPr>
          <p:cNvPr id="3" name="Content Placeholder 2"/>
          <p:cNvSpPr>
            <a:spLocks noGrp="1"/>
          </p:cNvSpPr>
          <p:nvPr>
            <p:ph idx="1"/>
          </p:nvPr>
        </p:nvSpPr>
        <p:spPr>
          <a:xfrm>
            <a:off x="152400" y="533400"/>
            <a:ext cx="8839200" cy="6096000"/>
          </a:xfrm>
        </p:spPr>
        <p:txBody>
          <a:bodyPr>
            <a:normAutofit/>
          </a:bodyPr>
          <a:lstStyle/>
          <a:p>
            <a:r>
              <a:rPr lang="en-US" sz="2400" dirty="0"/>
              <a:t>The DELETE command removes tuples from a relation. </a:t>
            </a:r>
          </a:p>
          <a:p>
            <a:r>
              <a:rPr lang="en-US" sz="2400" dirty="0"/>
              <a:t>It includes a WHERE clause, similar to that used in an SQL query, to select the tuples to be deleted</a:t>
            </a:r>
          </a:p>
          <a:p>
            <a:r>
              <a:rPr lang="en-US" sz="2400" dirty="0"/>
              <a:t>A missing WHERE clause specifies that all tuples in the relation are to be deleted;</a:t>
            </a:r>
          </a:p>
          <a:p>
            <a:endParaRPr lang="en-US" sz="2400" dirty="0"/>
          </a:p>
        </p:txBody>
      </p:sp>
      <p:sp>
        <p:nvSpPr>
          <p:cNvPr id="4" name="Rectangle 3"/>
          <p:cNvSpPr/>
          <p:nvPr/>
        </p:nvSpPr>
        <p:spPr>
          <a:xfrm>
            <a:off x="609600" y="2667000"/>
            <a:ext cx="8305800" cy="3886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075" name="Picture 3"/>
          <p:cNvPicPr>
            <a:picLocks noChangeAspect="1" noChangeArrowheads="1"/>
          </p:cNvPicPr>
          <p:nvPr/>
        </p:nvPicPr>
        <p:blipFill>
          <a:blip r:embed="rId2"/>
          <a:srcRect/>
          <a:stretch>
            <a:fillRect/>
          </a:stretch>
        </p:blipFill>
        <p:spPr bwMode="auto">
          <a:xfrm>
            <a:off x="609600" y="2590800"/>
            <a:ext cx="8305800" cy="3886200"/>
          </a:xfrm>
          <a:prstGeom prst="rect">
            <a:avLst/>
          </a:prstGeom>
          <a:noFill/>
          <a:ln w="9525">
            <a:noFill/>
            <a:miter lim="800000"/>
            <a:headEnd/>
            <a:tailEnd/>
          </a:ln>
          <a:effectLst/>
        </p:spPr>
      </p:pic>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533400"/>
          </a:xfrm>
        </p:spPr>
        <p:txBody>
          <a:bodyPr>
            <a:noAutofit/>
          </a:bodyPr>
          <a:lstStyle/>
          <a:p>
            <a:r>
              <a:rPr lang="en-US" sz="2400" b="1" dirty="0"/>
              <a:t>The UPDATE Command</a:t>
            </a:r>
            <a:endParaRPr lang="en-US" sz="2400" dirty="0"/>
          </a:p>
        </p:txBody>
      </p:sp>
      <p:sp>
        <p:nvSpPr>
          <p:cNvPr id="3" name="Content Placeholder 2"/>
          <p:cNvSpPr>
            <a:spLocks noGrp="1"/>
          </p:cNvSpPr>
          <p:nvPr>
            <p:ph idx="1"/>
          </p:nvPr>
        </p:nvSpPr>
        <p:spPr>
          <a:xfrm>
            <a:off x="152400" y="533400"/>
            <a:ext cx="8839200" cy="6096000"/>
          </a:xfrm>
        </p:spPr>
        <p:txBody>
          <a:bodyPr>
            <a:normAutofit fontScale="92500" lnSpcReduction="10000"/>
          </a:bodyPr>
          <a:lstStyle/>
          <a:p>
            <a:r>
              <a:rPr lang="en-US" sz="2400" dirty="0"/>
              <a:t>The UPDATE command is used to modify attribute values of one or more selected tuples.</a:t>
            </a:r>
          </a:p>
          <a:p>
            <a:r>
              <a:rPr lang="en-US" sz="2400" dirty="0"/>
              <a:t>As in the DELETE command, a WHERE clause in the UPDATE command selects the tuples to be modified from a single relation</a:t>
            </a:r>
          </a:p>
          <a:p>
            <a:r>
              <a:rPr lang="en-US" sz="2400" dirty="0"/>
              <a:t>For example, to change the location and controlling department number of project number 10 to 'Bellaire' and 5, respectively, we use:</a:t>
            </a:r>
          </a:p>
          <a:p>
            <a:pPr lvl="1">
              <a:buNone/>
            </a:pPr>
            <a:r>
              <a:rPr lang="en-US" sz="2000" b="1" dirty="0"/>
              <a:t>UPDATE       PROJECT</a:t>
            </a:r>
          </a:p>
          <a:p>
            <a:pPr lvl="1">
              <a:buNone/>
            </a:pPr>
            <a:r>
              <a:rPr lang="en-US" sz="2000" b="1" dirty="0"/>
              <a:t>SET               PLOCATION = 'Bellaire', DNUM = 5</a:t>
            </a:r>
          </a:p>
          <a:p>
            <a:pPr lvl="1">
              <a:buNone/>
            </a:pPr>
            <a:r>
              <a:rPr lang="en-US" sz="2000" b="1" dirty="0"/>
              <a:t>WHERE         PNUMBER=10;</a:t>
            </a:r>
          </a:p>
          <a:p>
            <a:r>
              <a:rPr lang="en-US" sz="2400" dirty="0"/>
              <a:t>Several tuples can be modified with a single UPDATE command. </a:t>
            </a:r>
          </a:p>
          <a:p>
            <a:r>
              <a:rPr lang="en-US" sz="2400" dirty="0"/>
              <a:t> An example is to give all employees in the 'Research' department a 10 percent raise in salary, as shown</a:t>
            </a:r>
          </a:p>
          <a:p>
            <a:pPr lvl="1">
              <a:buNone/>
            </a:pPr>
            <a:r>
              <a:rPr lang="en-US" sz="2000" b="1" dirty="0"/>
              <a:t>UPDATE   EMPLOYEE</a:t>
            </a:r>
          </a:p>
          <a:p>
            <a:pPr lvl="1">
              <a:buNone/>
            </a:pPr>
            <a:r>
              <a:rPr lang="en-US" sz="2000" b="1" dirty="0"/>
              <a:t>SET    SALARY = SALARY *1.1</a:t>
            </a:r>
          </a:p>
          <a:p>
            <a:pPr lvl="1">
              <a:buNone/>
            </a:pPr>
            <a:r>
              <a:rPr lang="en-US" sz="2000" b="1" dirty="0"/>
              <a:t>WHERE</a:t>
            </a:r>
          </a:p>
          <a:p>
            <a:pPr lvl="1">
              <a:buNone/>
            </a:pPr>
            <a:r>
              <a:rPr lang="en-US" sz="2000" dirty="0"/>
              <a:t>           DNO IN (SELECT </a:t>
            </a:r>
            <a:r>
              <a:rPr lang="en-US" sz="2000" b="1" dirty="0"/>
              <a:t>DNUMBER</a:t>
            </a:r>
          </a:p>
          <a:p>
            <a:pPr lvl="1">
              <a:buNone/>
            </a:pPr>
            <a:r>
              <a:rPr lang="en-US" sz="2000" b="1" dirty="0"/>
              <a:t>           FROM DEPARTMENT</a:t>
            </a:r>
          </a:p>
          <a:p>
            <a:pPr lvl="1">
              <a:buNone/>
            </a:pPr>
            <a:r>
              <a:rPr lang="en-US" sz="2000" b="1" dirty="0"/>
              <a:t>           WHERE DNAME='Research');</a:t>
            </a:r>
            <a:endParaRPr lang="en-US" sz="2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1653</TotalTime>
  <Words>4604</Words>
  <Application>Microsoft Macintosh PowerPoint</Application>
  <PresentationFormat>On-screen Show (4:3)</PresentationFormat>
  <Paragraphs>351</Paragraphs>
  <Slides>49</Slides>
  <Notes>0</Notes>
  <HiddenSlides>6</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49</vt:i4>
      </vt:variant>
    </vt:vector>
  </HeadingPairs>
  <TitlesOfParts>
    <vt:vector size="53" baseType="lpstr">
      <vt:lpstr>SimHei</vt:lpstr>
      <vt:lpstr>Arial</vt:lpstr>
      <vt:lpstr>Calibri</vt:lpstr>
      <vt:lpstr>Office Theme</vt:lpstr>
      <vt:lpstr>CHAPTER 6</vt:lpstr>
      <vt:lpstr>PowerPoint Presentation</vt:lpstr>
      <vt:lpstr>Schema Concepts in SQL</vt:lpstr>
      <vt:lpstr>The CREATE TABLE Command in SQL</vt:lpstr>
      <vt:lpstr>PowerPoint Presentation</vt:lpstr>
      <vt:lpstr>PowerPoint Presentation</vt:lpstr>
      <vt:lpstr>PowerPoint Presentation</vt:lpstr>
      <vt:lpstr>Attribute Data Types and Domains in SQL</vt:lpstr>
      <vt:lpstr>PowerPoint Presentation</vt:lpstr>
      <vt:lpstr>SPECIFYING BASIC CONSTRAINTS IN SQl</vt:lpstr>
      <vt:lpstr>PowerPoint Presentation</vt:lpstr>
      <vt:lpstr>Specifying Key and Referential Integrity Constraints</vt:lpstr>
      <vt:lpstr>PowerPoint Presentation</vt:lpstr>
      <vt:lpstr>Schema change statements</vt:lpstr>
      <vt:lpstr> The alter command  </vt:lpstr>
      <vt:lpstr>The alter command</vt:lpstr>
      <vt:lpstr>PowerPoint Presentation</vt:lpstr>
      <vt:lpstr>1. THE SElECT Statement</vt:lpstr>
      <vt:lpstr>PowerPoint Presentation</vt:lpstr>
      <vt:lpstr>PowerPoint Presentation</vt:lpstr>
      <vt:lpstr>PowerPoint Presentation</vt:lpstr>
      <vt:lpstr>Ambiguous Attribute Names, Aliasing, and Tuple Variables</vt:lpstr>
      <vt:lpstr>PowerPoint Presentation</vt:lpstr>
      <vt:lpstr>PowerPoint Presentation</vt:lpstr>
      <vt:lpstr>Unspecified WHERE Clause and Use of the Asterisk</vt:lpstr>
      <vt:lpstr>Tables as Sets in SQl</vt:lpstr>
      <vt:lpstr>PowerPoint Presentation</vt:lpstr>
      <vt:lpstr>SET UNION,INTERSECTION, AND DIFFERENCE IN SQL</vt:lpstr>
      <vt:lpstr>PowerPoint Presentation</vt:lpstr>
      <vt:lpstr>Substring Pattern Matching and Arithmetic Operators</vt:lpstr>
      <vt:lpstr>PowerPoint Presentation</vt:lpstr>
      <vt:lpstr>PowerPoint Presentation</vt:lpstr>
      <vt:lpstr>Ordering of Query Results</vt:lpstr>
      <vt:lpstr>Nested Queries,</vt:lpstr>
      <vt:lpstr>PowerPoint Presentation</vt:lpstr>
      <vt:lpstr>The EXISTS and UNIQUE Functions in SQL</vt:lpstr>
      <vt:lpstr>Aggregate Functions in SQL</vt:lpstr>
      <vt:lpstr>PowerPoint Presentation</vt:lpstr>
      <vt:lpstr>JOIN ED TABLES IN SQL </vt:lpstr>
      <vt:lpstr>Grouping: The GROUP BY and HAVING Clauses</vt:lpstr>
      <vt:lpstr>PowerPoint Presentation</vt:lpstr>
      <vt:lpstr>PowerPoint Presentation</vt:lpstr>
      <vt:lpstr>PowerPoint Presentation</vt:lpstr>
      <vt:lpstr>PowerPoint Presentation</vt:lpstr>
      <vt:lpstr>PowerPoint Presentation</vt:lpstr>
      <vt:lpstr>Insert, Delete, and Update Statements in SQL</vt:lpstr>
      <vt:lpstr>PowerPoint Presentation</vt:lpstr>
      <vt:lpstr>The Delete Command</vt:lpstr>
      <vt:lpstr>The UPDATE Command</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9</dc:title>
  <dc:creator>xuse</dc:creator>
  <cp:lastModifiedBy>kasahun Abdisa</cp:lastModifiedBy>
  <cp:revision>36</cp:revision>
  <dcterms:created xsi:type="dcterms:W3CDTF">2014-11-15T00:59:53Z</dcterms:created>
  <dcterms:modified xsi:type="dcterms:W3CDTF">2026-04-20T10:14:36Z</dcterms:modified>
</cp:coreProperties>
</file>