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0" r:id="rId2"/>
    <p:sldId id="322" r:id="rId3"/>
    <p:sldId id="323" r:id="rId4"/>
    <p:sldId id="327" r:id="rId5"/>
    <p:sldId id="279" r:id="rId6"/>
    <p:sldId id="281" r:id="rId7"/>
    <p:sldId id="282" r:id="rId8"/>
    <p:sldId id="319" r:id="rId9"/>
    <p:sldId id="284" r:id="rId10"/>
    <p:sldId id="285" r:id="rId11"/>
    <p:sldId id="328" r:id="rId12"/>
    <p:sldId id="321" r:id="rId13"/>
    <p:sldId id="286" r:id="rId14"/>
    <p:sldId id="287" r:id="rId15"/>
    <p:sldId id="288" r:id="rId16"/>
    <p:sldId id="289" r:id="rId17"/>
    <p:sldId id="290" r:id="rId18"/>
    <p:sldId id="296" r:id="rId19"/>
    <p:sldId id="324" r:id="rId20"/>
    <p:sldId id="32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6405" autoAdjust="0"/>
  </p:normalViewPr>
  <p:slideViewPr>
    <p:cSldViewPr>
      <p:cViewPr varScale="1">
        <p:scale>
          <a:sx n="126" d="100"/>
          <a:sy n="126" d="100"/>
        </p:scale>
        <p:origin x="18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FA616C-AD05-4630-BEE8-0C1E723B89A6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FEC2-C4FF-43EB-B648-85DF04407FC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971D9-21C8-423A-B4F7-16AD9C547A24}" type="datetimeFigureOut">
              <a:rPr lang="en-US" smtClean="0"/>
              <a:pPr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7E2CF-9401-4692-9B02-4B2AB721F3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Database System Concepts and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81000"/>
          </a:xfrm>
        </p:spPr>
        <p:txBody>
          <a:bodyPr>
            <a:noAutofit/>
          </a:bodyPr>
          <a:lstStyle/>
          <a:p>
            <a:r>
              <a:rPr lang="en-US" sz="2400" b="1" dirty="0"/>
              <a:t>Database Design Methodology/Process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60960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dirty="0"/>
              <a:t>Database Design Process</a:t>
            </a:r>
          </a:p>
          <a:p>
            <a:pPr>
              <a:buNone/>
            </a:pPr>
            <a:r>
              <a:rPr lang="en-US" sz="2400" b="1" i="1" dirty="0"/>
              <a:t>requirements collection and analysis</a:t>
            </a:r>
            <a:r>
              <a:rPr lang="en-US" sz="2400" dirty="0"/>
              <a:t>:</a:t>
            </a:r>
          </a:p>
          <a:p>
            <a:r>
              <a:rPr lang="en-US" sz="2400" dirty="0"/>
              <a:t> Here, the database designers interview prospective database users to understand and document their data requirements</a:t>
            </a:r>
          </a:p>
          <a:p>
            <a:r>
              <a:rPr lang="en-US" sz="2400" b="1" dirty="0"/>
              <a:t>The result of this step is a concisely written set of users’ requirements</a:t>
            </a:r>
            <a:endParaRPr lang="en-US" sz="2400" dirty="0"/>
          </a:p>
          <a:p>
            <a:pPr>
              <a:buNone/>
            </a:pPr>
            <a:r>
              <a:rPr lang="en-US" sz="2400" b="1" i="1" dirty="0"/>
              <a:t>Functional requirements</a:t>
            </a:r>
            <a:r>
              <a:rPr lang="en-US" sz="2400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these are also specified </a:t>
            </a:r>
            <a:r>
              <a:rPr lang="en-US" sz="2400" b="1" dirty="0"/>
              <a:t>in parallel </a:t>
            </a:r>
            <a:r>
              <a:rPr lang="en-US" sz="2400" dirty="0"/>
              <a:t>with  requirement collection</a:t>
            </a:r>
          </a:p>
          <a:p>
            <a:r>
              <a:rPr lang="en-US" sz="2400" dirty="0"/>
              <a:t>These consist of the </a:t>
            </a:r>
            <a:r>
              <a:rPr lang="en-US" sz="2400" b="1" dirty="0"/>
              <a:t>user-defined operations </a:t>
            </a:r>
            <a:r>
              <a:rPr lang="en-US" sz="2400" dirty="0"/>
              <a:t>(or transactions) that will be applied to the database, including both retrievals and updates.</a:t>
            </a:r>
          </a:p>
          <a:p>
            <a:pPr>
              <a:buNone/>
            </a:pPr>
            <a:r>
              <a:rPr lang="en-US" sz="2400" b="1" dirty="0"/>
              <a:t>conceptual design</a:t>
            </a:r>
            <a:r>
              <a:rPr lang="en-US" sz="2400" dirty="0"/>
              <a:t>:.</a:t>
            </a:r>
          </a:p>
          <a:p>
            <a:r>
              <a:rPr lang="en-US" sz="2400" dirty="0"/>
              <a:t>Once all the requirements have been collected and analyzed, the next step is to create a conceptual schema for the database, using a high-level conceptual data model</a:t>
            </a:r>
          </a:p>
          <a:p>
            <a:r>
              <a:rPr lang="en-US" sz="2400" dirty="0"/>
              <a:t>includes detailed descriptions of the </a:t>
            </a:r>
            <a:r>
              <a:rPr lang="en-US" sz="2400" b="1" dirty="0"/>
              <a:t>entity types, relationships</a:t>
            </a:r>
            <a:r>
              <a:rPr lang="en-US" sz="2400" dirty="0"/>
              <a:t>, and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logical design or data model mapping</a:t>
            </a:r>
            <a:r>
              <a:rPr lang="en-US" sz="2400" dirty="0"/>
              <a:t>:</a:t>
            </a:r>
          </a:p>
          <a:p>
            <a:r>
              <a:rPr lang="en-US" sz="2400" dirty="0"/>
              <a:t>Deals with the </a:t>
            </a:r>
            <a:r>
              <a:rPr lang="en-US" sz="2400" b="1" dirty="0"/>
              <a:t>actual implementation </a:t>
            </a:r>
            <a:r>
              <a:rPr lang="en-US" sz="2400" dirty="0"/>
              <a:t>of the database</a:t>
            </a:r>
          </a:p>
          <a:p>
            <a:r>
              <a:rPr lang="en-US" sz="2400" dirty="0"/>
              <a:t>use an </a:t>
            </a:r>
            <a:r>
              <a:rPr lang="en-US" sz="2400" b="1" dirty="0"/>
              <a:t>implementation data model </a:t>
            </a:r>
            <a:r>
              <a:rPr lang="en-US" sz="2400" dirty="0"/>
              <a:t>such as the relational or the object-relational database model-so the conceptual schema is </a:t>
            </a:r>
            <a:r>
              <a:rPr lang="en-US" sz="2400" b="1" i="1" dirty="0"/>
              <a:t>transformed</a:t>
            </a:r>
            <a:r>
              <a:rPr lang="en-US" sz="2400" dirty="0"/>
              <a:t> from the high-level data model into the implementation data model</a:t>
            </a:r>
          </a:p>
          <a:p>
            <a:pPr>
              <a:buNone/>
            </a:pPr>
            <a:r>
              <a:rPr lang="en-US" sz="2400" b="1" dirty="0"/>
              <a:t>Physical  design</a:t>
            </a:r>
            <a:r>
              <a:rPr lang="en-US" sz="2400" dirty="0"/>
              <a:t>:</a:t>
            </a:r>
          </a:p>
          <a:p>
            <a:r>
              <a:rPr lang="en-US" sz="2400" dirty="0"/>
              <a:t>Here the internal storage structures, indexes, access paths, and file organizations for the database files </a:t>
            </a:r>
            <a:r>
              <a:rPr lang="en-US" sz="2400"/>
              <a:t>are specified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Eg</a:t>
            </a:r>
            <a:r>
              <a:rPr lang="en-US" sz="2400" dirty="0"/>
              <a:t>  database administrator (DBA) would implement the physical schema</a:t>
            </a:r>
          </a:p>
          <a:p>
            <a:pPr lvl="1"/>
            <a:r>
              <a:rPr lang="en-US" sz="2000" dirty="0"/>
              <a:t>Store index in a separate disk location</a:t>
            </a:r>
          </a:p>
          <a:p>
            <a:pPr lvl="1"/>
            <a:r>
              <a:rPr lang="en-US" sz="2000" dirty="0"/>
              <a:t>Start with 100MB</a:t>
            </a:r>
          </a:p>
          <a:p>
            <a:pPr lvl="1"/>
            <a:r>
              <a:rPr lang="en-US" sz="2000" dirty="0"/>
              <a:t>Grow by 50MB when full</a:t>
            </a:r>
          </a:p>
          <a:p>
            <a:pPr lvl="1"/>
            <a:r>
              <a:rPr lang="en-US" sz="2000" dirty="0"/>
              <a:t>Never exceed 10GB</a:t>
            </a:r>
          </a:p>
          <a:p>
            <a:pPr lvl="1"/>
            <a:r>
              <a:rPr lang="en-US" sz="2000" dirty="0"/>
              <a:t>Reserve 10% space for updates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 algn="l"/>
            <a:endParaRPr lang="en-US" sz="1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en-US" sz="1400" dirty="0">
              <a:solidFill>
                <a:srgbClr val="0F1115"/>
              </a:solidFill>
              <a:latin typeface="quote-cjk-patch"/>
            </a:endParaRPr>
          </a:p>
          <a:p>
            <a:pPr algn="l"/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Think of database design as building a house with three levels of planning: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Conceptual Schema: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 The architect's rough sketch showing there will be bedrooms, a kitchen, and a bathroom. (What data is needed?)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Logical Schema: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 The detailed blueprint showing room dimensions, door locations, and how rooms connect. (How is data structured and related?)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0F1115"/>
                </a:solidFill>
                <a:effectLst/>
                <a:latin typeface="quote-cjk-patch"/>
              </a:rPr>
              <a:t>Physical Schema: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quote-cjk-patch"/>
              </a:rPr>
              <a:t> The actual construction plan specifying concrete type, nail sizes, pipe materials, and wiring gauges. (How is data actually stored on the disk?)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5576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r>
              <a:rPr lang="en-US" sz="3600" dirty="0"/>
              <a:t>Data models schemas and instances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8991600" cy="6172200"/>
          </a:xfrm>
        </p:spPr>
        <p:txBody>
          <a:bodyPr>
            <a:normAutofit/>
          </a:bodyPr>
          <a:lstStyle/>
          <a:p>
            <a:r>
              <a:rPr lang="en-US" sz="2400" dirty="0"/>
              <a:t>One characteristics of data base approach is data abstraction-hides the details of the storage  that is not needed by users.</a:t>
            </a:r>
          </a:p>
          <a:p>
            <a:pPr>
              <a:buNone/>
            </a:pPr>
            <a:r>
              <a:rPr lang="en-US" sz="2400" b="1" dirty="0"/>
              <a:t> Data model:</a:t>
            </a:r>
          </a:p>
          <a:p>
            <a:r>
              <a:rPr lang="en-US" sz="2400" b="1" dirty="0"/>
              <a:t> </a:t>
            </a:r>
            <a:r>
              <a:rPr lang="en-US" sz="2400" dirty="0"/>
              <a:t>is a collection of concepts that can be used to describe the </a:t>
            </a:r>
            <a:r>
              <a:rPr lang="en-US" sz="2400" b="1" dirty="0"/>
              <a:t>structure</a:t>
            </a:r>
            <a:r>
              <a:rPr lang="en-US" sz="2400" dirty="0"/>
              <a:t> of a database-</a:t>
            </a:r>
          </a:p>
          <a:p>
            <a:pPr lvl="1"/>
            <a:r>
              <a:rPr lang="en-US" sz="2000" dirty="0"/>
              <a:t>provides the necessary means to achieve this abstraction.</a:t>
            </a:r>
          </a:p>
          <a:p>
            <a:r>
              <a:rPr lang="en-US" sz="2400" b="1" i="1" dirty="0"/>
              <a:t>structure</a:t>
            </a:r>
            <a:r>
              <a:rPr lang="en-US" sz="2400" i="1" dirty="0"/>
              <a:t> of a database, means  the data types, relationships, and constraints that should hold for the </a:t>
            </a:r>
            <a:r>
              <a:rPr lang="en-US" sz="2400" dirty="0"/>
              <a:t>data.</a:t>
            </a:r>
          </a:p>
          <a:p>
            <a:r>
              <a:rPr lang="en-US" sz="2400" dirty="0"/>
              <a:t>Most data models also include a set of basic operations for specifying retrievals and updates on the database</a:t>
            </a:r>
          </a:p>
          <a:p>
            <a:r>
              <a:rPr lang="en-US" sz="2400" dirty="0"/>
              <a:t>common to include concepts in the data model to specify the </a:t>
            </a:r>
            <a:r>
              <a:rPr lang="en-US" sz="2400" b="1" dirty="0"/>
              <a:t>dynamic aspect </a:t>
            </a:r>
            <a:r>
              <a:rPr lang="en-US" sz="2400" dirty="0"/>
              <a:t>or </a:t>
            </a:r>
            <a:r>
              <a:rPr lang="en-US" sz="2400" b="1" dirty="0"/>
              <a:t>behavior</a:t>
            </a:r>
            <a:r>
              <a:rPr lang="en-US" sz="2400" dirty="0"/>
              <a:t> of a database application</a:t>
            </a:r>
          </a:p>
          <a:p>
            <a:r>
              <a:rPr lang="en-US" sz="2400" dirty="0"/>
              <a:t>Ex:</a:t>
            </a:r>
            <a:r>
              <a:rPr lang="en-US" sz="2400" b="1" dirty="0"/>
              <a:t> </a:t>
            </a:r>
            <a:r>
              <a:rPr lang="en-US" sz="2400" b="1" dirty="0" err="1"/>
              <a:t>Compute_GPA</a:t>
            </a:r>
            <a:r>
              <a:rPr lang="en-US" sz="2400" b="1" dirty="0"/>
              <a:t> </a:t>
            </a:r>
            <a:r>
              <a:rPr lang="en-US" sz="2400" dirty="0"/>
              <a:t>on a student object</a:t>
            </a:r>
          </a:p>
          <a:p>
            <a:r>
              <a:rPr lang="en-US" sz="2400" dirty="0"/>
              <a:t>generic operations to insert, delete, modify, or retrieve any kind of object are often included in the </a:t>
            </a:r>
            <a:r>
              <a:rPr lang="en-US" sz="2400" i="1" dirty="0"/>
              <a:t>basic data model operations.</a:t>
            </a:r>
          </a:p>
          <a:p>
            <a:pPr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US" dirty="0"/>
              <a:t>Categories of 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r>
              <a:rPr lang="en-US" sz="2400" dirty="0"/>
              <a:t>Data models are categorized </a:t>
            </a:r>
            <a:r>
              <a:rPr lang="en-US" sz="2400" b="1" i="1" dirty="0"/>
              <a:t>according to the types of concepts they use to describe the database structure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High-level or conceptual data models</a:t>
            </a:r>
          </a:p>
          <a:p>
            <a:r>
              <a:rPr lang="en-US" sz="2400" dirty="0"/>
              <a:t>provide concepts that are close to the way many </a:t>
            </a:r>
            <a:r>
              <a:rPr lang="en-US" sz="2400" b="1" dirty="0"/>
              <a:t>users perceive data.</a:t>
            </a:r>
          </a:p>
          <a:p>
            <a:r>
              <a:rPr lang="en-US" sz="2400" dirty="0"/>
              <a:t>Conceptual data models use concepts such as entities, attributes, and relationships.</a:t>
            </a:r>
          </a:p>
          <a:p>
            <a:pPr>
              <a:buNone/>
            </a:pPr>
            <a:r>
              <a:rPr lang="en-US" sz="2400" b="1" dirty="0"/>
              <a:t>Low-level or physical data models</a:t>
            </a:r>
          </a:p>
          <a:p>
            <a:r>
              <a:rPr lang="en-US" sz="2400" dirty="0"/>
              <a:t>provide concepts that describe the details of how data is stored in the computer.</a:t>
            </a:r>
          </a:p>
          <a:p>
            <a:r>
              <a:rPr lang="en-US" sz="2400" b="1" dirty="0"/>
              <a:t>how data is stored</a:t>
            </a:r>
            <a:r>
              <a:rPr lang="en-US" sz="2400" dirty="0"/>
              <a:t> as files in the computer by  representing information such as record formats, record orderings, and access paths.</a:t>
            </a:r>
          </a:p>
          <a:p>
            <a:r>
              <a:rPr lang="en-US" sz="2400" dirty="0"/>
              <a:t>Concepts provided by low-level data models are generally meant </a:t>
            </a:r>
            <a:r>
              <a:rPr lang="en-US" sz="2400" b="1" i="1" dirty="0"/>
              <a:t>for computer specialists</a:t>
            </a:r>
            <a:r>
              <a:rPr lang="en-US" sz="2400" dirty="0"/>
              <a:t>, not for typical end users.</a:t>
            </a:r>
            <a:endParaRPr lang="en-US" sz="2400" b="1" dirty="0"/>
          </a:p>
          <a:p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534400" cy="304800"/>
          </a:xfrm>
        </p:spPr>
        <p:txBody>
          <a:bodyPr>
            <a:noAutofit/>
          </a:bodyPr>
          <a:lstStyle/>
          <a:p>
            <a:r>
              <a:rPr lang="en-US" sz="3200" b="1" dirty="0"/>
              <a:t>Schemas, Instances, and Database State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There  is a distinction between </a:t>
            </a:r>
            <a:r>
              <a:rPr lang="en-US" sz="2400" b="1" dirty="0"/>
              <a:t>description of  database </a:t>
            </a:r>
            <a:r>
              <a:rPr lang="en-US" sz="2400" dirty="0"/>
              <a:t>and </a:t>
            </a:r>
            <a:r>
              <a:rPr lang="en-US" sz="2400" b="1" dirty="0"/>
              <a:t>data base 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description of a database is called the </a:t>
            </a:r>
            <a:r>
              <a:rPr lang="en-US" sz="2400" b="1" dirty="0"/>
              <a:t>database schema</a:t>
            </a:r>
            <a:r>
              <a:rPr lang="en-US" sz="2400" dirty="0"/>
              <a:t>, also called an </a:t>
            </a:r>
            <a:r>
              <a:rPr lang="en-US" sz="2400" b="1" dirty="0"/>
              <a:t>intension</a:t>
            </a:r>
            <a:r>
              <a:rPr lang="en-US" sz="2400" dirty="0"/>
              <a:t> which is specified during database design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/>
              <a:t> is not expected to change frequently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 displayed schema is called a </a:t>
            </a:r>
            <a:r>
              <a:rPr lang="en-US" sz="2400" b="1" dirty="0"/>
              <a:t>schema diagram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Schema diagram displays </a:t>
            </a:r>
            <a:r>
              <a:rPr lang="en-US" sz="2400" b="1" dirty="0"/>
              <a:t>the structure of each record type </a:t>
            </a:r>
            <a:r>
              <a:rPr lang="en-US" sz="2400" dirty="0"/>
              <a:t>but not the actual instances of records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Each object in the schema-such as STUDENT or COURSE- is known as a </a:t>
            </a:r>
            <a:r>
              <a:rPr lang="en-US" sz="2400" b="1" dirty="0"/>
              <a:t>schema construct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Constraints such as data </a:t>
            </a:r>
            <a:r>
              <a:rPr lang="en-US" sz="2400" b="1" dirty="0"/>
              <a:t>types relationships are not specified </a:t>
            </a:r>
            <a:r>
              <a:rPr lang="en-US" sz="2400" dirty="0"/>
              <a:t>here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data in the database at a particular moment in time is called a </a:t>
            </a:r>
            <a:r>
              <a:rPr lang="en-US" sz="2400" b="1" dirty="0"/>
              <a:t>database state ,</a:t>
            </a:r>
            <a:r>
              <a:rPr lang="en-US" sz="2400" dirty="0"/>
              <a:t> </a:t>
            </a:r>
            <a:r>
              <a:rPr lang="en-US" sz="2400" b="1" dirty="0"/>
              <a:t>snapshot</a:t>
            </a:r>
            <a:r>
              <a:rPr lang="en-US" sz="2400" dirty="0"/>
              <a:t>, </a:t>
            </a:r>
            <a:r>
              <a:rPr lang="en-US" sz="2400" b="1" i="1" dirty="0"/>
              <a:t>current set of occurrences or instances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Every time we insert or delete a record or change the value of a data item in a record, we change one state of the database into another state.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8600" y="1676400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Student</a:t>
                      </a:r>
                      <a:r>
                        <a:rPr lang="en-US" baseline="0" dirty="0" err="1"/>
                        <a:t>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Major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04800" y="1219200"/>
            <a:ext cx="8229600" cy="411162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STUDENT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800" y="2133600"/>
            <a:ext cx="152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COURSE</a:t>
            </a: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/>
        </p:nvGraphicFramePr>
        <p:xfrm>
          <a:off x="228600" y="2514600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CourseName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CreditHour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Department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81000" y="3124200"/>
            <a:ext cx="152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PREREQUISITE</a:t>
            </a:r>
          </a:p>
        </p:txBody>
      </p:sp>
      <p:graphicFrame>
        <p:nvGraphicFramePr>
          <p:cNvPr id="14" name="Content Placeholder 3"/>
          <p:cNvGraphicFramePr>
            <a:graphicFrameLocks/>
          </p:cNvGraphicFramePr>
          <p:nvPr/>
        </p:nvGraphicFramePr>
        <p:xfrm>
          <a:off x="228600" y="350520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1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CourseNumber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PrerequisiteNumber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28600" y="4038600"/>
            <a:ext cx="152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SECTION</a:t>
            </a:r>
          </a:p>
        </p:txBody>
      </p:sp>
      <p:graphicFrame>
        <p:nvGraphicFramePr>
          <p:cNvPr id="16" name="Content Placeholder 3"/>
          <p:cNvGraphicFramePr>
            <a:graphicFrameLocks/>
          </p:cNvGraphicFramePr>
          <p:nvPr/>
        </p:nvGraphicFramePr>
        <p:xfrm>
          <a:off x="228600" y="4495800"/>
          <a:ext cx="8610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0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6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SectionIdentifier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CourseNumber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28600" y="4953000"/>
            <a:ext cx="1676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GRADEREPORT</a:t>
            </a:r>
          </a:p>
        </p:txBody>
      </p:sp>
      <p:graphicFrame>
        <p:nvGraphicFramePr>
          <p:cNvPr id="19" name="Content Placeholder 3"/>
          <p:cNvGraphicFramePr>
            <a:graphicFrameLocks/>
          </p:cNvGraphicFramePr>
          <p:nvPr/>
        </p:nvGraphicFramePr>
        <p:xfrm>
          <a:off x="152400" y="5334000"/>
          <a:ext cx="61722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StudentNumber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SectionIdentifier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85800" y="304800"/>
            <a:ext cx="48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Schema diagram for the database in figure 1.2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33400"/>
          </a:xfrm>
        </p:spPr>
        <p:txBody>
          <a:bodyPr>
            <a:noAutofit/>
          </a:bodyPr>
          <a:lstStyle/>
          <a:p>
            <a:r>
              <a:rPr lang="en-US" sz="2400" b="1" dirty="0"/>
              <a:t>Schema Architecture and 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dirty="0"/>
              <a:t>Three-schema architecture was proposed </a:t>
            </a:r>
            <a:r>
              <a:rPr lang="en-US" sz="2400" b="1" dirty="0"/>
              <a:t>to help achieve and visualize  characteristics of data base</a:t>
            </a:r>
            <a:r>
              <a:rPr lang="en-US" sz="2400" dirty="0"/>
              <a:t> like </a:t>
            </a:r>
            <a:r>
              <a:rPr lang="en-US" sz="2400" b="1" dirty="0"/>
              <a:t>insulation of program and data, use of catalog</a:t>
            </a:r>
            <a:r>
              <a:rPr lang="en-US" sz="2400" dirty="0"/>
              <a:t> to store data description and support multiple user view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They are tools with which </a:t>
            </a:r>
            <a:r>
              <a:rPr lang="en-US" sz="2400" b="1" i="1" dirty="0"/>
              <a:t>user can visualize the schema levels </a:t>
            </a:r>
            <a:r>
              <a:rPr lang="en-US" sz="2400" dirty="0"/>
              <a:t>in database</a:t>
            </a:r>
          </a:p>
          <a:p>
            <a:pPr algn="ctr">
              <a:buNone/>
            </a:pPr>
            <a:r>
              <a:rPr lang="en-US" sz="2400" b="1" dirty="0"/>
              <a:t> Three schema Architecture </a:t>
            </a:r>
          </a:p>
          <a:p>
            <a:r>
              <a:rPr lang="en-US" sz="2400" dirty="0"/>
              <a:t>The goal of three schema architecture is to </a:t>
            </a:r>
            <a:r>
              <a:rPr lang="en-US" sz="2400" b="1" dirty="0"/>
              <a:t>separate  user application</a:t>
            </a:r>
            <a:r>
              <a:rPr lang="en-US" sz="2400" dirty="0"/>
              <a:t> and  </a:t>
            </a:r>
            <a:r>
              <a:rPr lang="en-US" sz="2400" b="1" dirty="0"/>
              <a:t>the physical database</a:t>
            </a:r>
            <a:r>
              <a:rPr lang="en-US" sz="2400" dirty="0"/>
              <a:t>. These are </a:t>
            </a:r>
          </a:p>
          <a:p>
            <a:pPr marL="457200" indent="-457200">
              <a:buAutoNum type="arabicPeriod"/>
            </a:pPr>
            <a:r>
              <a:rPr lang="en-US" sz="2400" b="1" dirty="0"/>
              <a:t>Internal level</a:t>
            </a:r>
            <a:r>
              <a:rPr lang="en-US" sz="2400" dirty="0"/>
              <a:t>: has an internal schema which describes the </a:t>
            </a:r>
            <a:r>
              <a:rPr lang="en-US" sz="2400" b="1" i="1" dirty="0"/>
              <a:t>physical storage structure of the data base</a:t>
            </a:r>
          </a:p>
          <a:p>
            <a:r>
              <a:rPr lang="en-US" sz="2400" dirty="0"/>
              <a:t>The internal schema </a:t>
            </a:r>
            <a:r>
              <a:rPr lang="en-US" sz="2400" b="1" i="1" dirty="0"/>
              <a:t>uses a physical data model </a:t>
            </a:r>
            <a:r>
              <a:rPr lang="en-US" sz="2400" dirty="0"/>
              <a:t>and describes the complete details of data storage and access paths for the database</a:t>
            </a:r>
          </a:p>
          <a:p>
            <a:pPr>
              <a:buNone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Autofit/>
          </a:bodyPr>
          <a:lstStyle/>
          <a:p>
            <a:r>
              <a:rPr lang="en-US" sz="3200" dirty="0"/>
              <a:t>Schema Architecture….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2. </a:t>
            </a:r>
            <a:r>
              <a:rPr lang="en-US" sz="2400" b="1" dirty="0"/>
              <a:t>The conceptual level</a:t>
            </a:r>
            <a:r>
              <a:rPr lang="en-US" sz="2400" dirty="0"/>
              <a:t>: has a conceptual schema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Describes </a:t>
            </a:r>
            <a:r>
              <a:rPr lang="en-US" sz="2400" b="1" i="1" dirty="0"/>
              <a:t>the structure of the database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Hides details of physical storage structure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concentrate on describing </a:t>
            </a:r>
            <a:r>
              <a:rPr lang="en-US" sz="2400" b="1" i="1" dirty="0"/>
              <a:t>entities, data types, relationships, user operations, and constraints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</a:t>
            </a:r>
            <a:r>
              <a:rPr lang="en-US" sz="2400" dirty="0"/>
              <a:t>a representational data model is used to describe the conceptual schema when a database system is implemented.</a:t>
            </a:r>
            <a:endParaRPr lang="en-US" dirty="0"/>
          </a:p>
          <a:p>
            <a:pPr>
              <a:buNone/>
            </a:pPr>
            <a:r>
              <a:rPr lang="en-US" sz="2400" b="1" dirty="0"/>
              <a:t>3. The external or view level</a:t>
            </a:r>
          </a:p>
          <a:p>
            <a:r>
              <a:rPr lang="en-US" sz="2400" dirty="0"/>
              <a:t>includes a number of external schemas or user views</a:t>
            </a:r>
          </a:p>
          <a:p>
            <a:r>
              <a:rPr lang="en-US" sz="2400" dirty="0"/>
              <a:t>Each external schema describes the </a:t>
            </a:r>
            <a:r>
              <a:rPr lang="en-US" sz="2400" b="1" dirty="0"/>
              <a:t>part of the database that a particular user group is interested in </a:t>
            </a:r>
            <a:r>
              <a:rPr lang="en-US" sz="2400" dirty="0"/>
              <a:t>and </a:t>
            </a:r>
            <a:r>
              <a:rPr lang="en-US" sz="2400" b="1" dirty="0"/>
              <a:t>hides the rest of the database from that user group.</a:t>
            </a:r>
          </a:p>
          <a:p>
            <a:endParaRPr lang="en-US" sz="2400" dirty="0"/>
          </a:p>
          <a:p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C684-F5A3-1A7D-6415-6E0B176DA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Schema Architecture….</a:t>
            </a:r>
            <a:endParaRPr lang="en-E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3DE4E9-E956-CF5E-E09D-2050B0F1B2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745" y="1600200"/>
            <a:ext cx="677651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22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Mapping</a:t>
            </a:r>
            <a:r>
              <a:rPr lang="en-US" dirty="0"/>
              <a:t>:</a:t>
            </a:r>
          </a:p>
          <a:p>
            <a:r>
              <a:rPr lang="en-US" b="1" dirty="0"/>
              <a:t>the DBMS must transform a request specified on an external schema into a request against the conceptual schema, and  then into a request on the internal schema for processing over the stored database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Example</a:t>
            </a:r>
            <a:r>
              <a:rPr lang="en-US" dirty="0"/>
              <a:t>: </a:t>
            </a:r>
          </a:p>
          <a:p>
            <a:r>
              <a:rPr lang="en-US" dirty="0"/>
              <a:t>for  retrieval, the data extracted from the stored database must be reformatted to match the user's external view. </a:t>
            </a:r>
          </a:p>
          <a:p>
            <a:r>
              <a:rPr lang="en-US" dirty="0"/>
              <a:t>The processes of transforming requests and results between levels are called </a:t>
            </a:r>
            <a:r>
              <a:rPr lang="en-US" b="1" dirty="0"/>
              <a:t>mappings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02590E-D1C8-5436-09FE-E43B3198A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3782"/>
            <a:ext cx="7772400" cy="44904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r>
              <a:rPr lang="en-US" sz="2400" dirty="0"/>
              <a:t> is the capacity to change the schema at one level of a database system without having to change the schema at the next higher level. Two types of  data independence</a:t>
            </a:r>
          </a:p>
          <a:p>
            <a:pPr>
              <a:buNone/>
            </a:pPr>
            <a:r>
              <a:rPr lang="en-US" sz="2400" b="1" dirty="0"/>
              <a:t>Logical data independence:</a:t>
            </a:r>
          </a:p>
          <a:p>
            <a:r>
              <a:rPr lang="en-US" sz="2400" dirty="0"/>
              <a:t>the capacity to change </a:t>
            </a:r>
            <a:r>
              <a:rPr lang="en-US" sz="2400" b="1" dirty="0"/>
              <a:t>the conceptual schema </a:t>
            </a:r>
            <a:r>
              <a:rPr lang="en-US" sz="2400" dirty="0"/>
              <a:t>without having to change </a:t>
            </a:r>
            <a:r>
              <a:rPr lang="en-US" sz="2400" b="1" dirty="0"/>
              <a:t>external schemas or application programs</a:t>
            </a:r>
          </a:p>
          <a:p>
            <a:pPr marL="0" indent="0">
              <a:buNone/>
            </a:pPr>
            <a:r>
              <a:rPr lang="en-US" sz="2400" b="1" dirty="0"/>
              <a:t>Ex</a:t>
            </a:r>
            <a:r>
              <a:rPr lang="en-US" sz="2400" dirty="0"/>
              <a:t> : by adding or removing attribute, changing constraint</a:t>
            </a:r>
          </a:p>
          <a:p>
            <a:r>
              <a:rPr lang="en-US" sz="2400" dirty="0"/>
              <a:t>external schemas that refer only to the remaining data should not be affected </a:t>
            </a:r>
          </a:p>
          <a:p>
            <a:r>
              <a:rPr lang="en-US" sz="2400" dirty="0"/>
              <a:t>Only the </a:t>
            </a:r>
            <a:r>
              <a:rPr lang="en-US" sz="2400" b="1" dirty="0"/>
              <a:t>view definition </a:t>
            </a:r>
            <a:r>
              <a:rPr lang="en-US" sz="2400" dirty="0"/>
              <a:t>and the </a:t>
            </a:r>
            <a:r>
              <a:rPr lang="en-US" sz="2400" b="1" dirty="0"/>
              <a:t>mappings</a:t>
            </a:r>
            <a:r>
              <a:rPr lang="en-US" sz="2400" dirty="0"/>
              <a:t> need be changed in a DBMS that supports logical data independence</a:t>
            </a:r>
          </a:p>
          <a:p>
            <a:r>
              <a:rPr lang="en-US" sz="2400" b="1" i="1" dirty="0"/>
              <a:t>application programs that reference the external schema constructs must work as before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Physical data independence</a:t>
            </a:r>
            <a:r>
              <a:rPr lang="en-US" sz="2400" dirty="0"/>
              <a:t>:</a:t>
            </a:r>
          </a:p>
          <a:p>
            <a:r>
              <a:rPr lang="en-US" sz="2400" dirty="0"/>
              <a:t>is the capacity to change the </a:t>
            </a:r>
            <a:r>
              <a:rPr lang="en-US" sz="2400" b="1" dirty="0"/>
              <a:t>internal schema </a:t>
            </a:r>
            <a:r>
              <a:rPr lang="en-US" sz="2400" dirty="0"/>
              <a:t>without having to change the </a:t>
            </a:r>
            <a:r>
              <a:rPr lang="en-US" sz="2400" b="1" dirty="0"/>
              <a:t>conceptual schema</a:t>
            </a:r>
          </a:p>
          <a:p>
            <a:r>
              <a:rPr lang="en-US" sz="2400" dirty="0"/>
              <a:t>the external schemas need not be changed as well.</a:t>
            </a:r>
          </a:p>
          <a:p>
            <a:r>
              <a:rPr lang="en-US" sz="2400" dirty="0"/>
              <a:t>Changes to the internal schema may be needed because some physical files had to </a:t>
            </a:r>
            <a:r>
              <a:rPr lang="en-US" sz="2400" b="1" dirty="0"/>
              <a:t>be reorganized by creating additional access structures to improve  retrieval </a:t>
            </a:r>
          </a:p>
          <a:p>
            <a:r>
              <a:rPr lang="en-US" sz="2400" dirty="0"/>
              <a:t>If the </a:t>
            </a:r>
            <a:r>
              <a:rPr lang="en-US" sz="2400" b="1" dirty="0"/>
              <a:t>same data as before remains in the database</a:t>
            </a:r>
            <a:r>
              <a:rPr lang="en-US" sz="2400" dirty="0"/>
              <a:t>, we should not have to change the conceptual schema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Autofit/>
          </a:bodyPr>
          <a:lstStyle/>
          <a:p>
            <a:r>
              <a:rPr lang="en-US" sz="2400" dirty="0"/>
              <a:t>Database language and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DBMS languages</a:t>
            </a:r>
          </a:p>
          <a:p>
            <a:pPr>
              <a:buNone/>
            </a:pPr>
            <a:r>
              <a:rPr lang="en-US" sz="2400" dirty="0"/>
              <a:t>1. Data Definition Language(DDL):</a:t>
            </a:r>
          </a:p>
          <a:p>
            <a:r>
              <a:rPr lang="en-US" sz="2400" dirty="0"/>
              <a:t>In many DBMSs where no strict separation of levels is maintained, one language, called the data definition language (DDL), is used by the DBA and by database designers to </a:t>
            </a:r>
            <a:r>
              <a:rPr lang="en-US" sz="2400" b="1" dirty="0"/>
              <a:t>define both schemas</a:t>
            </a:r>
          </a:p>
          <a:p>
            <a:pPr>
              <a:buNone/>
            </a:pPr>
            <a:r>
              <a:rPr lang="en-US" sz="2400" dirty="0"/>
              <a:t>2. View definition language(VDL)</a:t>
            </a:r>
          </a:p>
          <a:p>
            <a:r>
              <a:rPr lang="en-US" sz="2400" dirty="0"/>
              <a:t>For a true three-schema architecture, third language, the view definition language (VDL) is needed  </a:t>
            </a:r>
            <a:r>
              <a:rPr lang="en-US" sz="2400" b="1" dirty="0"/>
              <a:t>to specify user views </a:t>
            </a:r>
            <a:r>
              <a:rPr lang="en-US" sz="2400" dirty="0"/>
              <a:t>and their mappings to the conceptual schema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3048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3. Data manipulation language</a:t>
            </a:r>
          </a:p>
          <a:p>
            <a:r>
              <a:rPr lang="en-US" sz="2400" dirty="0"/>
              <a:t>Typical manipulations include retrieval, insertion, deletion, and modification of the data</a:t>
            </a:r>
          </a:p>
          <a:p>
            <a:r>
              <a:rPr lang="en-US" sz="2400" dirty="0"/>
              <a:t>DBMS provides language called the data manipulation language (DML) for these purposes.</a:t>
            </a:r>
          </a:p>
          <a:p>
            <a:pPr>
              <a:buNone/>
            </a:pPr>
            <a:r>
              <a:rPr lang="en-US" sz="2400" dirty="0"/>
              <a:t>4. Standard Query language(SQL)</a:t>
            </a:r>
          </a:p>
          <a:p>
            <a:r>
              <a:rPr lang="en-US" sz="2400" dirty="0"/>
              <a:t>Current DBMS provide a comprehensive  language  like SQL for all conceptual schema definition, view definition,  and data  manipulation </a:t>
            </a:r>
          </a:p>
          <a:p>
            <a:r>
              <a:rPr lang="en-US" sz="2400" dirty="0"/>
              <a:t>SQL provides DDL, VDL, and DML, as well as statements for constraint specification, schema evolution, and other features </a:t>
            </a:r>
            <a:br>
              <a:rPr lang="en-US" sz="2400" dirty="0"/>
            </a:b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304800"/>
          </a:xfrm>
        </p:spPr>
        <p:txBody>
          <a:bodyPr>
            <a:noAutofit/>
          </a:bodyPr>
          <a:lstStyle/>
          <a:p>
            <a:r>
              <a:rPr lang="en-US" sz="2800" b="1" i="1" dirty="0"/>
              <a:t>Classification of  database 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 marL="514350" indent="-514350"/>
            <a:r>
              <a:rPr lang="en-US" sz="2400" dirty="0"/>
              <a:t>Several criteria are normally used to classify DBMSs. These are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1. Based on number of users supported</a:t>
            </a:r>
          </a:p>
          <a:p>
            <a:r>
              <a:rPr lang="en-US" sz="2400" b="1" i="1" dirty="0"/>
              <a:t>Single user system </a:t>
            </a:r>
            <a:r>
              <a:rPr lang="en-US" sz="2400" dirty="0"/>
              <a:t>-support only single user at a time</a:t>
            </a:r>
          </a:p>
          <a:p>
            <a:r>
              <a:rPr lang="en-US" sz="2400" b="1" i="1" dirty="0"/>
              <a:t>Multiuser system </a:t>
            </a:r>
            <a:r>
              <a:rPr lang="en-US" sz="2400" dirty="0"/>
              <a:t>-support multiple user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2. Based on number of site the </a:t>
            </a:r>
            <a:r>
              <a:rPr lang="en-US" sz="2400" dirty="0" err="1">
                <a:solidFill>
                  <a:srgbClr val="FF0000"/>
                </a:solidFill>
              </a:rPr>
              <a:t>dbms</a:t>
            </a:r>
            <a:r>
              <a:rPr lang="en-US" sz="2400" dirty="0">
                <a:solidFill>
                  <a:srgbClr val="FF0000"/>
                </a:solidFill>
              </a:rPr>
              <a:t> or db is distributed</a:t>
            </a:r>
          </a:p>
          <a:p>
            <a:r>
              <a:rPr lang="en-US" sz="2400" b="1" dirty="0"/>
              <a:t>Centralized</a:t>
            </a:r>
            <a:r>
              <a:rPr lang="en-US" sz="2400" dirty="0"/>
              <a:t>-if the db is located at a single site</a:t>
            </a:r>
          </a:p>
          <a:p>
            <a:r>
              <a:rPr lang="en-US" sz="2400" b="1" dirty="0"/>
              <a:t>Distributed</a:t>
            </a:r>
            <a:r>
              <a:rPr lang="en-US" sz="2400" dirty="0"/>
              <a:t>-the db and </a:t>
            </a:r>
            <a:r>
              <a:rPr lang="en-US" sz="2400" dirty="0" err="1"/>
              <a:t>dbms</a:t>
            </a:r>
            <a:r>
              <a:rPr lang="en-US" sz="2400" dirty="0"/>
              <a:t> are distributed over many sites for load balancing</a:t>
            </a:r>
          </a:p>
          <a:p>
            <a:pPr>
              <a:buNone/>
            </a:pPr>
            <a:r>
              <a:rPr lang="en-US" sz="2400" dirty="0">
                <a:solidFill>
                  <a:srgbClr val="FF0000"/>
                </a:solidFill>
              </a:rPr>
              <a:t>3. </a:t>
            </a:r>
            <a:r>
              <a:rPr lang="en-US" sz="2400" b="1" dirty="0">
                <a:solidFill>
                  <a:srgbClr val="FF0000"/>
                </a:solidFill>
              </a:rPr>
              <a:t>Based on purpose of the db</a:t>
            </a:r>
          </a:p>
          <a:p>
            <a:r>
              <a:rPr lang="en-US" sz="2400" i="1" dirty="0"/>
              <a:t>Special purpose db- </a:t>
            </a:r>
            <a:r>
              <a:rPr lang="en-US" sz="2400" dirty="0"/>
              <a:t>designed for a specific application</a:t>
            </a:r>
          </a:p>
          <a:p>
            <a:pPr>
              <a:buNone/>
            </a:pPr>
            <a:r>
              <a:rPr lang="en-US" sz="2400" dirty="0"/>
              <a:t>Ex: airline reservation, telephone directory</a:t>
            </a:r>
          </a:p>
          <a:p>
            <a:r>
              <a:rPr lang="en-US" sz="2400" i="1" dirty="0"/>
              <a:t>General purpose db  </a:t>
            </a:r>
            <a:r>
              <a:rPr lang="en-US" sz="2400" dirty="0"/>
              <a:t>- used for general purpose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304800"/>
          </a:xfrm>
        </p:spPr>
        <p:txBody>
          <a:bodyPr>
            <a:noAutofit/>
          </a:bodyPr>
          <a:lstStyle/>
          <a:p>
            <a:r>
              <a:rPr lang="en-US" sz="2800" b="1" i="1" dirty="0"/>
              <a:t>Classification of  database 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4. Homogenous or Heterogenous</a:t>
            </a:r>
          </a:p>
          <a:p>
            <a:r>
              <a:rPr lang="en-US" sz="2400" b="1" dirty="0"/>
              <a:t>Homogeneous DDBMSs</a:t>
            </a:r>
          </a:p>
          <a:p>
            <a:pPr lvl="1"/>
            <a:r>
              <a:rPr lang="en-US" sz="2000" b="1" dirty="0"/>
              <a:t> use the same DBMS software at all the sites, whereas </a:t>
            </a:r>
          </a:p>
          <a:p>
            <a:r>
              <a:rPr lang="en-US" sz="2400" b="1" dirty="0"/>
              <a:t>Heterogeneous DDBMSs </a:t>
            </a:r>
          </a:p>
          <a:p>
            <a:pPr lvl="1"/>
            <a:r>
              <a:rPr lang="en-US" sz="2000" b="1" dirty="0"/>
              <a:t>can use different DBMS software at each site. </a:t>
            </a:r>
          </a:p>
          <a:p>
            <a:pPr lvl="1"/>
            <a:r>
              <a:rPr lang="en-US" sz="2000" b="1" dirty="0"/>
              <a:t>It is also </a:t>
            </a:r>
            <a:r>
              <a:rPr lang="en-US" sz="2400" dirty="0"/>
              <a:t>possible to develop </a:t>
            </a:r>
            <a:r>
              <a:rPr lang="en-US" sz="2400" b="1" dirty="0"/>
              <a:t>middleware software to access several autonomous preexisting </a:t>
            </a:r>
            <a:r>
              <a:rPr lang="en-US" sz="2400" dirty="0"/>
              <a:t>databases stored under heterogeneous DBMSs. </a:t>
            </a:r>
          </a:p>
          <a:p>
            <a:pPr lvl="1"/>
            <a:r>
              <a:rPr lang="en-US" sz="2000" dirty="0"/>
              <a:t>This leads to a </a:t>
            </a:r>
            <a:r>
              <a:rPr lang="en-US" sz="2000" b="1" dirty="0"/>
              <a:t>federated DBMS (or multi database system), in which the participating DBMSs are loosely coupled and </a:t>
            </a:r>
            <a:r>
              <a:rPr lang="en-US" sz="2000" dirty="0"/>
              <a:t>have a degree of local autonomy. 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458200" cy="304800"/>
          </a:xfrm>
        </p:spPr>
        <p:txBody>
          <a:bodyPr>
            <a:noAutofit/>
          </a:bodyPr>
          <a:lstStyle/>
          <a:p>
            <a:r>
              <a:rPr lang="en-US" sz="2800" b="1" i="1" dirty="0"/>
              <a:t>Classification of  database 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6. </a:t>
            </a:r>
            <a:r>
              <a:rPr lang="en-US" sz="2800" dirty="0"/>
              <a:t>Data model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000" b="1" dirty="0"/>
              <a:t> </a:t>
            </a:r>
            <a:r>
              <a:rPr lang="en-US" sz="2400" b="1" dirty="0"/>
              <a:t>relational data model</a:t>
            </a:r>
          </a:p>
          <a:p>
            <a:pPr lvl="1"/>
            <a:r>
              <a:rPr lang="en-US" dirty="0"/>
              <a:t>represents a database as a collection of </a:t>
            </a:r>
            <a:r>
              <a:rPr lang="en-US" dirty="0" err="1"/>
              <a:t>tables,where</a:t>
            </a:r>
            <a:r>
              <a:rPr lang="en-US" dirty="0"/>
              <a:t> each table can be stored as a separate file</a:t>
            </a:r>
            <a:endParaRPr lang="en-US" sz="6200" b="1" dirty="0"/>
          </a:p>
          <a:p>
            <a:pPr>
              <a:buFont typeface="Wingdings" pitchFamily="2" charset="2"/>
              <a:buChar char="§"/>
            </a:pPr>
            <a:r>
              <a:rPr lang="en-US" sz="2400" b="1" dirty="0"/>
              <a:t>object data model</a:t>
            </a:r>
          </a:p>
          <a:p>
            <a:pPr lvl="1"/>
            <a:r>
              <a:rPr lang="en-US" dirty="0"/>
              <a:t>defines a database in terms of objects, their properties, and their operations.</a:t>
            </a:r>
            <a:endParaRPr lang="en-US" sz="6200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1660</Words>
  <Application>Microsoft Macintosh PowerPoint</Application>
  <PresentationFormat>On-screen Show (4:3)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quote-cjk-patch</vt:lpstr>
      <vt:lpstr>Times New Roman</vt:lpstr>
      <vt:lpstr>Wingdings</vt:lpstr>
      <vt:lpstr>Office Theme</vt:lpstr>
      <vt:lpstr>PowerPoint Presentation</vt:lpstr>
      <vt:lpstr>Database Design Methodology/Process</vt:lpstr>
      <vt:lpstr>PowerPoint Presentation</vt:lpstr>
      <vt:lpstr>PowerPoint Presentation</vt:lpstr>
      <vt:lpstr>Data models schemas and instances</vt:lpstr>
      <vt:lpstr>Categories of Data models</vt:lpstr>
      <vt:lpstr>Schemas, Instances, and Database State</vt:lpstr>
      <vt:lpstr>STUDENT</vt:lpstr>
      <vt:lpstr>Schema Architecture and Data Independence</vt:lpstr>
      <vt:lpstr>Schema Architecture….</vt:lpstr>
      <vt:lpstr>Schema Architecture….</vt:lpstr>
      <vt:lpstr>PowerPoint Presentation</vt:lpstr>
      <vt:lpstr>PowerPoint Presentation</vt:lpstr>
      <vt:lpstr>Data independence</vt:lpstr>
      <vt:lpstr>PowerPoint Presentation</vt:lpstr>
      <vt:lpstr>Database language and interfaces</vt:lpstr>
      <vt:lpstr>PowerPoint Presentation</vt:lpstr>
      <vt:lpstr>Classification of  database  management system</vt:lpstr>
      <vt:lpstr>Classification of  database  management system</vt:lpstr>
      <vt:lpstr>Classification of  database 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xuse</dc:creator>
  <cp:lastModifiedBy>kasahun Abdisa</cp:lastModifiedBy>
  <cp:revision>35</cp:revision>
  <dcterms:created xsi:type="dcterms:W3CDTF">2014-10-24T15:40:17Z</dcterms:created>
  <dcterms:modified xsi:type="dcterms:W3CDTF">2026-03-06T04:46:27Z</dcterms:modified>
</cp:coreProperties>
</file>