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9" r:id="rId5"/>
    <p:sldId id="285" r:id="rId6"/>
    <p:sldId id="259" r:id="rId7"/>
    <p:sldId id="294" r:id="rId8"/>
    <p:sldId id="290" r:id="rId9"/>
    <p:sldId id="260" r:id="rId10"/>
    <p:sldId id="261" r:id="rId11"/>
    <p:sldId id="292" r:id="rId12"/>
    <p:sldId id="262" r:id="rId13"/>
    <p:sldId id="264" r:id="rId14"/>
    <p:sldId id="265" r:id="rId15"/>
    <p:sldId id="267" r:id="rId16"/>
    <p:sldId id="268" r:id="rId17"/>
    <p:sldId id="288" r:id="rId18"/>
    <p:sldId id="270" r:id="rId19"/>
    <p:sldId id="286" r:id="rId20"/>
    <p:sldId id="293" r:id="rId21"/>
    <p:sldId id="271" r:id="rId22"/>
    <p:sldId id="272" r:id="rId23"/>
    <p:sldId id="291" r:id="rId24"/>
    <p:sldId id="274" r:id="rId25"/>
    <p:sldId id="275" r:id="rId26"/>
    <p:sldId id="276" r:id="rId27"/>
    <p:sldId id="277" r:id="rId28"/>
    <p:sldId id="29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43"/>
    <p:restoredTop sz="94662"/>
  </p:normalViewPr>
  <p:slideViewPr>
    <p:cSldViewPr>
      <p:cViewPr varScale="1">
        <p:scale>
          <a:sx n="153" d="100"/>
          <a:sy n="153" d="100"/>
        </p:scale>
        <p:origin x="17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D5EF6-54A6-42F1-A746-4FADC0C82584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5C26F-FA9B-4BAB-87F2-BECF975282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95C26F-FA9B-4BAB-87F2-BECF9752826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5C26F-FA9B-4BAB-87F2-BECF9752826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5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181E7-DE47-4E10-961B-BE3DFE26FB87}" type="datetimeFigureOut">
              <a:rPr lang="en-US" smtClean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E7E5-13E2-4B42-B91A-ED594507E8A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Chapter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886200"/>
            <a:ext cx="8610600" cy="1752600"/>
          </a:xfrm>
        </p:spPr>
        <p:txBody>
          <a:bodyPr>
            <a:normAutofit/>
          </a:bodyPr>
          <a:lstStyle/>
          <a:p>
            <a:r>
              <a:rPr lang="en-US" sz="2800" b="1" i="1" dirty="0">
                <a:solidFill>
                  <a:schemeClr val="tx1"/>
                </a:solidFill>
              </a:rPr>
              <a:t>RELATIONAL ALGEBRA AND  CALCULUS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A data model must include </a:t>
            </a:r>
            <a:r>
              <a:rPr lang="en-US" sz="2400" b="1" dirty="0"/>
              <a:t>a set of operations to manipulate the database, in addition to the data model's concepts for defining database structure and constraints</a:t>
            </a:r>
            <a:r>
              <a:rPr lang="en-US" b="1" dirty="0"/>
              <a:t>.</a:t>
            </a:r>
          </a:p>
          <a:p>
            <a:r>
              <a:rPr lang="en-US" sz="2400" dirty="0"/>
              <a:t>The basic set of operations for the relational model is the</a:t>
            </a:r>
            <a:r>
              <a:rPr lang="en-US" sz="2400" b="1" dirty="0"/>
              <a:t> relational algebra</a:t>
            </a:r>
            <a:r>
              <a:rPr lang="en-US" sz="2400" dirty="0"/>
              <a:t>. </a:t>
            </a:r>
          </a:p>
          <a:p>
            <a:pPr lvl="1"/>
            <a:r>
              <a:rPr lang="en-US" sz="2000" dirty="0"/>
              <a:t>These operations enable a user to specify basic retrieval requests.</a:t>
            </a:r>
          </a:p>
          <a:p>
            <a:r>
              <a:rPr lang="en-US" sz="2400" dirty="0"/>
              <a:t>The result of a retrieval is a </a:t>
            </a:r>
            <a:r>
              <a:rPr lang="en-US" sz="2400" b="1" dirty="0"/>
              <a:t>new relation</a:t>
            </a:r>
            <a:r>
              <a:rPr lang="en-US" sz="2400" dirty="0"/>
              <a:t>, which may have been formed from one or more relations</a:t>
            </a:r>
          </a:p>
          <a:p>
            <a:r>
              <a:rPr lang="en-US" sz="2400" dirty="0"/>
              <a:t>A sequence of relational algebra operations forms a </a:t>
            </a:r>
            <a:r>
              <a:rPr lang="en-US" sz="2400" b="1" dirty="0"/>
              <a:t>relational algebra expression, </a:t>
            </a:r>
          </a:p>
          <a:p>
            <a:pPr lvl="1"/>
            <a:r>
              <a:rPr lang="en-US" sz="2000" b="1" dirty="0"/>
              <a:t>whose result will also be a relation that represents the result of a database query </a:t>
            </a:r>
            <a:r>
              <a:rPr lang="en-US" sz="2000" dirty="0"/>
              <a:t>(or retrieval request)</a:t>
            </a:r>
          </a:p>
          <a:p>
            <a:r>
              <a:rPr lang="en-US" sz="2400" dirty="0"/>
              <a:t>The relational algebra is very important for several reasons because.</a:t>
            </a:r>
          </a:p>
          <a:p>
            <a:pPr lvl="1"/>
            <a:r>
              <a:rPr lang="en-US" sz="2000" dirty="0"/>
              <a:t>it provides a formal foundation for relational model operations. </a:t>
            </a:r>
          </a:p>
          <a:p>
            <a:pPr lvl="1"/>
            <a:r>
              <a:rPr lang="en-US" sz="2000" dirty="0"/>
              <a:t>some of its concepts are incorporated into the SQL standard query language for RDBMSs.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The operations of the relational algebra can be divided in to two groups. These are</a:t>
            </a:r>
          </a:p>
          <a:p>
            <a:pPr marL="457200" indent="-457200">
              <a:buAutoNum type="arabicPeriod"/>
            </a:pPr>
            <a:r>
              <a:rPr lang="en-US" sz="2400" b="1" dirty="0"/>
              <a:t>Set operations </a:t>
            </a:r>
            <a:r>
              <a:rPr lang="en-US" sz="2400" dirty="0"/>
              <a:t>from mathematical </a:t>
            </a:r>
            <a:r>
              <a:rPr lang="en-US" sz="2400" b="1" dirty="0"/>
              <a:t>set theory</a:t>
            </a:r>
            <a:r>
              <a:rPr lang="en-US" sz="2400" dirty="0"/>
              <a:t>; these are applicable  because each relation is defined to be a set of tuples in the formal relational model.  </a:t>
            </a:r>
          </a:p>
          <a:p>
            <a:pPr marL="857250" lvl="1" indent="-457200"/>
            <a:r>
              <a:rPr lang="en-US" sz="2000" dirty="0"/>
              <a:t>Set operations include </a:t>
            </a:r>
            <a:r>
              <a:rPr lang="en-US" sz="2000" b="1" dirty="0"/>
              <a:t>UNION, INTERSECTION, SET DIFFERENCE, and CARTESIAN PRODUCT</a:t>
            </a:r>
          </a:p>
          <a:p>
            <a:pPr>
              <a:buNone/>
            </a:pPr>
            <a:r>
              <a:rPr lang="en-US" sz="2400" dirty="0"/>
              <a:t>2. The other group consists of </a:t>
            </a:r>
            <a:r>
              <a:rPr lang="en-US" sz="2400" b="1" dirty="0"/>
              <a:t>operations developed specifically for relational </a:t>
            </a:r>
            <a:r>
              <a:rPr lang="en-US" sz="2400" dirty="0"/>
              <a:t>databases-these include </a:t>
            </a:r>
            <a:r>
              <a:rPr lang="en-US" sz="2400" b="1" dirty="0"/>
              <a:t>SELECT,PROJECT</a:t>
            </a:r>
            <a:r>
              <a:rPr lang="en-US" sz="2400" dirty="0"/>
              <a:t>, and </a:t>
            </a:r>
            <a:r>
              <a:rPr lang="en-US" sz="2400" b="1" dirty="0"/>
              <a:t>JOIN</a:t>
            </a:r>
            <a:r>
              <a:rPr lang="en-US" sz="2400" dirty="0"/>
              <a:t>.  </a:t>
            </a:r>
          </a:p>
          <a:p>
            <a:r>
              <a:rPr lang="en-US" sz="2400" b="1" dirty="0"/>
              <a:t>SELECT</a:t>
            </a:r>
            <a:r>
              <a:rPr lang="en-US" sz="2400" dirty="0"/>
              <a:t> and </a:t>
            </a:r>
            <a:r>
              <a:rPr lang="en-US" sz="2400" b="1" dirty="0"/>
              <a:t>PROJEC</a:t>
            </a:r>
            <a:r>
              <a:rPr lang="en-US" sz="2400" dirty="0"/>
              <a:t>T operations  are unary operations that operate on single relations. </a:t>
            </a:r>
          </a:p>
          <a:p>
            <a:r>
              <a:rPr lang="en-US" sz="2400" dirty="0"/>
              <a:t>Some common database requests cannot be performed with the original relational algebra operations, so additional operations were created to express these requests. </a:t>
            </a:r>
          </a:p>
          <a:p>
            <a:pPr lvl="1"/>
            <a:r>
              <a:rPr lang="en-US" sz="2000" dirty="0"/>
              <a:t>These include </a:t>
            </a:r>
            <a:r>
              <a:rPr lang="en-US" sz="2000" b="1" dirty="0"/>
              <a:t>aggregate functions</a:t>
            </a:r>
            <a:r>
              <a:rPr lang="en-US" sz="2000" dirty="0"/>
              <a:t>, which are operations that can </a:t>
            </a:r>
            <a:r>
              <a:rPr lang="en-US" sz="2000" b="1" i="1" dirty="0"/>
              <a:t>summarize data from </a:t>
            </a:r>
            <a:r>
              <a:rPr lang="en-US" sz="2000" i="1" dirty="0"/>
              <a:t>the </a:t>
            </a:r>
            <a:r>
              <a:rPr lang="en-US" sz="2000" dirty="0"/>
              <a:t>tables, as well as additional types of JOIN and UNION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04" y="22860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8991600" cy="2638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458200" cy="457200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UNARY RELATIONAL OPERATIONS:SELECT AND PROJECT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The select operation:</a:t>
            </a:r>
          </a:p>
          <a:p>
            <a:r>
              <a:rPr lang="en-US" sz="2800" dirty="0"/>
              <a:t>The SELECT operation is used to select a </a:t>
            </a:r>
            <a:r>
              <a:rPr lang="en-US" sz="2800" b="1" i="1" dirty="0"/>
              <a:t>subset of the tuples </a:t>
            </a:r>
            <a:r>
              <a:rPr lang="en-US" sz="2800" i="1" dirty="0"/>
              <a:t>from a relation that satisfy a </a:t>
            </a:r>
            <a:r>
              <a:rPr lang="en-US" sz="2800" dirty="0"/>
              <a:t>selection condition</a:t>
            </a:r>
          </a:p>
          <a:p>
            <a:r>
              <a:rPr lang="en-US" sz="2800" dirty="0"/>
              <a:t>It keeps only those tuples that </a:t>
            </a:r>
            <a:r>
              <a:rPr lang="en-US" sz="2800" b="1" dirty="0"/>
              <a:t>satisfy a qualifying condition</a:t>
            </a:r>
          </a:p>
          <a:p>
            <a:r>
              <a:rPr lang="en-US" sz="2800" dirty="0"/>
              <a:t>The SELECT operation can also be visualized as a </a:t>
            </a:r>
            <a:r>
              <a:rPr lang="en-US" sz="2800" b="1" i="1" dirty="0"/>
              <a:t>horizontal partition </a:t>
            </a:r>
            <a:r>
              <a:rPr lang="en-US" sz="2800" i="1" dirty="0"/>
              <a:t>of the relation into two sets of tuples-those tuples that satisfy </a:t>
            </a:r>
            <a:r>
              <a:rPr lang="en-US" sz="2800" dirty="0"/>
              <a:t>the condition and are selected, and those tuples that </a:t>
            </a:r>
            <a:r>
              <a:rPr lang="en-US" sz="2800" b="1" i="1" dirty="0"/>
              <a:t>do not satisfy the condition and are discarded</a:t>
            </a:r>
            <a:r>
              <a:rPr lang="en-US" sz="2400" b="1" i="1" dirty="0"/>
              <a:t>.</a:t>
            </a:r>
          </a:p>
          <a:p>
            <a:pPr>
              <a:buNone/>
            </a:pPr>
            <a:r>
              <a:rPr lang="en-US" sz="2400" b="1" dirty="0"/>
              <a:t>  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600" b="1" dirty="0">
                <a:solidFill>
                  <a:srgbClr val="FF0000"/>
                </a:solidFill>
              </a:rPr>
              <a:t>example1</a:t>
            </a:r>
            <a:r>
              <a:rPr lang="en-US" sz="2600" b="1" dirty="0"/>
              <a:t>: to select the EMPLOYEE </a:t>
            </a:r>
            <a:r>
              <a:rPr lang="en-US" sz="2600" b="1" dirty="0" err="1"/>
              <a:t>tuples</a:t>
            </a:r>
            <a:r>
              <a:rPr lang="en-US" sz="2600" b="1" dirty="0"/>
              <a:t> whose department is 4, or those whose salary is greater than $30,000, we specify with SELECT as </a:t>
            </a:r>
            <a:endParaRPr lang="en-US" sz="2400" b="1" dirty="0"/>
          </a:p>
          <a:p>
            <a:pPr lvl="1">
              <a:buNone/>
            </a:pPr>
            <a:r>
              <a:rPr lang="en-US" sz="3500" dirty="0" err="1">
                <a:solidFill>
                  <a:srgbClr val="FF0000"/>
                </a:solidFill>
              </a:rPr>
              <a:t>σ</a:t>
            </a:r>
            <a:r>
              <a:rPr lang="en-US" sz="1700" dirty="0" err="1">
                <a:solidFill>
                  <a:srgbClr val="FF0000"/>
                </a:solidFill>
              </a:rPr>
              <a:t>DNO</a:t>
            </a:r>
            <a:r>
              <a:rPr lang="en-US" sz="1700" dirty="0">
                <a:solidFill>
                  <a:srgbClr val="FF0000"/>
                </a:solidFill>
              </a:rPr>
              <a:t>=4 (EMPLOYEE)  OR     </a:t>
            </a:r>
            <a:r>
              <a:rPr lang="en-US" sz="3500" dirty="0">
                <a:solidFill>
                  <a:srgbClr val="FF0000"/>
                </a:solidFill>
              </a:rPr>
              <a:t>σ </a:t>
            </a:r>
            <a:r>
              <a:rPr lang="en-US" sz="1500" dirty="0">
                <a:solidFill>
                  <a:srgbClr val="FF0000"/>
                </a:solidFill>
              </a:rPr>
              <a:t>SALARY&gt;30000(EMPLOYEE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sz="2600" dirty="0">
                <a:solidFill>
                  <a:srgbClr val="FF0000"/>
                </a:solidFill>
              </a:rPr>
              <a:t>Example 2</a:t>
            </a:r>
            <a:r>
              <a:rPr lang="en-US" sz="2600" dirty="0"/>
              <a:t>: to select the </a:t>
            </a:r>
            <a:r>
              <a:rPr lang="en-US" sz="2600" dirty="0" err="1"/>
              <a:t>tuples</a:t>
            </a:r>
            <a:r>
              <a:rPr lang="en-US" sz="2600" dirty="0"/>
              <a:t> for all employees who either work in department 4 and make over $25,000 per year, or work in department 5 and make over $30,000, we can specify the following </a:t>
            </a:r>
            <a:r>
              <a:rPr lang="en-US" sz="2400" dirty="0"/>
              <a:t>SELECT</a:t>
            </a:r>
            <a:r>
              <a:rPr lang="en-US" sz="500" dirty="0"/>
              <a:t> </a:t>
            </a:r>
            <a:r>
              <a:rPr lang="en-US" sz="2600" dirty="0"/>
              <a:t>operation</a:t>
            </a:r>
            <a:r>
              <a:rPr lang="en-US" dirty="0"/>
              <a:t>:</a:t>
            </a:r>
            <a:endParaRPr lang="en-US" sz="4800" dirty="0"/>
          </a:p>
          <a:p>
            <a:pPr lvl="1">
              <a:buNone/>
            </a:pPr>
            <a:endParaRPr lang="en-US" sz="1200" dirty="0"/>
          </a:p>
          <a:p>
            <a:pPr lvl="1">
              <a:buNone/>
            </a:pPr>
            <a:r>
              <a:rPr lang="en-US" sz="3000" dirty="0">
                <a:solidFill>
                  <a:srgbClr val="FF0000"/>
                </a:solidFill>
              </a:rPr>
              <a:t>σ</a:t>
            </a:r>
            <a:r>
              <a:rPr lang="en-US" sz="2000" dirty="0">
                <a:solidFill>
                  <a:srgbClr val="FF0000"/>
                </a:solidFill>
              </a:rPr>
              <a:t>(DNO=4 AND SALARY&gt;25000) OR (DNO=5 AND SALARY&gt; 30000)(EMPLOYEE)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52401"/>
            <a:ext cx="7772400" cy="609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914400"/>
            <a:ext cx="8839200" cy="5943600"/>
          </a:xfrm>
        </p:spPr>
        <p:txBody>
          <a:bodyPr>
            <a:normAutofit/>
          </a:bodyPr>
          <a:lstStyle/>
          <a:p>
            <a:pPr algn="l"/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916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In general, the SELECT operation is denoted by                                       </a:t>
            </a:r>
            <a:r>
              <a:rPr lang="en-US" sz="2400" b="1" i="1" dirty="0"/>
              <a:t>σ&lt;selection condition&gt;(R</a:t>
            </a:r>
            <a:r>
              <a:rPr lang="en-US" sz="2400" b="1" dirty="0"/>
              <a:t>),</a:t>
            </a:r>
          </a:p>
          <a:p>
            <a:r>
              <a:rPr lang="en-US" sz="2400" b="1" dirty="0"/>
              <a:t> </a:t>
            </a:r>
            <a:r>
              <a:rPr lang="en-US" sz="2400" dirty="0"/>
              <a:t>where the symbol </a:t>
            </a:r>
            <a:r>
              <a:rPr lang="en-US" sz="2400" b="1" i="1" dirty="0"/>
              <a:t>σ</a:t>
            </a:r>
            <a:r>
              <a:rPr lang="en-US" sz="2400" dirty="0"/>
              <a:t> (sigma) is used to denote the SELECT operator, and the selection condition is a </a:t>
            </a:r>
            <a:r>
              <a:rPr lang="en-US" sz="2400" b="1" dirty="0"/>
              <a:t>Boolean expression </a:t>
            </a:r>
            <a:r>
              <a:rPr lang="en-US" sz="2400" dirty="0"/>
              <a:t>specified on the attributes of relation R.</a:t>
            </a:r>
          </a:p>
          <a:p>
            <a:r>
              <a:rPr lang="en-US" sz="2400" dirty="0"/>
              <a:t>The relation resulting from the SELECT operation </a:t>
            </a:r>
            <a:r>
              <a:rPr lang="en-US" sz="2400" b="1" dirty="0"/>
              <a:t>has the </a:t>
            </a:r>
            <a:r>
              <a:rPr lang="en-US" sz="2400" b="1" i="1" dirty="0"/>
              <a:t>same attributes as R</a:t>
            </a:r>
          </a:p>
          <a:p>
            <a:r>
              <a:rPr lang="en-US" sz="2400" dirty="0"/>
              <a:t>The Boolean expression specified in &lt;selection condition&gt; is made up of a number of clauses of the form :</a:t>
            </a:r>
          </a:p>
          <a:p>
            <a:pPr>
              <a:buNone/>
            </a:pPr>
            <a:r>
              <a:rPr lang="en-US" sz="2400" dirty="0"/>
              <a:t>           </a:t>
            </a:r>
            <a:r>
              <a:rPr lang="en-US" sz="2400" b="1" i="1" dirty="0"/>
              <a:t>&lt;attribute name&gt; &lt;comparison op&gt; &lt;constant value&gt;,</a:t>
            </a:r>
          </a:p>
          <a:p>
            <a:r>
              <a:rPr lang="en-US" sz="2400" dirty="0"/>
              <a:t>where &lt;attribute name&gt; is the name of an attribute of R,  &lt;comparison op&gt; is normally one of the operators {=, &lt;=,  &gt;=)</a:t>
            </a:r>
            <a:r>
              <a:rPr lang="en-US" sz="2400" i="1" dirty="0"/>
              <a:t>}, and &lt;constant value&gt; is a constant value from the </a:t>
            </a:r>
            <a:r>
              <a:rPr lang="en-US" sz="2400" dirty="0"/>
              <a:t>attribute domain.</a:t>
            </a:r>
            <a:endParaRPr lang="en-US" sz="2400" b="1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Clauses can be arbitrarily connected by the </a:t>
            </a:r>
            <a:r>
              <a:rPr lang="en-US" sz="2400" b="1" dirty="0"/>
              <a:t>Boolean operators AND, OR, and NOT to form a general selection condition</a:t>
            </a: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For example</a:t>
            </a:r>
          </a:p>
          <a:p>
            <a:r>
              <a:rPr lang="en-US" sz="2400" dirty="0"/>
              <a:t>To select the tuples for all employees who either work in department 4 and make over $25,000 per year, or work in department 5 and make over $30,000, we can specify the following SELECT operation:</a:t>
            </a:r>
            <a:br>
              <a:rPr lang="en-US" sz="2400" dirty="0"/>
            </a:br>
            <a:r>
              <a:rPr lang="en-US" b="1" i="1" dirty="0"/>
              <a:t>σ</a:t>
            </a:r>
            <a:r>
              <a:rPr lang="en-US" sz="2000" b="1" i="1" dirty="0"/>
              <a:t> (DNO=4</a:t>
            </a:r>
            <a:r>
              <a:rPr lang="en-US" sz="2000" b="1" i="1" dirty="0">
                <a:solidFill>
                  <a:srgbClr val="FF0000"/>
                </a:solidFill>
              </a:rPr>
              <a:t> AND </a:t>
            </a:r>
            <a:r>
              <a:rPr lang="en-US" sz="2000" b="1" i="1" dirty="0"/>
              <a:t>SALARY&gt;25000) </a:t>
            </a:r>
            <a:r>
              <a:rPr lang="en-US" sz="2000" b="1" i="1" dirty="0">
                <a:solidFill>
                  <a:srgbClr val="FF0000"/>
                </a:solidFill>
              </a:rPr>
              <a:t>OR</a:t>
            </a:r>
            <a:r>
              <a:rPr lang="en-US" sz="2000" b="1" i="1" dirty="0"/>
              <a:t> (DNO=5 </a:t>
            </a:r>
            <a:r>
              <a:rPr lang="en-US" sz="2000" b="1" i="1" dirty="0">
                <a:solidFill>
                  <a:srgbClr val="FF0000"/>
                </a:solidFill>
              </a:rPr>
              <a:t>AND</a:t>
            </a:r>
            <a:r>
              <a:rPr lang="en-US" sz="2000" b="1" i="1" dirty="0"/>
              <a:t> SALARY&gt;30000)(EMPLOYEE)</a:t>
            </a:r>
          </a:p>
          <a:p>
            <a:r>
              <a:rPr lang="en-US" sz="2400" dirty="0"/>
              <a:t>In general, the result of a SELECT operation can be determined as follows. </a:t>
            </a:r>
          </a:p>
          <a:p>
            <a:endParaRPr lang="en-US" sz="2000" b="1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&lt;selection condition&gt; is  </a:t>
            </a:r>
            <a:r>
              <a:rPr lang="en-US" b="1" dirty="0"/>
              <a:t>applied independently  to each </a:t>
            </a:r>
            <a:r>
              <a:rPr lang="en-US" b="1" dirty="0" err="1"/>
              <a:t>tuple</a:t>
            </a:r>
            <a:r>
              <a:rPr lang="en-US" b="1" dirty="0"/>
              <a:t> t in R. </a:t>
            </a:r>
          </a:p>
          <a:p>
            <a:r>
              <a:rPr lang="en-US" dirty="0"/>
              <a:t> This is done by </a:t>
            </a:r>
            <a:r>
              <a:rPr lang="en-US" b="1" dirty="0"/>
              <a:t>substituting each occurrence of an attribute Ai </a:t>
            </a:r>
            <a:r>
              <a:rPr lang="en-US" dirty="0"/>
              <a:t>in the selection condition with </a:t>
            </a:r>
            <a:r>
              <a:rPr lang="en-US" b="1" dirty="0"/>
              <a:t>its value in the </a:t>
            </a:r>
            <a:r>
              <a:rPr lang="en-US" b="1" dirty="0" err="1"/>
              <a:t>tuple</a:t>
            </a:r>
            <a:r>
              <a:rPr lang="en-US" b="1" dirty="0"/>
              <a:t> t[Ai].</a:t>
            </a:r>
          </a:p>
          <a:p>
            <a:r>
              <a:rPr lang="en-US" b="1" dirty="0"/>
              <a:t> </a:t>
            </a:r>
            <a:r>
              <a:rPr lang="en-US" dirty="0"/>
              <a:t>If the condition evaluates to TRUE, then </a:t>
            </a:r>
            <a:r>
              <a:rPr lang="en-US" dirty="0" err="1"/>
              <a:t>tuple</a:t>
            </a:r>
            <a:r>
              <a:rPr lang="en-US" dirty="0"/>
              <a:t> t is selected. </a:t>
            </a:r>
          </a:p>
          <a:p>
            <a:r>
              <a:rPr lang="en-US" dirty="0"/>
              <a:t>All the selected </a:t>
            </a:r>
            <a:r>
              <a:rPr lang="en-US" dirty="0" err="1"/>
              <a:t>tuples</a:t>
            </a:r>
            <a:r>
              <a:rPr lang="en-US" dirty="0"/>
              <a:t> appear in the result of the SELECT operation.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The Boolean conditions AND, OR, and NOT have their normal interpretation, as follows:</a:t>
            </a:r>
          </a:p>
          <a:p>
            <a:pPr lvl="1"/>
            <a:r>
              <a:rPr lang="en-US" sz="2000" dirty="0"/>
              <a:t>(</a:t>
            </a:r>
            <a:r>
              <a:rPr lang="en-US" sz="2000" dirty="0" err="1"/>
              <a:t>condl</a:t>
            </a:r>
            <a:r>
              <a:rPr lang="en-US" sz="2000" dirty="0"/>
              <a:t> </a:t>
            </a:r>
            <a:r>
              <a:rPr lang="en-US" sz="2000" b="1" dirty="0"/>
              <a:t>AND</a:t>
            </a:r>
            <a:r>
              <a:rPr lang="en-US" sz="2000" dirty="0"/>
              <a:t> cond2) is TRUE if both (</a:t>
            </a:r>
            <a:r>
              <a:rPr lang="en-US" sz="2000" dirty="0" err="1"/>
              <a:t>cond</a:t>
            </a:r>
            <a:r>
              <a:rPr lang="en-US" sz="2000" dirty="0"/>
              <a:t> l ) and (cond2) are TRUE; otherwise, it is FALSE.</a:t>
            </a:r>
          </a:p>
          <a:p>
            <a:pPr lvl="1"/>
            <a:r>
              <a:rPr lang="en-US" sz="2000" dirty="0"/>
              <a:t> (</a:t>
            </a:r>
            <a:r>
              <a:rPr lang="en-US" sz="2000" dirty="0" err="1"/>
              <a:t>cond</a:t>
            </a:r>
            <a:r>
              <a:rPr lang="en-US" sz="2000" dirty="0"/>
              <a:t> l </a:t>
            </a:r>
            <a:r>
              <a:rPr lang="en-US" sz="2000" b="1" dirty="0"/>
              <a:t>OR</a:t>
            </a:r>
            <a:r>
              <a:rPr lang="en-US" sz="2000" dirty="0"/>
              <a:t> cond2) is TRUE if either (</a:t>
            </a:r>
            <a:r>
              <a:rPr lang="en-US" sz="2000" dirty="0" err="1"/>
              <a:t>cond</a:t>
            </a:r>
            <a:r>
              <a:rPr lang="en-US" sz="2000" dirty="0"/>
              <a:t> l ) or (cond2) or both are TRUE; otherwise, it is FALSE.</a:t>
            </a:r>
          </a:p>
          <a:p>
            <a:pPr lvl="1"/>
            <a:r>
              <a:rPr lang="en-US" sz="2000" dirty="0"/>
              <a:t>(</a:t>
            </a:r>
            <a:r>
              <a:rPr lang="en-US" sz="2000" b="1" dirty="0"/>
              <a:t>NOT</a:t>
            </a:r>
            <a:r>
              <a:rPr lang="en-US" sz="2000" dirty="0"/>
              <a:t> </a:t>
            </a:r>
            <a:r>
              <a:rPr lang="en-US" sz="2000" dirty="0" err="1"/>
              <a:t>cond</a:t>
            </a:r>
            <a:r>
              <a:rPr lang="en-US" sz="2000" dirty="0"/>
              <a:t>) is TRUE if </a:t>
            </a:r>
            <a:r>
              <a:rPr lang="en-US" sz="2000" dirty="0" err="1"/>
              <a:t>cond</a:t>
            </a:r>
            <a:r>
              <a:rPr lang="en-US" sz="2000" dirty="0"/>
              <a:t> is FALSE; otherwise, it is FALSE.</a:t>
            </a:r>
          </a:p>
          <a:p>
            <a:r>
              <a:rPr lang="en-US" sz="2400" dirty="0"/>
              <a:t>The SELECT operator is </a:t>
            </a:r>
            <a:r>
              <a:rPr lang="en-US" sz="2400" dirty="0">
                <a:solidFill>
                  <a:srgbClr val="FF0000"/>
                </a:solidFill>
              </a:rPr>
              <a:t>unary</a:t>
            </a:r>
            <a:r>
              <a:rPr lang="en-US" sz="2400" dirty="0"/>
              <a:t>; that is, it is applied to a single relation</a:t>
            </a:r>
          </a:p>
          <a:p>
            <a:r>
              <a:rPr lang="en-US" sz="2400" dirty="0"/>
              <a:t>The degree of the relation resulting from a SELECT operation-</a:t>
            </a:r>
            <a:r>
              <a:rPr lang="en-US" sz="2400" b="1" dirty="0"/>
              <a:t>its number of attributes-is the same as the degree of R.</a:t>
            </a:r>
          </a:p>
          <a:p>
            <a:r>
              <a:rPr lang="en-US" sz="2400" dirty="0"/>
              <a:t>The number of tuples in the resulting relation </a:t>
            </a:r>
            <a:r>
              <a:rPr lang="en-US" sz="2400" b="1" i="1" dirty="0"/>
              <a:t>is always less than or equal to the number of tuples in R</a:t>
            </a:r>
          </a:p>
          <a:p>
            <a:r>
              <a:rPr lang="en-US" sz="2400" dirty="0"/>
              <a:t>Notice that the SELECT operation is commutative; that is, </a:t>
            </a:r>
          </a:p>
          <a:p>
            <a:pPr>
              <a:buNone/>
            </a:pPr>
            <a:r>
              <a:rPr lang="en-US" sz="2400" b="1" i="1" dirty="0"/>
              <a:t>               σ </a:t>
            </a:r>
            <a:r>
              <a:rPr lang="pt-BR" sz="2400" b="1" i="1" dirty="0"/>
              <a:t>&lt;cond1&gt;(</a:t>
            </a:r>
            <a:r>
              <a:rPr lang="en-US" sz="2400" b="1" i="1" dirty="0"/>
              <a:t>σ </a:t>
            </a:r>
            <a:r>
              <a:rPr lang="pt-BR" sz="2400" b="1" i="1" dirty="0"/>
              <a:t>&lt;cond2&gt;(R)) = </a:t>
            </a:r>
            <a:r>
              <a:rPr lang="en-US" sz="2400" b="1" i="1" dirty="0"/>
              <a:t>σ</a:t>
            </a:r>
            <a:r>
              <a:rPr lang="pt-BR" sz="2400" b="1" i="1" dirty="0"/>
              <a:t>&lt;cond2&gt;(</a:t>
            </a:r>
            <a:r>
              <a:rPr lang="en-US" sz="2400" b="1" i="1" dirty="0"/>
              <a:t>σ</a:t>
            </a:r>
            <a:r>
              <a:rPr lang="pt-BR" sz="2400" b="1" i="1" dirty="0"/>
              <a:t> &lt;cond1&gt;(R))</a:t>
            </a:r>
            <a:endParaRPr lang="en-US" sz="2400" b="1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304800"/>
          </a:xfrm>
        </p:spPr>
        <p:txBody>
          <a:bodyPr>
            <a:noAutofit/>
          </a:bodyPr>
          <a:lstStyle/>
          <a:p>
            <a:r>
              <a:rPr lang="en-US" sz="3200" b="1" dirty="0"/>
              <a:t>The project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562600"/>
          </a:xfrm>
        </p:spPr>
        <p:txBody>
          <a:bodyPr>
            <a:normAutofit/>
          </a:bodyPr>
          <a:lstStyle/>
          <a:p>
            <a:r>
              <a:rPr lang="en-US" sz="2400" dirty="0"/>
              <a:t>the SELECT operation selects some of the </a:t>
            </a:r>
            <a:r>
              <a:rPr lang="en-US" sz="2400" b="1" i="1" dirty="0"/>
              <a:t>rows from </a:t>
            </a:r>
            <a:r>
              <a:rPr lang="en-US" sz="2400" i="1" dirty="0"/>
              <a:t>the </a:t>
            </a:r>
            <a:r>
              <a:rPr lang="en-US" sz="2400" dirty="0"/>
              <a:t>table while discarding other rows.</a:t>
            </a:r>
          </a:p>
          <a:p>
            <a:r>
              <a:rPr lang="en-US" sz="2400" dirty="0"/>
              <a:t>The PROJECT operation, on the other hand, </a:t>
            </a:r>
            <a:r>
              <a:rPr lang="en-US" sz="2400" b="1" dirty="0">
                <a:solidFill>
                  <a:srgbClr val="FF0000"/>
                </a:solidFill>
              </a:rPr>
              <a:t>selects certain </a:t>
            </a:r>
            <a:r>
              <a:rPr lang="en-US" sz="2400" b="1" i="1" dirty="0">
                <a:solidFill>
                  <a:srgbClr val="FF0000"/>
                </a:solidFill>
              </a:rPr>
              <a:t>columns from the table and discards the other columns</a:t>
            </a:r>
          </a:p>
          <a:p>
            <a:r>
              <a:rPr lang="en-US" sz="2400" dirty="0"/>
              <a:t>If we are interested in only </a:t>
            </a:r>
            <a:r>
              <a:rPr lang="en-US" sz="2400" dirty="0">
                <a:solidFill>
                  <a:srgbClr val="FF0000"/>
                </a:solidFill>
              </a:rPr>
              <a:t>certain attributes of </a:t>
            </a:r>
            <a:r>
              <a:rPr lang="en-US" sz="2400" dirty="0"/>
              <a:t>a relation, we use the PROJECT operation to </a:t>
            </a:r>
            <a:r>
              <a:rPr lang="en-US" sz="2400" i="1" dirty="0"/>
              <a:t>project the relation over </a:t>
            </a:r>
            <a:r>
              <a:rPr lang="en-US" sz="2400" dirty="0"/>
              <a:t>these attributes only</a:t>
            </a:r>
          </a:p>
          <a:p>
            <a:r>
              <a:rPr lang="en-US" sz="2400" dirty="0"/>
              <a:t>The result of the PROJECT operation can hence be visualized as a </a:t>
            </a:r>
            <a:r>
              <a:rPr lang="en-US" sz="2400" b="1" i="1" dirty="0">
                <a:solidFill>
                  <a:srgbClr val="FF0000"/>
                </a:solidFill>
              </a:rPr>
              <a:t>vertical partition of the relation into two relations</a:t>
            </a:r>
            <a:r>
              <a:rPr lang="en-US" sz="2400" i="1" dirty="0"/>
              <a:t>: one has the needed columns </a:t>
            </a:r>
            <a:r>
              <a:rPr lang="en-US" sz="2400" dirty="0"/>
              <a:t>(attributes) and contains the result of the operation, and the other contains the discarded columns.</a:t>
            </a:r>
          </a:p>
          <a:p>
            <a:r>
              <a:rPr lang="en-US" sz="2400" b="1" dirty="0"/>
              <a:t>For example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to list each employee's first and last name and salary, we can use the PROJECT operation as follows</a:t>
            </a:r>
            <a:r>
              <a:rPr lang="en-US" sz="2400" dirty="0"/>
              <a:t>:</a:t>
            </a:r>
          </a:p>
          <a:p>
            <a:pPr>
              <a:buNone/>
            </a:pPr>
            <a:r>
              <a:rPr lang="en-US" sz="2400" b="1" dirty="0"/>
              <a:t>                  </a:t>
            </a:r>
            <a:r>
              <a:rPr lang="en-US" sz="2400" b="1" dirty="0">
                <a:latin typeface="SimHei"/>
                <a:ea typeface="SimHei"/>
              </a:rPr>
              <a:t>∏</a:t>
            </a:r>
            <a:r>
              <a:rPr lang="en-US" sz="2000" i="1" dirty="0"/>
              <a:t>LNAME, FNAME, SALARY( EMPLOYEE)</a:t>
            </a:r>
            <a:endParaRPr lang="en-US" sz="24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The general form of the PROJECT operation is </a:t>
            </a:r>
          </a:p>
          <a:p>
            <a:pPr>
              <a:buNone/>
            </a:pPr>
            <a:r>
              <a:rPr lang="en-US" sz="2400" b="1" dirty="0">
                <a:latin typeface="SimHei"/>
                <a:ea typeface="SimHei"/>
              </a:rPr>
              <a:t>      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b="1" i="1" dirty="0"/>
              <a:t>&lt;attribute list&gt; (R)</a:t>
            </a:r>
          </a:p>
          <a:p>
            <a:r>
              <a:rPr lang="en-US" sz="2400" dirty="0"/>
              <a:t>where </a:t>
            </a:r>
            <a:r>
              <a:rPr lang="en-US" sz="2400" b="1" i="1" dirty="0">
                <a:latin typeface="SimHei"/>
                <a:ea typeface="SimHei"/>
              </a:rPr>
              <a:t>∏ </a:t>
            </a:r>
            <a:r>
              <a:rPr lang="en-US" sz="2400" dirty="0"/>
              <a:t> (pi) is the symbol used to represent the PROJECT operation, and &lt;attribute list&gt; is the desired list of attributes from the attributes of relation R</a:t>
            </a:r>
          </a:p>
          <a:p>
            <a:r>
              <a:rPr lang="en-US" sz="2400" dirty="0"/>
              <a:t>The result of the PROJECT operation </a:t>
            </a:r>
            <a:r>
              <a:rPr lang="en-US" sz="2400" b="1" dirty="0">
                <a:solidFill>
                  <a:srgbClr val="FF0000"/>
                </a:solidFill>
              </a:rPr>
              <a:t>has only the attributes specified in &lt;attribute list&gt;</a:t>
            </a:r>
            <a:r>
              <a:rPr lang="en-US" sz="2400" dirty="0"/>
              <a:t> in </a:t>
            </a:r>
            <a:r>
              <a:rPr lang="en-US" sz="2400" i="1" dirty="0"/>
              <a:t>the same order as they appear in the list. </a:t>
            </a:r>
          </a:p>
          <a:p>
            <a:pPr lvl="1"/>
            <a:r>
              <a:rPr lang="en-US" sz="2000" i="1" dirty="0"/>
              <a:t>Hence, its </a:t>
            </a:r>
            <a:r>
              <a:rPr lang="en-US" sz="2000" dirty="0"/>
              <a:t>degree is equal to the number of attributes in &lt;attribute list&gt;.</a:t>
            </a:r>
          </a:p>
          <a:p>
            <a:r>
              <a:rPr lang="en-US" sz="2400" dirty="0"/>
              <a:t>The number of tuples in a relation resulting from a PROJECT operation is always less than or </a:t>
            </a:r>
            <a:r>
              <a:rPr lang="en-US" sz="2400" dirty="0">
                <a:solidFill>
                  <a:srgbClr val="FF0000"/>
                </a:solidFill>
              </a:rPr>
              <a:t>equal to the number of tuples in R</a:t>
            </a:r>
            <a:r>
              <a:rPr lang="en-US" sz="2400" dirty="0"/>
              <a:t>.</a:t>
            </a:r>
          </a:p>
          <a:p>
            <a:r>
              <a:rPr lang="en-US" sz="2400" dirty="0"/>
              <a:t>In projection 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b="1" dirty="0"/>
              <a:t>&lt;Iist1 &gt; (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b="1" dirty="0"/>
              <a:t>&lt;list2&gt;)) = 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b="1" dirty="0"/>
              <a:t> &lt;list1&gt;(R) </a:t>
            </a:r>
            <a:r>
              <a:rPr lang="en-US" sz="2400" dirty="0"/>
              <a:t>as long as </a:t>
            </a:r>
            <a:r>
              <a:rPr lang="en-US" sz="2400" b="1" dirty="0"/>
              <a:t>&lt;</a:t>
            </a:r>
            <a:r>
              <a:rPr lang="en-US" sz="2400" b="1" dirty="0" err="1"/>
              <a:t>Iist</a:t>
            </a:r>
            <a:r>
              <a:rPr lang="en-US" sz="2400" b="1" dirty="0"/>
              <a:t> 2&gt; contains the attributes in &lt;list1 &gt;; </a:t>
            </a:r>
            <a:r>
              <a:rPr lang="en-US" sz="2400" dirty="0"/>
              <a:t>otherwise, the left-hand side is an incorrect expression</a:t>
            </a:r>
          </a:p>
          <a:p>
            <a:pPr lvl="1"/>
            <a:r>
              <a:rPr lang="en-US" sz="2000" dirty="0"/>
              <a:t>commutatively </a:t>
            </a:r>
            <a:r>
              <a:rPr lang="en-US" sz="2000" i="1" dirty="0"/>
              <a:t>does not hold on PROJECT</a:t>
            </a:r>
            <a:endParaRPr lang="en-US" sz="2000" dirty="0"/>
          </a:p>
          <a:p>
            <a:pPr>
              <a:buNone/>
            </a:pPr>
            <a:endParaRPr lang="en-US" sz="2400" b="1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458200" cy="381000"/>
          </a:xfrm>
        </p:spPr>
        <p:txBody>
          <a:bodyPr>
            <a:noAutofit/>
          </a:bodyPr>
          <a:lstStyle/>
          <a:p>
            <a:r>
              <a:rPr lang="en-US" sz="2800" b="1" dirty="0"/>
              <a:t>Sequences of Operations and the RENAME Operation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we may want to apply several relational algebra operations one after the other.</a:t>
            </a:r>
          </a:p>
          <a:p>
            <a:r>
              <a:rPr lang="en-US" sz="2400" dirty="0"/>
              <a:t>Either we can write the operations </a:t>
            </a:r>
            <a:r>
              <a:rPr lang="en-US" sz="2400" b="1" dirty="0">
                <a:solidFill>
                  <a:srgbClr val="FF0000"/>
                </a:solidFill>
              </a:rPr>
              <a:t>as a single relational algebra </a:t>
            </a:r>
            <a:r>
              <a:rPr lang="en-US" sz="2400" dirty="0"/>
              <a:t>expression by nesting the operations, or </a:t>
            </a:r>
            <a:r>
              <a:rPr lang="en-US" sz="2400" b="1" dirty="0">
                <a:solidFill>
                  <a:srgbClr val="FF0000"/>
                </a:solidFill>
              </a:rPr>
              <a:t>we can apply one operation at a time and create intermediate result relations</a:t>
            </a:r>
            <a:r>
              <a:rPr lang="en-US" sz="2400" dirty="0"/>
              <a:t>.</a:t>
            </a:r>
          </a:p>
          <a:p>
            <a:r>
              <a:rPr lang="en-US" sz="2400" dirty="0"/>
              <a:t>In the  case of intermediate result , we must give names to the relations that hold the intermediate results.</a:t>
            </a:r>
          </a:p>
          <a:p>
            <a:r>
              <a:rPr lang="en-US" sz="2400" b="1" dirty="0"/>
              <a:t>For example</a:t>
            </a:r>
            <a:r>
              <a:rPr lang="en-US" sz="2400" dirty="0"/>
              <a:t>:  </a:t>
            </a:r>
            <a:r>
              <a:rPr lang="en-US" sz="2400" b="1" dirty="0"/>
              <a:t>to retrieve the first name, last name, and salary of all employees who work in department number 5, we must apply a SELECT and a PROJECT operation</a:t>
            </a:r>
            <a:r>
              <a:rPr lang="en-US" sz="2400" dirty="0"/>
              <a:t>. </a:t>
            </a:r>
          </a:p>
          <a:p>
            <a:r>
              <a:rPr lang="en-US" sz="2400" dirty="0"/>
              <a:t>We can write a single relational algebra expression as follows:</a:t>
            </a:r>
          </a:p>
          <a:p>
            <a:pPr>
              <a:buNone/>
            </a:pPr>
            <a:r>
              <a:rPr lang="en-US" sz="2800" b="1" i="1" dirty="0">
                <a:latin typeface="SimHei"/>
                <a:ea typeface="SimHei"/>
              </a:rPr>
              <a:t>    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b="1" i="1" dirty="0"/>
              <a:t> </a:t>
            </a:r>
            <a:r>
              <a:rPr lang="en-US" sz="1600" b="1" i="1" dirty="0"/>
              <a:t>FNAME, LNAME, SALARY(</a:t>
            </a:r>
            <a:r>
              <a:rPr lang="en-US" sz="2000" b="1" i="1" dirty="0" err="1"/>
              <a:t>σ</a:t>
            </a:r>
            <a:r>
              <a:rPr lang="en-US" sz="1600" b="1" i="1" dirty="0" err="1"/>
              <a:t>DNO</a:t>
            </a:r>
            <a:r>
              <a:rPr lang="en-US" sz="1600" b="1" i="1" dirty="0"/>
              <a:t>=5 (EMPLOYEE))</a:t>
            </a:r>
            <a:endParaRPr lang="en-US" sz="1800" b="1" i="1" dirty="0"/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Alternatively, we can explicitly show the </a:t>
            </a:r>
            <a:r>
              <a:rPr lang="en-US" sz="2400" b="1" dirty="0"/>
              <a:t>sequence of operations</a:t>
            </a:r>
            <a:r>
              <a:rPr lang="en-US" sz="2400" dirty="0"/>
              <a:t>, giving a name to each intermediate relation</a:t>
            </a:r>
          </a:p>
          <a:p>
            <a:pPr lvl="1">
              <a:buNone/>
            </a:pPr>
            <a:r>
              <a:rPr lang="en-US" sz="2000" dirty="0"/>
              <a:t>DEP5_EMPS</a:t>
            </a:r>
            <a:r>
              <a:rPr lang="en-US" sz="2000" dirty="0">
                <a:sym typeface="Wingdings" pitchFamily="2" charset="2"/>
              </a:rPr>
              <a:t></a:t>
            </a:r>
            <a:r>
              <a:rPr lang="en-US" sz="2000" b="1" i="1" dirty="0"/>
              <a:t> </a:t>
            </a:r>
            <a:r>
              <a:rPr lang="en-US" b="1" i="1" dirty="0" err="1"/>
              <a:t>σ</a:t>
            </a:r>
            <a:r>
              <a:rPr lang="en-US" sz="1800" b="1" i="1" dirty="0" err="1"/>
              <a:t>DNO</a:t>
            </a:r>
            <a:r>
              <a:rPr lang="en-US" sz="1800" b="1" i="1" dirty="0"/>
              <a:t>=5 (EMPLOYEE)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RESULT</a:t>
            </a:r>
            <a:r>
              <a:rPr lang="en-US" sz="2000" dirty="0">
                <a:sym typeface="Wingdings" pitchFamily="2" charset="2"/>
              </a:rPr>
              <a:t></a:t>
            </a:r>
            <a:r>
              <a:rPr lang="en-US" sz="2000" b="1" i="1" dirty="0">
                <a:latin typeface="SimHei"/>
                <a:ea typeface="SimHei"/>
              </a:rPr>
              <a:t>∏</a:t>
            </a:r>
            <a:r>
              <a:rPr lang="en-US" sz="2000" dirty="0"/>
              <a:t> FNAME, LNAME,SALARY (DEP5_EMPS)</a:t>
            </a:r>
          </a:p>
          <a:p>
            <a:pPr>
              <a:buNone/>
            </a:pPr>
            <a:r>
              <a:rPr lang="en-US" sz="2400" dirty="0"/>
              <a:t>Note:</a:t>
            </a:r>
          </a:p>
          <a:p>
            <a:r>
              <a:rPr lang="en-US" sz="2400" dirty="0"/>
              <a:t>It is often simpler to </a:t>
            </a:r>
            <a:r>
              <a:rPr lang="en-US" sz="2400" b="1" i="1" dirty="0"/>
              <a:t>break down a complex sequence of operations by specifying intermediate result relations than to write a single relational algebra expression</a:t>
            </a:r>
          </a:p>
          <a:p>
            <a:endParaRPr lang="en-US" sz="2400" dirty="0"/>
          </a:p>
          <a:p>
            <a:pPr lvl="1">
              <a:buNone/>
            </a:pPr>
            <a:endParaRPr lang="en-US" sz="2000" dirty="0"/>
          </a:p>
          <a:p>
            <a:pPr lvl="1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"/>
            <a:ext cx="9143999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458200" cy="457200"/>
          </a:xfrm>
        </p:spPr>
        <p:txBody>
          <a:bodyPr>
            <a:noAutofit/>
          </a:bodyPr>
          <a:lstStyle/>
          <a:p>
            <a:r>
              <a:rPr lang="en-US" sz="2400" b="1" dirty="0"/>
              <a:t>RELATIONAL ALGEBRA OPERATIONS FROM SET THEORY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400" b="1" dirty="0"/>
              <a:t>The UNION, INTERSECTION, and MINUS Operations</a:t>
            </a:r>
          </a:p>
          <a:p>
            <a:r>
              <a:rPr lang="en-US" sz="2400" dirty="0"/>
              <a:t>These are standard mathematical operations on sets</a:t>
            </a:r>
          </a:p>
          <a:p>
            <a:r>
              <a:rPr lang="en-US" sz="2400" dirty="0"/>
              <a:t>When these operations are adapted to relational databases, the two relations on which any of these three operations are applied must </a:t>
            </a:r>
            <a:r>
              <a:rPr lang="en-US" sz="2400" b="1" dirty="0"/>
              <a:t>have the same type of tuples</a:t>
            </a:r>
            <a:r>
              <a:rPr lang="en-US" sz="2400" dirty="0"/>
              <a:t>; </a:t>
            </a:r>
          </a:p>
          <a:p>
            <a:r>
              <a:rPr lang="en-US" sz="2400" dirty="0"/>
              <a:t>This condition has been called </a:t>
            </a:r>
            <a:r>
              <a:rPr lang="en-US" sz="2400" b="1" i="1" dirty="0"/>
              <a:t>union compatibility</a:t>
            </a:r>
            <a:r>
              <a:rPr lang="en-US" sz="2400" i="1" dirty="0"/>
              <a:t>. </a:t>
            </a:r>
          </a:p>
          <a:p>
            <a:r>
              <a:rPr lang="en-US" sz="2400" i="1" dirty="0"/>
              <a:t>Two relations R(A1, </a:t>
            </a:r>
            <a:r>
              <a:rPr lang="en-US" sz="2400" i="1" dirty="0" err="1"/>
              <a:t>Az</a:t>
            </a:r>
            <a:r>
              <a:rPr lang="en-US" sz="2400" i="1" dirty="0"/>
              <a:t>, ... , An) and S(B 1, </a:t>
            </a:r>
            <a:r>
              <a:rPr lang="en-US" sz="2400" i="1" dirty="0" err="1"/>
              <a:t>Bz</a:t>
            </a:r>
            <a:r>
              <a:rPr lang="en-US" sz="2400" i="1" dirty="0"/>
              <a:t>, ... , </a:t>
            </a:r>
            <a:r>
              <a:rPr lang="en-US" sz="2400" i="1" dirty="0" err="1"/>
              <a:t>Bn</a:t>
            </a:r>
            <a:r>
              <a:rPr lang="en-US" sz="2400" i="1" dirty="0"/>
              <a:t>) are said </a:t>
            </a:r>
            <a:r>
              <a:rPr lang="en-US" sz="2400" dirty="0"/>
              <a:t>to be union compatible if they have the same degree n and if </a:t>
            </a:r>
            <a:r>
              <a:rPr lang="en-US" sz="2400" dirty="0" err="1"/>
              <a:t>dom</a:t>
            </a:r>
            <a:r>
              <a:rPr lang="en-US" sz="2400" dirty="0"/>
              <a:t>(Ai) = </a:t>
            </a:r>
            <a:r>
              <a:rPr lang="en-US" sz="2400" dirty="0" err="1"/>
              <a:t>dom</a:t>
            </a:r>
            <a:r>
              <a:rPr lang="en-US" sz="2400" dirty="0"/>
              <a:t>(Bi) for 1 &lt;</a:t>
            </a:r>
            <a:r>
              <a:rPr lang="en-US" sz="2400" dirty="0" err="1"/>
              <a:t>i</a:t>
            </a:r>
            <a:r>
              <a:rPr lang="en-US" sz="2400" dirty="0"/>
              <a:t>&lt;=n</a:t>
            </a:r>
          </a:p>
          <a:p>
            <a:r>
              <a:rPr lang="en-US" sz="2400" i="1" dirty="0"/>
              <a:t>This means that the two relations have the </a:t>
            </a:r>
            <a:r>
              <a:rPr lang="en-US" sz="2400" b="1" i="1" dirty="0"/>
              <a:t>same number of attributes, and each </a:t>
            </a:r>
            <a:r>
              <a:rPr lang="en-US" sz="2400" b="1" dirty="0"/>
              <a:t>corresponding pair of attributes has the same domain.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8991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i="1" dirty="0"/>
              <a:t>UNION</a:t>
            </a:r>
          </a:p>
          <a:p>
            <a:r>
              <a:rPr lang="en-US" sz="2800" dirty="0"/>
              <a:t>The result of this operation, denoted by R U S, is a relation that includes all tuples that are </a:t>
            </a:r>
            <a:r>
              <a:rPr lang="en-US" sz="2800" b="1" dirty="0"/>
              <a:t>either in R or in S </a:t>
            </a:r>
            <a:r>
              <a:rPr lang="en-US" sz="2800" dirty="0"/>
              <a:t>or </a:t>
            </a:r>
            <a:r>
              <a:rPr lang="en-US" sz="2800" b="1" dirty="0"/>
              <a:t>in both R and S</a:t>
            </a:r>
            <a:r>
              <a:rPr lang="en-US" sz="2800" dirty="0"/>
              <a:t>. </a:t>
            </a:r>
            <a:r>
              <a:rPr lang="en-US" sz="2800" b="1" dirty="0"/>
              <a:t>Duplicate tuples are  eliminated. </a:t>
            </a:r>
            <a:endParaRPr lang="en-US" sz="2800" b="1" i="1" dirty="0"/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For example:</a:t>
            </a:r>
          </a:p>
          <a:p>
            <a:r>
              <a:rPr lang="en-US" sz="2800" dirty="0"/>
              <a:t> to retrieve the </a:t>
            </a:r>
            <a:r>
              <a:rPr lang="en-US" sz="2800" b="1" dirty="0"/>
              <a:t>social security </a:t>
            </a:r>
            <a:r>
              <a:rPr lang="en-US" sz="2800" dirty="0"/>
              <a:t>numbers of all </a:t>
            </a:r>
            <a:r>
              <a:rPr lang="en-US" sz="2800" b="1" dirty="0"/>
              <a:t>employees who either work in department 5</a:t>
            </a:r>
            <a:r>
              <a:rPr lang="en-US" sz="2800" dirty="0"/>
              <a:t> or </a:t>
            </a:r>
            <a:r>
              <a:rPr lang="en-US" sz="2800" b="1" dirty="0"/>
              <a:t>directly supervise an employee </a:t>
            </a:r>
            <a:r>
              <a:rPr lang="en-US" sz="2800" dirty="0"/>
              <a:t>who works in department 5, we can use the UNION operation as follows:</a:t>
            </a:r>
          </a:p>
          <a:p>
            <a:pPr lvl="1">
              <a:buNone/>
            </a:pPr>
            <a:r>
              <a:rPr lang="en-US" sz="2400" i="1" dirty="0"/>
              <a:t>DEP5_EMPS</a:t>
            </a:r>
            <a:r>
              <a:rPr lang="en-US" sz="2400" i="1" dirty="0">
                <a:sym typeface="Wingdings" pitchFamily="2" charset="2"/>
              </a:rPr>
              <a:t></a:t>
            </a:r>
            <a:r>
              <a:rPr lang="en-US" sz="2400" b="1" i="1" dirty="0"/>
              <a:t>σ</a:t>
            </a:r>
            <a:r>
              <a:rPr lang="en-US" sz="2400" i="1" dirty="0"/>
              <a:t>DNO=5 (EMPLOYEE)</a:t>
            </a:r>
          </a:p>
          <a:p>
            <a:pPr lvl="1">
              <a:buNone/>
            </a:pPr>
            <a:r>
              <a:rPr lang="en-US" sz="2400" i="1" dirty="0"/>
              <a:t>RESULT1</a:t>
            </a:r>
            <a:r>
              <a:rPr lang="en-US" sz="2400" i="1" dirty="0">
                <a:sym typeface="Wingdings" pitchFamily="2" charset="2"/>
              </a:rPr>
              <a:t>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i="1" dirty="0"/>
              <a:t>SSN (DEP5_EMPS)</a:t>
            </a:r>
          </a:p>
          <a:p>
            <a:pPr lvl="1">
              <a:buNone/>
            </a:pPr>
            <a:r>
              <a:rPr lang="en-US" sz="2400" i="1" dirty="0"/>
              <a:t>RESULT2 (SSN)</a:t>
            </a:r>
            <a:r>
              <a:rPr lang="en-US" sz="2400" i="1" dirty="0">
                <a:sym typeface="Wingdings" pitchFamily="2" charset="2"/>
              </a:rPr>
              <a:t></a:t>
            </a:r>
            <a:r>
              <a:rPr lang="en-US" sz="2400" i="1" dirty="0"/>
              <a:t> </a:t>
            </a:r>
            <a:r>
              <a:rPr lang="en-US" sz="2400" b="1" i="1" dirty="0">
                <a:latin typeface="SimHei"/>
                <a:ea typeface="SimHei"/>
              </a:rPr>
              <a:t>∏</a:t>
            </a:r>
            <a:r>
              <a:rPr lang="en-US" sz="2400" i="1" dirty="0"/>
              <a:t>SUPERSSN (DEP5_EMPS)</a:t>
            </a:r>
          </a:p>
          <a:p>
            <a:pPr lvl="1">
              <a:buNone/>
            </a:pPr>
            <a:r>
              <a:rPr lang="en-US" sz="2400" i="1" dirty="0"/>
              <a:t>RESULT</a:t>
            </a:r>
            <a:r>
              <a:rPr lang="en-US" sz="2400" i="1" dirty="0">
                <a:sym typeface="Wingdings" pitchFamily="2" charset="2"/>
              </a:rPr>
              <a:t> </a:t>
            </a:r>
            <a:r>
              <a:rPr lang="en-US" sz="2400" i="1" dirty="0"/>
              <a:t>RESULT1 U RESULT2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relation RESULT1 has the social security numbers of all employees who work in department 5, </a:t>
            </a:r>
          </a:p>
          <a:p>
            <a:r>
              <a:rPr lang="en-US" dirty="0"/>
              <a:t>whereas RESULT2 has the social security numbers of all employees who directly supervise an employee who works in department 5.</a:t>
            </a:r>
          </a:p>
          <a:p>
            <a:r>
              <a:rPr lang="en-US" dirty="0"/>
              <a:t>The UNION operation produces the </a:t>
            </a:r>
            <a:r>
              <a:rPr lang="en-US" dirty="0" err="1"/>
              <a:t>tuples</a:t>
            </a:r>
            <a:r>
              <a:rPr lang="en-US" dirty="0"/>
              <a:t> that are in either RESULT1 or RESULT2 or both. </a:t>
            </a:r>
          </a:p>
          <a:p>
            <a:r>
              <a:rPr lang="en-US" dirty="0"/>
              <a:t>Note that the SSN value 333445555 appears only once in the result.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71600"/>
            <a:ext cx="9144000" cy="231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Intersection:</a:t>
            </a:r>
          </a:p>
          <a:p>
            <a:r>
              <a:rPr lang="en-US" sz="2400" dirty="0"/>
              <a:t>The result of this operation, denoted by R n S, is a relation that includes all tuples that are in both Rand S.</a:t>
            </a:r>
          </a:p>
          <a:p>
            <a:pPr>
              <a:buNone/>
            </a:pPr>
            <a:r>
              <a:rPr lang="en-US" sz="2400" b="1" dirty="0"/>
              <a:t>Set difference (or MINUS)</a:t>
            </a:r>
          </a:p>
          <a:p>
            <a:r>
              <a:rPr lang="en-US" sz="2400" dirty="0"/>
              <a:t>The result of this operation, denoted by R - S, is a relation that includes all tuples that are in R but not in S.</a:t>
            </a:r>
          </a:p>
          <a:p>
            <a:r>
              <a:rPr lang="en-US" sz="2400" dirty="0"/>
              <a:t>Figure 6,4 illustrates the three operations. </a:t>
            </a:r>
          </a:p>
          <a:p>
            <a:r>
              <a:rPr lang="en-US" sz="2400" dirty="0"/>
              <a:t>The relations STUDENT and  INSTRUCTOR in Figure 6,4a are union compatible, and their tuples represent the names of students and instructors, respectively. </a:t>
            </a:r>
          </a:p>
          <a:p>
            <a:r>
              <a:rPr lang="en-US" sz="2400" dirty="0"/>
              <a:t>The result of the UNION operation in Figure 6,4b shows the names of all students and instructors. </a:t>
            </a:r>
          </a:p>
          <a:p>
            <a:r>
              <a:rPr lang="en-US" sz="2400" dirty="0"/>
              <a:t>Note that duplicate tuples appear only once in the result. The result of the INTERSECTION operation (Figure 6,4c) includes only those who are both students and instructors.</a:t>
            </a:r>
            <a:endParaRPr lang="en-US" sz="2400" b="1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8562" y="152400"/>
            <a:ext cx="91440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458200" cy="3048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Cartesian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0" y="1066800"/>
            <a:ext cx="9144000" cy="6477000"/>
          </a:xfrm>
        </p:spPr>
        <p:txBody>
          <a:bodyPr>
            <a:normAutofit/>
          </a:bodyPr>
          <a:lstStyle/>
          <a:p>
            <a:r>
              <a:rPr lang="en-US" sz="2400" dirty="0"/>
              <a:t>The CARTESIAN PRODUCT operation-also known as CROSS PRODUCT or CROSS JOIN-which is denoted by x</a:t>
            </a:r>
          </a:p>
          <a:p>
            <a:r>
              <a:rPr lang="en-US" sz="2400" dirty="0"/>
              <a:t>This operation is used to combine tuples from two relations in a combinatorial fashion.</a:t>
            </a:r>
          </a:p>
          <a:p>
            <a:r>
              <a:rPr lang="en-US" sz="2400" dirty="0"/>
              <a:t>In general, the result of R(A j , </a:t>
            </a:r>
            <a:r>
              <a:rPr lang="en-US" sz="2400" dirty="0" err="1"/>
              <a:t>Az</a:t>
            </a:r>
            <a:r>
              <a:rPr lang="en-US" sz="2400" dirty="0"/>
              <a:t>, ... , </a:t>
            </a:r>
            <a:r>
              <a:rPr lang="en-US" sz="2400" i="1" dirty="0"/>
              <a:t>An) X S(</a:t>
            </a:r>
            <a:r>
              <a:rPr lang="en-US" sz="2400" i="1" dirty="0" err="1"/>
              <a:t>Bj</a:t>
            </a:r>
            <a:r>
              <a:rPr lang="en-US" sz="2400" i="1" dirty="0"/>
              <a:t> , </a:t>
            </a:r>
            <a:r>
              <a:rPr lang="en-US" sz="2400" i="1" dirty="0" err="1"/>
              <a:t>Bz</a:t>
            </a:r>
            <a:r>
              <a:rPr lang="en-US" sz="2400" i="1" dirty="0"/>
              <a:t>, ... , </a:t>
            </a:r>
            <a:r>
              <a:rPr lang="en-US" sz="2400" i="1" dirty="0" err="1"/>
              <a:t>Bm</a:t>
            </a:r>
            <a:r>
              <a:rPr lang="en-US" sz="2400" i="1" dirty="0"/>
              <a:t>) is a relation Q with degree </a:t>
            </a:r>
            <a:r>
              <a:rPr lang="en-US" sz="2400" i="1" dirty="0">
                <a:solidFill>
                  <a:srgbClr val="FF0000"/>
                </a:solidFill>
              </a:rPr>
              <a:t>n + m </a:t>
            </a:r>
            <a:r>
              <a:rPr lang="en-US" sz="2400" i="1" dirty="0"/>
              <a:t>attributes Q(</a:t>
            </a:r>
            <a:r>
              <a:rPr lang="en-US" sz="2400" i="1" dirty="0" err="1"/>
              <a:t>Aj</a:t>
            </a:r>
            <a:r>
              <a:rPr lang="en-US" sz="2400" i="1" dirty="0"/>
              <a:t> , </a:t>
            </a:r>
            <a:r>
              <a:rPr lang="en-US" sz="2400" dirty="0" err="1"/>
              <a:t>Az</a:t>
            </a:r>
            <a:r>
              <a:rPr lang="en-US" sz="2400" dirty="0"/>
              <a:t>' ... , </a:t>
            </a:r>
            <a:r>
              <a:rPr lang="en-US" sz="2400" i="1" dirty="0"/>
              <a:t>An' </a:t>
            </a:r>
            <a:r>
              <a:rPr lang="en-US" sz="2400" i="1" dirty="0" err="1"/>
              <a:t>Bj</a:t>
            </a:r>
            <a:r>
              <a:rPr lang="en-US" sz="2400" i="1" dirty="0"/>
              <a:t> , </a:t>
            </a:r>
            <a:r>
              <a:rPr lang="en-US" sz="2400" i="1" dirty="0" err="1"/>
              <a:t>Bz</a:t>
            </a:r>
            <a:r>
              <a:rPr lang="en-US" sz="2400" i="1" dirty="0"/>
              <a:t>, ... , </a:t>
            </a:r>
            <a:r>
              <a:rPr lang="en-US" sz="2400" i="1" dirty="0" err="1"/>
              <a:t>Bm</a:t>
            </a:r>
            <a:r>
              <a:rPr lang="en-US" sz="2400" i="1" dirty="0"/>
              <a:t>), in that order</a:t>
            </a:r>
          </a:p>
          <a:p>
            <a:r>
              <a:rPr lang="en-US" sz="2400" dirty="0"/>
              <a:t>The resulting relation Q has one tuple for each combination of </a:t>
            </a:r>
            <a:r>
              <a:rPr lang="en-US" sz="2400" dirty="0" err="1"/>
              <a:t>tuples</a:t>
            </a:r>
            <a:r>
              <a:rPr lang="en-US" sz="2400" dirty="0"/>
              <a:t>-one from R and one from S.</a:t>
            </a:r>
          </a:p>
          <a:p>
            <a:r>
              <a:rPr lang="en-US" sz="2400" dirty="0"/>
              <a:t>Hence, if R has </a:t>
            </a:r>
            <a:r>
              <a:rPr lang="en-US" sz="2400" b="1" dirty="0" err="1"/>
              <a:t>nR</a:t>
            </a:r>
            <a:r>
              <a:rPr lang="en-US" sz="2400" b="1" dirty="0"/>
              <a:t> </a:t>
            </a:r>
            <a:r>
              <a:rPr lang="en-US" sz="2400" dirty="0"/>
              <a:t>tuples (denoted as IRI = </a:t>
            </a:r>
            <a:r>
              <a:rPr lang="en-US" sz="2400" i="1" dirty="0" err="1"/>
              <a:t>nR</a:t>
            </a:r>
            <a:r>
              <a:rPr lang="en-US" sz="2400" i="1" dirty="0"/>
              <a:t> ), and S has </a:t>
            </a:r>
            <a:r>
              <a:rPr lang="en-US" sz="2400" b="1" i="1" dirty="0"/>
              <a:t>ns</a:t>
            </a:r>
            <a:r>
              <a:rPr lang="en-US" sz="2400" i="1" dirty="0"/>
              <a:t> tuples, then Rx S will have </a:t>
            </a:r>
            <a:r>
              <a:rPr lang="en-US" sz="2400" i="1" dirty="0" err="1"/>
              <a:t>nR</a:t>
            </a:r>
            <a:r>
              <a:rPr lang="en-US" sz="2400" i="1" dirty="0"/>
              <a:t> * ns </a:t>
            </a:r>
            <a:r>
              <a:rPr lang="en-US" sz="2400" i="1" dirty="0" err="1"/>
              <a:t>tuples</a:t>
            </a:r>
            <a:r>
              <a:rPr lang="en-US" sz="2400" i="1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228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7056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endParaRPr lang="en-US" sz="1600" b="1" i="1" dirty="0"/>
          </a:p>
          <a:p>
            <a:pPr lvl="1">
              <a:lnSpc>
                <a:spcPct val="150000"/>
              </a:lnSpc>
            </a:pPr>
            <a:r>
              <a:rPr lang="en-US" sz="1600" b="1" i="1" dirty="0"/>
              <a:t>For example, suppose that we want to retrieve a list of names of </a:t>
            </a:r>
            <a:r>
              <a:rPr lang="en-US" sz="1600" b="1" i="1" dirty="0">
                <a:solidFill>
                  <a:srgbClr val="FF0000"/>
                </a:solidFill>
              </a:rPr>
              <a:t>each female employee's dependents</a:t>
            </a:r>
            <a:endParaRPr lang="en-US" sz="16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sz="1600" dirty="0" err="1"/>
              <a:t>FEMALE_EMPS</a:t>
            </a:r>
            <a:r>
              <a:rPr lang="en-US" sz="1600" dirty="0" err="1">
                <a:sym typeface="Wingdings" pitchFamily="2" charset="2"/>
              </a:rPr>
              <a:t></a:t>
            </a:r>
            <a:r>
              <a:rPr lang="en-US" sz="2400" b="1" i="1" dirty="0" err="1"/>
              <a:t>σ</a:t>
            </a:r>
            <a:r>
              <a:rPr lang="en-US" sz="1600" dirty="0" err="1"/>
              <a:t>SEX</a:t>
            </a:r>
            <a:r>
              <a:rPr lang="en-US" sz="1600" dirty="0"/>
              <a:t>=' F' (EMPLOYEE)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1600" dirty="0"/>
              <a:t>EMPNAMES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sz="1600" b="1" i="1" dirty="0">
                <a:latin typeface="SimHei"/>
                <a:ea typeface="SimHei"/>
              </a:rPr>
              <a:t>∏</a:t>
            </a:r>
            <a:r>
              <a:rPr lang="en-US" sz="1600" dirty="0"/>
              <a:t>FNAME, LNAME, SSN (FEMALE_EMPS)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1600" dirty="0"/>
              <a:t>EMP_DEPENDENTS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sz="1600" dirty="0"/>
              <a:t>EMPNAMES X DEPENDENT</a:t>
            </a:r>
          </a:p>
          <a:p>
            <a:pPr lvl="1">
              <a:buNone/>
            </a:pPr>
            <a:r>
              <a:rPr lang="en-US" sz="1600" dirty="0"/>
              <a:t>ACTUAL_DEPENDENTS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b="1" i="1" dirty="0"/>
              <a:t>σ</a:t>
            </a:r>
            <a:r>
              <a:rPr lang="en-US" sz="1600" dirty="0"/>
              <a:t>SSN=ESSN (EMP_DEPENDENTS)</a:t>
            </a:r>
          </a:p>
          <a:p>
            <a:pPr lvl="1">
              <a:buNone/>
            </a:pPr>
            <a:r>
              <a:rPr lang="en-US" sz="1600" dirty="0"/>
              <a:t>RESULT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sz="1600" b="1" i="1" dirty="0">
                <a:latin typeface="SimHei"/>
                <a:ea typeface="SimHei"/>
              </a:rPr>
              <a:t>∏</a:t>
            </a:r>
            <a:r>
              <a:rPr lang="en-US" sz="1600" dirty="0"/>
              <a:t>FNAME, LNAME, DEPENDENLNAME (ACTUAL_DEPENDENTS</a:t>
            </a:r>
            <a:r>
              <a:rPr lang="en-US" dirty="0"/>
              <a:t>)</a:t>
            </a:r>
          </a:p>
          <a:p>
            <a:r>
              <a:rPr lang="en-US" sz="2400" dirty="0"/>
              <a:t>In EMP_DEPENDENTS, every tuple from EMPNAMES is combined with every tuple from DEPENDENT, giving a result that is not very meaningful</a:t>
            </a:r>
          </a:p>
          <a:p>
            <a:r>
              <a:rPr lang="en-US" sz="2400" dirty="0"/>
              <a:t>We want to combine a female employee tuple only with her  particular dependents-namely, the DEPENDENT tuples whose ESSN values match the SSN value of the EMPLOYEE tuple</a:t>
            </a:r>
          </a:p>
          <a:p>
            <a:r>
              <a:rPr lang="en-US" sz="2400" dirty="0"/>
              <a:t>The ACTUAL_DEPENDENTS relation accomplishes this.</a:t>
            </a:r>
          </a:p>
          <a:p>
            <a:pPr>
              <a:buNone/>
            </a:pPr>
            <a:endParaRPr lang="en-US" sz="2000" b="1" i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457200"/>
          </a:xfrm>
        </p:spPr>
        <p:txBody>
          <a:bodyPr>
            <a:noAutofit/>
          </a:bodyPr>
          <a:lstStyle/>
          <a:p>
            <a:r>
              <a:rPr lang="en-US" sz="2400" b="1" dirty="0"/>
              <a:t>BINARY RELATIONAL OPERATIONS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/>
              <a:t>The JOIN Operation</a:t>
            </a:r>
          </a:p>
          <a:p>
            <a:r>
              <a:rPr lang="en-US" sz="2400" dirty="0"/>
              <a:t>The JOIN operation, denoted by Ɣ , is used to combine </a:t>
            </a:r>
            <a:r>
              <a:rPr lang="en-US" sz="2400" b="1" i="1" dirty="0"/>
              <a:t>related tuples from two relations </a:t>
            </a:r>
            <a:r>
              <a:rPr lang="en-US" sz="2400" b="1" dirty="0"/>
              <a:t>into single tuples</a:t>
            </a:r>
          </a:p>
          <a:p>
            <a:r>
              <a:rPr lang="en-US" sz="2400" dirty="0"/>
              <a:t>it allows us </a:t>
            </a:r>
            <a:r>
              <a:rPr lang="en-US" sz="2400" b="1" dirty="0"/>
              <a:t>to process relationships among relations</a:t>
            </a:r>
            <a:r>
              <a:rPr lang="en-US" sz="2400" dirty="0"/>
              <a:t>.</a:t>
            </a:r>
          </a:p>
          <a:p>
            <a:r>
              <a:rPr lang="en-US" sz="2400" dirty="0"/>
              <a:t>E</a:t>
            </a:r>
            <a:r>
              <a:rPr lang="en-US" sz="2400" b="1" dirty="0"/>
              <a:t>xample</a:t>
            </a:r>
            <a:r>
              <a:rPr lang="en-US" sz="2400" dirty="0"/>
              <a:t>: suppose that we want to retrieve the </a:t>
            </a:r>
            <a:r>
              <a:rPr lang="en-US" sz="2400" b="1" dirty="0"/>
              <a:t>name of the manager of each department</a:t>
            </a:r>
          </a:p>
          <a:p>
            <a:r>
              <a:rPr lang="en-US" sz="2400" dirty="0"/>
              <a:t>To get the manager's name, we need to combine each department tuple with the employee tuple </a:t>
            </a:r>
            <a:r>
              <a:rPr lang="en-US" sz="2400" dirty="0">
                <a:solidFill>
                  <a:srgbClr val="FF0000"/>
                </a:solidFill>
              </a:rPr>
              <a:t>whose SSN value matches the MGRSSN</a:t>
            </a:r>
            <a:r>
              <a:rPr lang="en-US" sz="2400" dirty="0"/>
              <a:t> value in the department tuple</a:t>
            </a:r>
          </a:p>
          <a:p>
            <a:r>
              <a:rPr lang="en-US" sz="2400" dirty="0"/>
              <a:t>We do this by using the JOIN operation, and then projecting the result over the necessary attributes, as follows</a:t>
            </a:r>
          </a:p>
          <a:p>
            <a:pPr lvl="1">
              <a:buNone/>
            </a:pPr>
            <a:r>
              <a:rPr lang="en-US" sz="2000" b="1" i="1" dirty="0"/>
              <a:t>DEPT_MGR</a:t>
            </a:r>
            <a:r>
              <a:rPr lang="en-US" sz="2000" b="1" i="1" dirty="0">
                <a:sym typeface="Wingdings" pitchFamily="2" charset="2"/>
              </a:rPr>
              <a:t></a:t>
            </a:r>
            <a:r>
              <a:rPr lang="en-US" sz="2000" b="1" i="1" dirty="0"/>
              <a:t> DEPARTMENT Ɣ MGRSSN=SSN EMPLOYEE</a:t>
            </a:r>
          </a:p>
          <a:p>
            <a:pPr lvl="1">
              <a:buNone/>
            </a:pPr>
            <a:r>
              <a:rPr lang="en-US" sz="2000" b="1" i="1" dirty="0"/>
              <a:t>RESULT</a:t>
            </a:r>
            <a:r>
              <a:rPr lang="en-US" sz="2000" b="1" i="1" dirty="0">
                <a:sym typeface="Wingdings" pitchFamily="2" charset="2"/>
              </a:rPr>
              <a:t></a:t>
            </a:r>
            <a:r>
              <a:rPr lang="en-US" sz="2000" b="1" i="1" dirty="0">
                <a:latin typeface="SimHei"/>
                <a:ea typeface="SimHei"/>
              </a:rPr>
              <a:t>∏</a:t>
            </a:r>
            <a:r>
              <a:rPr lang="en-US" sz="2000" b="1" i="1" dirty="0"/>
              <a:t>DNAME, LNAME, FNAME (DEPT_MGR)</a:t>
            </a:r>
          </a:p>
          <a:p>
            <a:r>
              <a:rPr lang="en-US" sz="3000" dirty="0"/>
              <a:t>Note: that MGRSSN </a:t>
            </a:r>
            <a:r>
              <a:rPr lang="en-US" sz="600" dirty="0"/>
              <a:t> </a:t>
            </a:r>
            <a:r>
              <a:rPr lang="en-US" sz="3000" dirty="0"/>
              <a:t>is a foreign key and that the referential integrity constraint plays a role in having matching tuples in the referenced relation </a:t>
            </a:r>
            <a:r>
              <a:rPr lang="en-US" sz="3000" i="1" dirty="0"/>
              <a:t>Employee</a:t>
            </a:r>
            <a:r>
              <a:rPr lang="en-US" sz="800" dirty="0"/>
              <a:t>.</a:t>
            </a:r>
            <a:endParaRPr lang="en-US" sz="8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The result of the JOIN is a relation Q with n + m attributes Q(AI, </a:t>
            </a:r>
            <a:r>
              <a:rPr lang="en-US" sz="2400" i="1" dirty="0" err="1"/>
              <a:t>Az</a:t>
            </a:r>
            <a:r>
              <a:rPr lang="en-US" sz="2400" i="1" dirty="0"/>
              <a:t>, ... , An' BI, B2, </a:t>
            </a:r>
            <a:r>
              <a:rPr lang="en-US" sz="2400" dirty="0"/>
              <a:t>... , </a:t>
            </a:r>
            <a:r>
              <a:rPr lang="en-US" sz="2400" dirty="0" err="1"/>
              <a:t>Bm</a:t>
            </a:r>
            <a:r>
              <a:rPr lang="en-US" sz="2400" dirty="0"/>
              <a:t> ) in that order; </a:t>
            </a:r>
            <a:r>
              <a:rPr lang="en-US" sz="2400" dirty="0">
                <a:solidFill>
                  <a:srgbClr val="FF0000"/>
                </a:solidFill>
              </a:rPr>
              <a:t>Q has one tuple for each combination of </a:t>
            </a:r>
            <a:r>
              <a:rPr lang="en-US" sz="2400" dirty="0" err="1">
                <a:solidFill>
                  <a:srgbClr val="FF0000"/>
                </a:solidFill>
              </a:rPr>
              <a:t>tuples</a:t>
            </a:r>
            <a:r>
              <a:rPr lang="en-US" sz="2400" dirty="0">
                <a:solidFill>
                  <a:srgbClr val="FF0000"/>
                </a:solidFill>
              </a:rPr>
              <a:t>-one from R and one from </a:t>
            </a:r>
            <a:r>
              <a:rPr lang="en-US" sz="2400" i="1" dirty="0">
                <a:solidFill>
                  <a:srgbClr val="FF0000"/>
                </a:solidFill>
              </a:rPr>
              <a:t>S-whenever </a:t>
            </a:r>
            <a:r>
              <a:rPr lang="en-US" sz="2400" i="1" dirty="0"/>
              <a:t>the combination </a:t>
            </a:r>
            <a:r>
              <a:rPr lang="en-US" sz="2400" i="1" dirty="0">
                <a:solidFill>
                  <a:srgbClr val="FF0000"/>
                </a:solidFill>
              </a:rPr>
              <a:t>satisfies the join condition</a:t>
            </a:r>
          </a:p>
          <a:p>
            <a:r>
              <a:rPr lang="en-US" sz="2400" dirty="0"/>
              <a:t>In JOIN, only combinations of tuples </a:t>
            </a:r>
            <a:r>
              <a:rPr lang="en-US" sz="2400" b="1" i="1" dirty="0"/>
              <a:t>satisfying the join condition appear in the result</a:t>
            </a:r>
            <a:r>
              <a:rPr lang="en-US" sz="2400" i="1" dirty="0"/>
              <a:t>, whereas in the CARTESIAN PRODUCT all </a:t>
            </a:r>
            <a:r>
              <a:rPr lang="en-US" sz="2400" b="1" dirty="0"/>
              <a:t>combinations of tuples are included in the result</a:t>
            </a:r>
          </a:p>
          <a:p>
            <a:r>
              <a:rPr lang="en-US" sz="2400" dirty="0"/>
              <a:t>This is the main difference between CARTESIAN PRODUCT and JOIN.</a:t>
            </a:r>
          </a:p>
          <a:p>
            <a:r>
              <a:rPr lang="en-US" sz="2400" dirty="0"/>
              <a:t>Each tuple combination for which the join </a:t>
            </a:r>
            <a:r>
              <a:rPr lang="en-US" sz="2400" dirty="0">
                <a:solidFill>
                  <a:srgbClr val="FF0000"/>
                </a:solidFill>
              </a:rPr>
              <a:t>condition evaluates to TRUE </a:t>
            </a:r>
            <a:r>
              <a:rPr lang="en-US" sz="2400" dirty="0"/>
              <a:t>is included in the resulting relation Q </a:t>
            </a:r>
            <a:r>
              <a:rPr lang="en-US" sz="2400" i="1" dirty="0"/>
              <a:t>as a single combined tuple</a:t>
            </a:r>
          </a:p>
          <a:p>
            <a:endParaRPr lang="en-US" sz="2400" i="1" dirty="0"/>
          </a:p>
          <a:p>
            <a:pPr>
              <a:buNone/>
            </a:pPr>
            <a:r>
              <a:rPr lang="en-US" sz="2400" i="1" dirty="0"/>
              <a:t> </a:t>
            </a:r>
            <a:r>
              <a:rPr lang="en-US" sz="2400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648200"/>
            <a:ext cx="8686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4820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C782-703D-C92B-A0DB-7F7BC325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T" dirty="0"/>
              <a:t>Assigment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84A8-1202-2DF6-6946-01F687E41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Prepare a short note with examples and scenarios  on the following topics. Also use sample queries to demonstrate each of the topics.  Here are the topics</a:t>
            </a:r>
          </a:p>
          <a:p>
            <a:r>
              <a:rPr lang="en-US" dirty="0"/>
              <a:t>G</a:t>
            </a:r>
            <a:r>
              <a:rPr lang="en-ET" dirty="0"/>
              <a:t>raph database</a:t>
            </a:r>
          </a:p>
          <a:p>
            <a:r>
              <a:rPr lang="en-US" dirty="0"/>
              <a:t>M</a:t>
            </a:r>
            <a:r>
              <a:rPr lang="en-ET" dirty="0"/>
              <a:t>ongoDB </a:t>
            </a:r>
          </a:p>
          <a:p>
            <a:r>
              <a:rPr lang="en-ET" dirty="0"/>
              <a:t>Postgress database</a:t>
            </a:r>
          </a:p>
          <a:p>
            <a:r>
              <a:rPr lang="en-US" dirty="0"/>
              <a:t>I</a:t>
            </a:r>
            <a:r>
              <a:rPr lang="en-ET" dirty="0"/>
              <a:t>nner join</a:t>
            </a:r>
          </a:p>
          <a:p>
            <a:r>
              <a:rPr lang="en-US" dirty="0"/>
              <a:t>Full O</a:t>
            </a:r>
            <a:r>
              <a:rPr lang="en-ET" dirty="0"/>
              <a:t>uter join</a:t>
            </a:r>
          </a:p>
          <a:p>
            <a:r>
              <a:rPr lang="en-US" dirty="0"/>
              <a:t>L</a:t>
            </a:r>
            <a:r>
              <a:rPr lang="en-ET" dirty="0"/>
              <a:t>eft  join</a:t>
            </a:r>
          </a:p>
          <a:p>
            <a:r>
              <a:rPr lang="en-ET" dirty="0"/>
              <a:t>Right Join</a:t>
            </a:r>
          </a:p>
          <a:p>
            <a:endParaRPr lang="en-ET" dirty="0"/>
          </a:p>
        </p:txBody>
      </p:sp>
    </p:spTree>
    <p:extLst>
      <p:ext uri="{BB962C8B-B14F-4D97-AF65-F5344CB8AC3E}">
        <p14:creationId xmlns:p14="http://schemas.microsoft.com/office/powerpoint/2010/main" val="80238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2526</Words>
  <Application>Microsoft Macintosh PowerPoint</Application>
  <PresentationFormat>On-screen Show (4:3)</PresentationFormat>
  <Paragraphs>153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SimHei</vt:lpstr>
      <vt:lpstr>Arial</vt:lpstr>
      <vt:lpstr>Calibri</vt:lpstr>
      <vt:lpstr>Times New Roman</vt:lpstr>
      <vt:lpstr>Office Theme</vt:lpstr>
      <vt:lpstr>Chapter 3</vt:lpstr>
      <vt:lpstr>Introduction</vt:lpstr>
      <vt:lpstr>PowerPoint Presentation</vt:lpstr>
      <vt:lpstr>PowerPoint Presentation</vt:lpstr>
      <vt:lpstr>PowerPoint Presentation</vt:lpstr>
      <vt:lpstr>UNARY RELATIONAL OPERATIONS:SELECT AND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project operation</vt:lpstr>
      <vt:lpstr>PowerPoint Presentation</vt:lpstr>
      <vt:lpstr>Sequences of Operations and the RENAME Operation</vt:lpstr>
      <vt:lpstr>PowerPoint Presentation</vt:lpstr>
      <vt:lpstr>PowerPoint Presentation</vt:lpstr>
      <vt:lpstr>RELATIONAL ALGEBRA OPERATIONS FROM SET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Cartesian Product</vt:lpstr>
      <vt:lpstr>PowerPoint Presentation</vt:lpstr>
      <vt:lpstr>BINARY RELATIONAL OPERATIONS</vt:lpstr>
      <vt:lpstr>PowerPoint Presentation</vt:lpstr>
      <vt:lpstr>Assigment Two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SEVEN</dc:title>
  <dc:creator>xuse</dc:creator>
  <cp:lastModifiedBy>kasahun Abdisa</cp:lastModifiedBy>
  <cp:revision>46</cp:revision>
  <dcterms:created xsi:type="dcterms:W3CDTF">2014-11-03T22:16:34Z</dcterms:created>
  <dcterms:modified xsi:type="dcterms:W3CDTF">2026-04-20T07:08:47Z</dcterms:modified>
</cp:coreProperties>
</file>