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85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6" r:id="rId31"/>
    <p:sldId id="301" r:id="rId32"/>
    <p:sldId id="302" r:id="rId33"/>
    <p:sldId id="295" r:id="rId34"/>
    <p:sldId id="303" r:id="rId35"/>
    <p:sldId id="287" r:id="rId36"/>
    <p:sldId id="296" r:id="rId37"/>
    <p:sldId id="288" r:id="rId38"/>
    <p:sldId id="289" r:id="rId39"/>
    <p:sldId id="290" r:id="rId40"/>
    <p:sldId id="291" r:id="rId41"/>
    <p:sldId id="292" r:id="rId42"/>
    <p:sldId id="293" r:id="rId43"/>
    <p:sldId id="304" r:id="rId44"/>
    <p:sldId id="297" r:id="rId45"/>
    <p:sldId id="299" r:id="rId46"/>
    <p:sldId id="300" r:id="rId4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50"/>
    <p:restoredTop sz="94662"/>
  </p:normalViewPr>
  <p:slideViewPr>
    <p:cSldViewPr>
      <p:cViewPr varScale="1">
        <p:scale>
          <a:sx n="153" d="100"/>
          <a:sy n="153" d="100"/>
        </p:scale>
        <p:origin x="175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25C0C-46A7-498A-ADE4-7881F4980C4E}" type="datetimeFigureOut">
              <a:rPr lang="en-US" smtClean="0"/>
              <a:pPr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2ADD5-DB17-45E7-B225-9B0F20E818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25C0C-46A7-498A-ADE4-7881F4980C4E}" type="datetimeFigureOut">
              <a:rPr lang="en-US" smtClean="0"/>
              <a:pPr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2ADD5-DB17-45E7-B225-9B0F20E818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25C0C-46A7-498A-ADE4-7881F4980C4E}" type="datetimeFigureOut">
              <a:rPr lang="en-US" smtClean="0"/>
              <a:pPr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2ADD5-DB17-45E7-B225-9B0F20E818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25C0C-46A7-498A-ADE4-7881F4980C4E}" type="datetimeFigureOut">
              <a:rPr lang="en-US" smtClean="0"/>
              <a:pPr/>
              <a:t>3/30/26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2ADD5-DB17-45E7-B225-9B0F20E818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25C0C-46A7-498A-ADE4-7881F4980C4E}" type="datetimeFigureOut">
              <a:rPr lang="en-US" smtClean="0"/>
              <a:pPr/>
              <a:t>3/30/26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2ADD5-DB17-45E7-B225-9B0F20E818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25C0C-46A7-498A-ADE4-7881F4980C4E}" type="datetimeFigureOut">
              <a:rPr lang="en-US" smtClean="0"/>
              <a:pPr/>
              <a:t>3/30/26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2ADD5-DB17-45E7-B225-9B0F20E818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25C0C-46A7-498A-ADE4-7881F4980C4E}" type="datetimeFigureOut">
              <a:rPr lang="en-US" smtClean="0"/>
              <a:pPr/>
              <a:t>3/30/26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2ADD5-DB17-45E7-B225-9B0F20E818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25C0C-46A7-498A-ADE4-7881F4980C4E}" type="datetimeFigureOut">
              <a:rPr lang="en-US" smtClean="0"/>
              <a:pPr/>
              <a:t>3/30/26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2ADD5-DB17-45E7-B225-9B0F20E818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25C0C-46A7-498A-ADE4-7881F4980C4E}" type="datetimeFigureOut">
              <a:rPr lang="en-US" smtClean="0"/>
              <a:pPr/>
              <a:t>3/30/26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2ADD5-DB17-45E7-B225-9B0F20E818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25C0C-46A7-498A-ADE4-7881F4980C4E}" type="datetimeFigureOut">
              <a:rPr lang="en-US" smtClean="0"/>
              <a:pPr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2ADD5-DB17-45E7-B225-9B0F20E818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25C0C-46A7-498A-ADE4-7881F4980C4E}" type="datetimeFigureOut">
              <a:rPr lang="en-US" smtClean="0"/>
              <a:pPr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2ADD5-DB17-45E7-B225-9B0F20E818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825C0C-46A7-498A-ADE4-7881F4980C4E}" type="datetimeFigureOut">
              <a:rPr lang="en-US" smtClean="0"/>
              <a:pPr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12ADD5-DB17-45E7-B225-9B0F20E818D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0"/>
            <a:ext cx="8686800" cy="1752599"/>
          </a:xfrm>
        </p:spPr>
        <p:txBody>
          <a:bodyPr>
            <a:normAutofit/>
          </a:bodyPr>
          <a:lstStyle/>
          <a:p>
            <a:r>
              <a:rPr lang="en-US" dirty="0"/>
              <a:t>CHAPTER Two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2514600"/>
            <a:ext cx="8610600" cy="1752600"/>
          </a:xfrm>
        </p:spPr>
        <p:txBody>
          <a:bodyPr>
            <a:normAutofit/>
          </a:bodyPr>
          <a:lstStyle/>
          <a:p>
            <a:r>
              <a:rPr lang="en-US" sz="2400" b="1" dirty="0"/>
              <a:t>DATA MODELING USING ENTITY RELATIONSHIP DIAGRAMS</a:t>
            </a:r>
            <a:endParaRPr lang="en-US" sz="2400" i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381000"/>
          </a:xfrm>
        </p:spPr>
        <p:txBody>
          <a:bodyPr>
            <a:noAutofit/>
          </a:bodyPr>
          <a:lstStyle/>
          <a:p>
            <a:r>
              <a:rPr lang="en-US" sz="2400" b="1" dirty="0"/>
              <a:t>Using high level Data models for 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0"/>
            <a:ext cx="8763000" cy="6096000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The </a:t>
            </a:r>
            <a:r>
              <a:rPr lang="en-US" sz="2400" b="1" dirty="0"/>
              <a:t>Entity-Relationship (ER) model, Is a popular high, level conceptual data  </a:t>
            </a:r>
            <a:r>
              <a:rPr lang="en-US" sz="2400" dirty="0"/>
              <a:t>model</a:t>
            </a:r>
          </a:p>
          <a:p>
            <a:pPr>
              <a:buNone/>
            </a:pPr>
            <a:r>
              <a:rPr lang="en-US" sz="2400" b="1" dirty="0"/>
              <a:t>Database Design Process</a:t>
            </a:r>
          </a:p>
          <a:p>
            <a:pPr>
              <a:buNone/>
            </a:pPr>
            <a:r>
              <a:rPr lang="en-US" sz="2400" b="1" i="1" dirty="0"/>
              <a:t>requirements collection and analysis</a:t>
            </a:r>
            <a:r>
              <a:rPr lang="en-US" sz="2400" dirty="0"/>
              <a:t>:</a:t>
            </a:r>
          </a:p>
          <a:p>
            <a:r>
              <a:rPr lang="en-US" sz="2400" dirty="0"/>
              <a:t> Here, the database designers interview prospective database users to understand and document their data requirements</a:t>
            </a:r>
          </a:p>
          <a:p>
            <a:r>
              <a:rPr lang="en-US" sz="2400" b="1" dirty="0"/>
              <a:t>The result of this step is a concisely written set of users’ requirements</a:t>
            </a:r>
            <a:endParaRPr lang="en-US" sz="2400" dirty="0"/>
          </a:p>
          <a:p>
            <a:pPr>
              <a:buNone/>
            </a:pPr>
            <a:r>
              <a:rPr lang="en-US" sz="2400" b="1" i="1" dirty="0"/>
              <a:t>Functional requirements</a:t>
            </a:r>
            <a:r>
              <a:rPr lang="en-US" sz="2400" dirty="0"/>
              <a:t>: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/>
              <a:t> these are also specified </a:t>
            </a:r>
            <a:r>
              <a:rPr lang="en-US" sz="2400" b="1" dirty="0"/>
              <a:t>in parallel </a:t>
            </a:r>
            <a:r>
              <a:rPr lang="en-US" sz="2400" dirty="0"/>
              <a:t>with  requirement collection</a:t>
            </a:r>
          </a:p>
          <a:p>
            <a:r>
              <a:rPr lang="en-US" sz="2400" dirty="0"/>
              <a:t>These consist of the </a:t>
            </a:r>
            <a:r>
              <a:rPr lang="en-US" sz="2400" b="1" dirty="0"/>
              <a:t>user-defined operations </a:t>
            </a:r>
            <a:r>
              <a:rPr lang="en-US" sz="2400" dirty="0"/>
              <a:t>(or transactions) that will be applied to the database, including both retrievals and updates.</a:t>
            </a:r>
          </a:p>
          <a:p>
            <a:pPr>
              <a:buNone/>
            </a:pPr>
            <a:r>
              <a:rPr lang="en-US" sz="2400" b="1" dirty="0"/>
              <a:t>conceptual design</a:t>
            </a:r>
            <a:r>
              <a:rPr lang="en-US" sz="2400" dirty="0"/>
              <a:t>:.</a:t>
            </a:r>
          </a:p>
          <a:p>
            <a:r>
              <a:rPr lang="en-US" sz="2400" dirty="0"/>
              <a:t>Once all the requirements have been collected and analyzed, the next step is to create a conceptual schema for the database, using a high-level conceptual data model</a:t>
            </a:r>
          </a:p>
          <a:p>
            <a:r>
              <a:rPr lang="en-US" sz="2400" dirty="0"/>
              <a:t>includes detailed descriptions of the </a:t>
            </a:r>
            <a:r>
              <a:rPr lang="en-US" sz="2400" b="1" dirty="0"/>
              <a:t>entity types, relationships</a:t>
            </a:r>
            <a:r>
              <a:rPr lang="en-US" sz="2400" dirty="0"/>
              <a:t>, and constraints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38100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57200"/>
            <a:ext cx="9144000" cy="6400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/>
              <a:t>logical design or data model mapping</a:t>
            </a:r>
            <a:r>
              <a:rPr lang="en-US" sz="2400" dirty="0"/>
              <a:t>:</a:t>
            </a:r>
          </a:p>
          <a:p>
            <a:r>
              <a:rPr lang="en-US" sz="2400" dirty="0"/>
              <a:t>Deals with the </a:t>
            </a:r>
            <a:r>
              <a:rPr lang="en-US" sz="2400" b="1" dirty="0"/>
              <a:t>actual implementation </a:t>
            </a:r>
            <a:r>
              <a:rPr lang="en-US" sz="2400" dirty="0"/>
              <a:t>of the database</a:t>
            </a:r>
          </a:p>
          <a:p>
            <a:r>
              <a:rPr lang="en-US" sz="2400" dirty="0"/>
              <a:t>use an </a:t>
            </a:r>
            <a:r>
              <a:rPr lang="en-US" sz="2400" b="1" dirty="0"/>
              <a:t>implementation data model </a:t>
            </a:r>
            <a:r>
              <a:rPr lang="en-US" sz="2400" dirty="0"/>
              <a:t>such as the relational or the object-relational database model-so the conceptual schema is </a:t>
            </a:r>
            <a:r>
              <a:rPr lang="en-US" sz="2400" b="1" i="1" dirty="0"/>
              <a:t>transformed</a:t>
            </a:r>
            <a:r>
              <a:rPr lang="en-US" sz="2400" dirty="0"/>
              <a:t> from the high-level data model into the implementation data model</a:t>
            </a:r>
          </a:p>
          <a:p>
            <a:pPr>
              <a:buNone/>
            </a:pPr>
            <a:r>
              <a:rPr lang="en-US" sz="2400" b="1" dirty="0"/>
              <a:t>Physical  design</a:t>
            </a:r>
            <a:r>
              <a:rPr lang="en-US" sz="2400" dirty="0"/>
              <a:t>:</a:t>
            </a:r>
          </a:p>
          <a:p>
            <a:r>
              <a:rPr lang="en-US" sz="2400" dirty="0"/>
              <a:t>Here the internal storage structures, indexes, access paths, and file organizations for the database files are specified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 algn="ctr">
              <a:buNone/>
            </a:pPr>
            <a:r>
              <a:rPr lang="en-US" sz="2400" dirty="0"/>
              <a:t>For more detail see</a:t>
            </a:r>
          </a:p>
          <a:p>
            <a:pPr>
              <a:buNone/>
            </a:pPr>
            <a:r>
              <a:rPr lang="en-US" sz="2400" dirty="0"/>
              <a:t> </a:t>
            </a:r>
            <a:r>
              <a:rPr lang="en-US" sz="2400" b="1" dirty="0"/>
              <a:t>FIGURE 3.1 A simplified diagram to illustrate the main phases of database design on page  51 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228600"/>
          </a:xfrm>
        </p:spPr>
        <p:txBody>
          <a:bodyPr>
            <a:noAutofit/>
          </a:bodyPr>
          <a:lstStyle/>
          <a:p>
            <a:r>
              <a:rPr lang="en-US" sz="2800" b="1" dirty="0"/>
              <a:t>Example of Database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09600"/>
            <a:ext cx="8991600" cy="6248400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The COMPANY database keeps track of a company's employees, departments, and projects. After requirement analysis phase, the DB designers provided the following description.</a:t>
            </a:r>
          </a:p>
          <a:p>
            <a:pPr marL="457200" indent="-457200">
              <a:buAutoNum type="arabicPeriod"/>
            </a:pPr>
            <a:r>
              <a:rPr lang="en-US" sz="2400" dirty="0"/>
              <a:t>The company is organized into departments. Each department has a </a:t>
            </a:r>
            <a:r>
              <a:rPr lang="en-US" sz="2400" b="1" dirty="0"/>
              <a:t>unique name, a unique number, and a particular employee who manages the department. </a:t>
            </a:r>
          </a:p>
          <a:p>
            <a:pPr marL="457200" indent="-457200">
              <a:buNone/>
            </a:pPr>
            <a:r>
              <a:rPr lang="en-US" sz="2400" dirty="0"/>
              <a:t>          We keep track of the start date when that employee began managing the department. A department may have </a:t>
            </a:r>
            <a:r>
              <a:rPr lang="en-US" sz="2400" b="1" dirty="0"/>
              <a:t>several locations</a:t>
            </a:r>
            <a:r>
              <a:rPr lang="en-US" sz="2400" dirty="0"/>
              <a:t>.</a:t>
            </a:r>
          </a:p>
          <a:p>
            <a:pPr>
              <a:buNone/>
            </a:pPr>
            <a:r>
              <a:rPr lang="en-US" sz="2400" dirty="0"/>
              <a:t>2.  A department controls a number of projects, each of which has a unique name, a unique number, and a single location.</a:t>
            </a:r>
          </a:p>
          <a:p>
            <a:pPr>
              <a:buNone/>
            </a:pPr>
            <a:r>
              <a:rPr lang="en-US" sz="2400" dirty="0"/>
              <a:t>3. We store each employee's </a:t>
            </a:r>
            <a:r>
              <a:rPr lang="en-US" sz="2400" b="1" dirty="0"/>
              <a:t>name, social security number, address, salary, sex, and birth date</a:t>
            </a:r>
            <a:r>
              <a:rPr lang="en-US" sz="2400" dirty="0"/>
              <a:t>. An employee is assigned to </a:t>
            </a:r>
            <a:r>
              <a:rPr lang="en-US" sz="2400" b="1" dirty="0"/>
              <a:t>one department </a:t>
            </a:r>
            <a:r>
              <a:rPr lang="en-US" sz="2400" dirty="0"/>
              <a:t>but may </a:t>
            </a:r>
            <a:r>
              <a:rPr lang="en-US" sz="2400" b="1" dirty="0"/>
              <a:t>work on several projects</a:t>
            </a:r>
            <a:r>
              <a:rPr lang="en-US" sz="2400" dirty="0"/>
              <a:t>, which are not necessarily controlled by the same department. We keep track of the </a:t>
            </a:r>
            <a:r>
              <a:rPr lang="en-US" sz="2400" b="1" dirty="0"/>
              <a:t>number of hours per week </a:t>
            </a:r>
            <a:r>
              <a:rPr lang="en-US" sz="2400" dirty="0"/>
              <a:t>that an employee works on each project. We also keep track of the </a:t>
            </a:r>
            <a:r>
              <a:rPr lang="en-US" sz="2400" b="1" dirty="0"/>
              <a:t>direct supervisor</a:t>
            </a:r>
            <a:r>
              <a:rPr lang="en-US" sz="2400" dirty="0"/>
              <a:t> of each employee.</a:t>
            </a:r>
          </a:p>
          <a:p>
            <a:pPr>
              <a:buNone/>
            </a:pPr>
            <a:r>
              <a:rPr lang="en-US" sz="2400" dirty="0"/>
              <a:t>4. We want to keep track of the d</a:t>
            </a:r>
            <a:r>
              <a:rPr lang="en-US" sz="2400" b="1" dirty="0"/>
              <a:t>ependents</a:t>
            </a:r>
            <a:r>
              <a:rPr lang="en-US" sz="2400" dirty="0"/>
              <a:t> of each employee for insurance purposes. We keep each </a:t>
            </a:r>
            <a:r>
              <a:rPr lang="en-US" sz="2400" b="1" dirty="0"/>
              <a:t>dependent's first name, sex, birth date, and  relationship to the employee.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57200"/>
            <a:ext cx="8229600" cy="381000"/>
          </a:xfrm>
        </p:spPr>
        <p:txBody>
          <a:bodyPr>
            <a:noAutofit/>
          </a:bodyPr>
          <a:lstStyle/>
          <a:p>
            <a:r>
              <a:rPr lang="en-US" sz="2400" dirty="0"/>
              <a:t>ENTITY TYPES, ENTITY SETS,ATTRIBUTES, AND KEYS</a:t>
            </a:r>
            <a:endParaRPr lang="en-US" sz="1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9144000" cy="6172200"/>
          </a:xfrm>
        </p:spPr>
        <p:txBody>
          <a:bodyPr>
            <a:normAutofit/>
          </a:bodyPr>
          <a:lstStyle/>
          <a:p>
            <a:endParaRPr lang="en-US" sz="2400" dirty="0"/>
          </a:p>
          <a:p>
            <a:r>
              <a:rPr lang="en-US" sz="2400" dirty="0"/>
              <a:t>The ER model describes data as </a:t>
            </a:r>
            <a:r>
              <a:rPr lang="en-US" sz="2400" i="1" dirty="0"/>
              <a:t>entities, relationships, and attributes.</a:t>
            </a:r>
          </a:p>
          <a:p>
            <a:pPr>
              <a:buNone/>
            </a:pPr>
            <a:r>
              <a:rPr lang="en-US" sz="2400" b="1" dirty="0"/>
              <a:t>Entity:</a:t>
            </a:r>
          </a:p>
          <a:p>
            <a:r>
              <a:rPr lang="en-US" sz="2400" dirty="0"/>
              <a:t>The basic object that the ER model represents is an entity, which is a "thing" in the real world with an independent existence.</a:t>
            </a:r>
          </a:p>
          <a:p>
            <a:r>
              <a:rPr lang="en-US" sz="2400" dirty="0"/>
              <a:t> An entity may be an object with a physical existence </a:t>
            </a:r>
          </a:p>
          <a:p>
            <a:pPr lvl="1"/>
            <a:r>
              <a:rPr lang="en-US" sz="2000" dirty="0"/>
              <a:t>for example, a particular person, car, house</a:t>
            </a:r>
          </a:p>
          <a:p>
            <a:r>
              <a:rPr lang="en-US" sz="2400" dirty="0"/>
              <a:t>it may be an object with a conceptual existence </a:t>
            </a:r>
          </a:p>
          <a:p>
            <a:pPr lvl="1"/>
            <a:r>
              <a:rPr lang="en-US" sz="2000" dirty="0"/>
              <a:t>for example, a company, a job, or a university course.</a:t>
            </a:r>
          </a:p>
          <a:p>
            <a:pPr>
              <a:buNone/>
            </a:pPr>
            <a:r>
              <a:rPr lang="en-US" sz="2400" b="1" dirty="0"/>
              <a:t>Attribute:</a:t>
            </a:r>
          </a:p>
          <a:p>
            <a:r>
              <a:rPr lang="en-US" sz="2400" dirty="0"/>
              <a:t>Each entity has attributes-the particular properties that describe it. </a:t>
            </a:r>
          </a:p>
          <a:p>
            <a:r>
              <a:rPr lang="en-US" sz="2400" dirty="0"/>
              <a:t>For example, an employee entity may be described by the  employee's name, age, address, salary, and job. A particular entity will have a value for each of its attributes</a:t>
            </a:r>
            <a:endParaRPr lang="en-US" sz="2400" b="1" dirty="0"/>
          </a:p>
          <a:p>
            <a:pPr>
              <a:buNone/>
            </a:pPr>
            <a:endParaRPr lang="en-US" sz="2400" b="1" dirty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381000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sz="2700" b="1" dirty="0"/>
              <a:t>Types of attributes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85800"/>
            <a:ext cx="8839200" cy="5943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/>
              <a:t>Composite versus Simple (Atomic) Attributes</a:t>
            </a:r>
            <a:r>
              <a:rPr lang="en-US" sz="2400" dirty="0"/>
              <a:t>:</a:t>
            </a:r>
          </a:p>
          <a:p>
            <a:r>
              <a:rPr lang="en-US" sz="2400" dirty="0"/>
              <a:t>Composite attributes can be divided into </a:t>
            </a:r>
            <a:r>
              <a:rPr lang="en-US" sz="2400" b="1" dirty="0"/>
              <a:t>smaller subparts</a:t>
            </a:r>
            <a:r>
              <a:rPr lang="en-US" sz="2400" dirty="0"/>
              <a:t>, which represent more basic attributes with independent meanings. </a:t>
            </a:r>
          </a:p>
          <a:p>
            <a:r>
              <a:rPr lang="en-US" sz="2400" dirty="0"/>
              <a:t>For example, the </a:t>
            </a:r>
            <a:r>
              <a:rPr lang="en-US" sz="2400" b="1" dirty="0"/>
              <a:t>Address</a:t>
            </a:r>
            <a:r>
              <a:rPr lang="en-US" sz="2400" dirty="0"/>
              <a:t> attribute of the employee entity  can be subdivided into </a:t>
            </a:r>
            <a:r>
              <a:rPr lang="en-US" sz="2400" dirty="0" err="1"/>
              <a:t>StreetAddress</a:t>
            </a:r>
            <a:r>
              <a:rPr lang="en-US" sz="2400" dirty="0"/>
              <a:t>, City, State, and Zip.</a:t>
            </a:r>
          </a:p>
          <a:p>
            <a:r>
              <a:rPr lang="en-US" sz="2400" dirty="0"/>
              <a:t>Attributes that are not divisible are called simple or </a:t>
            </a:r>
            <a:r>
              <a:rPr lang="en-US" sz="2400" b="1" dirty="0"/>
              <a:t>atomic attributes</a:t>
            </a:r>
          </a:p>
          <a:p>
            <a:r>
              <a:rPr lang="en-US" sz="2400" dirty="0"/>
              <a:t>Composite attributes can form a hierarchy; for example, </a:t>
            </a:r>
            <a:r>
              <a:rPr lang="en-US" sz="2400" b="1" dirty="0" err="1"/>
              <a:t>StreetAddress</a:t>
            </a:r>
            <a:r>
              <a:rPr lang="en-US" sz="2400" dirty="0"/>
              <a:t> can be further subdivided into three simple attributes: </a:t>
            </a:r>
            <a:r>
              <a:rPr lang="en-US" sz="2400" b="1" dirty="0"/>
              <a:t>Number, Street, and </a:t>
            </a:r>
            <a:r>
              <a:rPr lang="en-US" sz="2400" b="1" dirty="0" err="1"/>
              <a:t>ApartmentNumber</a:t>
            </a:r>
            <a:endParaRPr lang="en-US" sz="2400" b="1" dirty="0"/>
          </a:p>
          <a:p>
            <a:r>
              <a:rPr lang="en-US" sz="2400" dirty="0"/>
              <a:t>if there is no need to refer to the individual components of an address (zip code, street, and so on), then the whole address can be designated as a simple attribute.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304800"/>
          </a:xfrm>
        </p:spPr>
        <p:txBody>
          <a:bodyPr>
            <a:noAutofit/>
          </a:bodyPr>
          <a:lstStyle/>
          <a:p>
            <a:r>
              <a:rPr lang="en-US" sz="2400" b="1" dirty="0"/>
              <a:t>Single-Valued versus </a:t>
            </a:r>
            <a:r>
              <a:rPr lang="en-US" sz="2400" b="1" dirty="0" err="1"/>
              <a:t>Multivalued</a:t>
            </a:r>
            <a:r>
              <a:rPr lang="en-US" sz="2400" b="1" dirty="0"/>
              <a:t> Attributes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81000"/>
            <a:ext cx="8991600" cy="6248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/>
              <a:t>single-valued: </a:t>
            </a:r>
            <a:r>
              <a:rPr lang="en-US" sz="2400" dirty="0"/>
              <a:t>Most attributes have a single value for a particular entity; such attributes are called </a:t>
            </a:r>
            <a:r>
              <a:rPr lang="en-US" sz="2400" b="1" dirty="0"/>
              <a:t>single-valued. For example, Age is a </a:t>
            </a:r>
            <a:r>
              <a:rPr lang="en-US" sz="2400" dirty="0"/>
              <a:t>single-valued attribute of a person. </a:t>
            </a:r>
          </a:p>
          <a:p>
            <a:pPr>
              <a:buNone/>
            </a:pPr>
            <a:r>
              <a:rPr lang="en-US" sz="2400" b="1" dirty="0" err="1"/>
              <a:t>Multivalued</a:t>
            </a:r>
            <a:r>
              <a:rPr lang="en-US" sz="2400" dirty="0"/>
              <a:t>: In some cases an attribute can have a set of values for the same </a:t>
            </a:r>
            <a:r>
              <a:rPr lang="en-US" sz="2400" b="1" dirty="0"/>
              <a:t>entity-for example, a Colors </a:t>
            </a:r>
            <a:r>
              <a:rPr lang="en-US" sz="2400" dirty="0"/>
              <a:t>attribute for a car, or a </a:t>
            </a:r>
            <a:r>
              <a:rPr lang="en-US" sz="2400" dirty="0" err="1"/>
              <a:t>CollegeDegrees</a:t>
            </a:r>
            <a:r>
              <a:rPr lang="en-US" sz="2400" dirty="0"/>
              <a:t> attribute for a person Such attributes are </a:t>
            </a:r>
            <a:r>
              <a:rPr lang="en-US" sz="2400" dirty="0" err="1"/>
              <a:t>multivalued</a:t>
            </a:r>
            <a:r>
              <a:rPr lang="en-US" sz="2400" dirty="0"/>
              <a:t> attributes</a:t>
            </a:r>
          </a:p>
          <a:p>
            <a:pPr>
              <a:buNone/>
            </a:pPr>
            <a:r>
              <a:rPr lang="en-US" sz="2400" b="1" dirty="0"/>
              <a:t>Stored versus Derived Attributes</a:t>
            </a:r>
          </a:p>
          <a:p>
            <a:pPr>
              <a:buNone/>
            </a:pPr>
            <a:r>
              <a:rPr lang="en-US" sz="2400" b="1" dirty="0"/>
              <a:t>   derived attribute:</a:t>
            </a:r>
            <a:endParaRPr lang="en-US" sz="2400" dirty="0"/>
          </a:p>
          <a:p>
            <a:pPr lvl="1">
              <a:buFont typeface="Wingdings" pitchFamily="2" charset="2"/>
              <a:buChar char="§"/>
            </a:pPr>
            <a:r>
              <a:rPr lang="en-US" sz="2000" dirty="0"/>
              <a:t>in some cases, two (or more) attribute values are related-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/>
              <a:t>for example, the Age and </a:t>
            </a:r>
            <a:r>
              <a:rPr lang="en-US" sz="2000" dirty="0" err="1"/>
              <a:t>BirthDate</a:t>
            </a:r>
            <a:r>
              <a:rPr lang="en-US" sz="2000" dirty="0"/>
              <a:t> attributes of a person. 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/>
              <a:t>For a particular person entity, the value of Age can be determined from the current (today's) date and the value of that person's </a:t>
            </a:r>
            <a:r>
              <a:rPr lang="en-US" sz="2000" dirty="0" err="1"/>
              <a:t>BirthDate</a:t>
            </a:r>
            <a:r>
              <a:rPr lang="en-US" sz="2000" dirty="0"/>
              <a:t> 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/>
              <a:t>The Age attribute is hence called a </a:t>
            </a:r>
            <a:r>
              <a:rPr lang="en-US" sz="2000" b="1" dirty="0"/>
              <a:t>derived attribute </a:t>
            </a:r>
            <a:r>
              <a:rPr lang="en-US" sz="2000" dirty="0"/>
              <a:t>and is said to be </a:t>
            </a:r>
            <a:r>
              <a:rPr lang="en-US" sz="2000" b="1" dirty="0"/>
              <a:t>derivable from the </a:t>
            </a:r>
            <a:r>
              <a:rPr lang="en-US" sz="2000" b="1" dirty="0" err="1"/>
              <a:t>BirthDate</a:t>
            </a:r>
            <a:r>
              <a:rPr lang="en-US" sz="2000" b="1" dirty="0"/>
              <a:t> attribute </a:t>
            </a:r>
            <a:r>
              <a:rPr lang="en-US" sz="2000" dirty="0"/>
              <a:t>which is called a </a:t>
            </a:r>
            <a:r>
              <a:rPr lang="en-US" sz="2000" b="1" dirty="0"/>
              <a:t>stored attribute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5240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2400"/>
            <a:ext cx="9144000" cy="6477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/>
              <a:t>Null </a:t>
            </a:r>
            <a:r>
              <a:rPr lang="en-US" sz="2400" b="1" dirty="0" err="1"/>
              <a:t>VaIues</a:t>
            </a:r>
            <a:r>
              <a:rPr lang="en-US" sz="2400" b="1" dirty="0"/>
              <a:t>:</a:t>
            </a:r>
          </a:p>
          <a:p>
            <a:r>
              <a:rPr lang="en-US" sz="2400" dirty="0"/>
              <a:t>In some cases a particular entity may not have an applicable value for an attribute</a:t>
            </a:r>
          </a:p>
          <a:p>
            <a:r>
              <a:rPr lang="en-US" sz="2400" dirty="0"/>
              <a:t>For example, the </a:t>
            </a:r>
            <a:r>
              <a:rPr lang="en-US" sz="2400" dirty="0" err="1"/>
              <a:t>ApartmentNumber</a:t>
            </a:r>
            <a:r>
              <a:rPr lang="en-US" sz="2400" dirty="0"/>
              <a:t> attribute of an address applies only to addresses that are in apartment buildings and not to other types of residences, such as single-family homes. </a:t>
            </a:r>
          </a:p>
          <a:p>
            <a:r>
              <a:rPr lang="en-US" sz="2400" dirty="0"/>
              <a:t>Similarly, a </a:t>
            </a:r>
            <a:r>
              <a:rPr lang="en-US" sz="2400" dirty="0" err="1"/>
              <a:t>CollegeDegrees</a:t>
            </a:r>
            <a:r>
              <a:rPr lang="en-US" sz="2400" dirty="0"/>
              <a:t> attribute applies only to persons with college degrees (  when it is not applicable)</a:t>
            </a:r>
          </a:p>
          <a:p>
            <a:r>
              <a:rPr lang="en-US" sz="2400" dirty="0"/>
              <a:t>Null can also be used if we do not know the value of an attribute for a particular entity</a:t>
            </a:r>
          </a:p>
          <a:p>
            <a:pPr lvl="1"/>
            <a:r>
              <a:rPr lang="en-US" sz="2000" dirty="0"/>
              <a:t>for example, if we do not know the home phone of "John Smith“( when it is unknown)</a:t>
            </a:r>
          </a:p>
          <a:p>
            <a:pPr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38100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09600"/>
            <a:ext cx="8839200" cy="6019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/>
              <a:t>Complex attributes</a:t>
            </a:r>
            <a:r>
              <a:rPr lang="en-US" sz="2400" dirty="0"/>
              <a:t>: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/>
              <a:t>Composite and multivalued attributes can be nested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/>
              <a:t>by grouping </a:t>
            </a:r>
            <a:r>
              <a:rPr lang="en-US" sz="2400" b="1" dirty="0"/>
              <a:t>components of a composite attribute between parentheses ()</a:t>
            </a:r>
            <a:r>
              <a:rPr lang="en-US" sz="2400" dirty="0"/>
              <a:t> and separating the components with commas, and by displaying multivalued attributes between braces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/>
              <a:t>For example, if a person can have more than one residence and each residence can have multiple phones, an attribute </a:t>
            </a:r>
            <a:r>
              <a:rPr lang="en-US" sz="2400" dirty="0" err="1"/>
              <a:t>AddressPhone</a:t>
            </a:r>
            <a:r>
              <a:rPr lang="en-US" sz="2400" dirty="0"/>
              <a:t> for a person can be specified as 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1300" dirty="0"/>
              <a:t> {</a:t>
            </a:r>
            <a:r>
              <a:rPr lang="en-US" sz="1300" dirty="0" err="1"/>
              <a:t>AddressPhone</a:t>
            </a:r>
            <a:r>
              <a:rPr lang="en-US" sz="1300" dirty="0"/>
              <a:t>( {Phone(</a:t>
            </a:r>
            <a:r>
              <a:rPr lang="en-US" sz="1300" dirty="0" err="1"/>
              <a:t>AreaCode,PhoneNumber</a:t>
            </a:r>
            <a:r>
              <a:rPr lang="en-US" sz="1300" dirty="0"/>
              <a:t>)},Address(</a:t>
            </a:r>
            <a:r>
              <a:rPr lang="en-US" sz="1300" dirty="0" err="1"/>
              <a:t>StreetAddress</a:t>
            </a:r>
            <a:r>
              <a:rPr lang="en-US" sz="1300" dirty="0"/>
              <a:t>(</a:t>
            </a:r>
            <a:r>
              <a:rPr lang="en-US" sz="1300" dirty="0" err="1"/>
              <a:t>Number,Street,ApartmentNumber</a:t>
            </a:r>
            <a:r>
              <a:rPr lang="en-US" sz="1300" dirty="0"/>
              <a:t>),</a:t>
            </a:r>
            <a:r>
              <a:rPr lang="en-US" sz="1300" dirty="0" err="1"/>
              <a:t>City,State,Zip</a:t>
            </a:r>
            <a:r>
              <a:rPr lang="en-US" sz="1300" dirty="0"/>
              <a:t>) ) 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381000"/>
          </a:xfrm>
        </p:spPr>
        <p:txBody>
          <a:bodyPr>
            <a:noAutofit/>
          </a:bodyPr>
          <a:lstStyle/>
          <a:p>
            <a:r>
              <a:rPr lang="en-US" sz="2400" b="1" dirty="0"/>
              <a:t>Entity Types, Entity Sets, Keys, and Value Sets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81000"/>
            <a:ext cx="8991600" cy="6248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/>
              <a:t>Entity type</a:t>
            </a:r>
            <a:r>
              <a:rPr lang="en-US" sz="2400" dirty="0"/>
              <a:t>:</a:t>
            </a:r>
          </a:p>
          <a:p>
            <a:r>
              <a:rPr lang="en-US" sz="2400" dirty="0"/>
              <a:t>defines a </a:t>
            </a:r>
            <a:r>
              <a:rPr lang="en-US" sz="2400" i="1" dirty="0"/>
              <a:t>collection (or set) of entities that have the same attributes. </a:t>
            </a:r>
          </a:p>
          <a:p>
            <a:r>
              <a:rPr lang="en-US" sz="2400" b="1" i="1" dirty="0"/>
              <a:t>Ex</a:t>
            </a:r>
            <a:r>
              <a:rPr lang="en-US" sz="2400" i="1" dirty="0"/>
              <a:t>: </a:t>
            </a:r>
            <a:r>
              <a:rPr lang="en-US" sz="2400" dirty="0"/>
              <a:t>company employing hundreds of employees may want to store similar information concerning each of the employees</a:t>
            </a:r>
          </a:p>
          <a:p>
            <a:r>
              <a:rPr lang="en-US" sz="2400" dirty="0"/>
              <a:t>These employee entities share the same attributes, but each entity has </a:t>
            </a:r>
            <a:r>
              <a:rPr lang="en-US" sz="2400" i="1" dirty="0"/>
              <a:t>its </a:t>
            </a:r>
            <a:r>
              <a:rPr lang="en-US" sz="2400" b="1" i="1" dirty="0"/>
              <a:t>own value(s) </a:t>
            </a:r>
            <a:r>
              <a:rPr lang="en-US" sz="2400" i="1" dirty="0"/>
              <a:t>for each attribute</a:t>
            </a:r>
          </a:p>
          <a:p>
            <a:r>
              <a:rPr lang="en-US" sz="2400" i="1" dirty="0"/>
              <a:t>Each entity type in the </a:t>
            </a:r>
            <a:r>
              <a:rPr lang="en-US" sz="2400" dirty="0"/>
              <a:t>database is described by its name and attributes</a:t>
            </a:r>
          </a:p>
          <a:p>
            <a:pPr>
              <a:buNone/>
            </a:pPr>
            <a:r>
              <a:rPr lang="en-US" sz="2400" b="1" dirty="0"/>
              <a:t>entity set</a:t>
            </a:r>
            <a:r>
              <a:rPr lang="en-US" sz="2400" dirty="0"/>
              <a:t>:</a:t>
            </a:r>
          </a:p>
          <a:p>
            <a:r>
              <a:rPr lang="en-US" sz="2400" dirty="0"/>
              <a:t>The collection of all entities of a particular entity type in the database at any point in time</a:t>
            </a:r>
          </a:p>
          <a:p>
            <a:r>
              <a:rPr lang="en-US" sz="2400" dirty="0"/>
              <a:t>For example, EMPLOYEE refers to both a </a:t>
            </a:r>
            <a:r>
              <a:rPr lang="en-US" sz="2400" i="1" dirty="0"/>
              <a:t>type of entity as well as the current set of all employee entities in the </a:t>
            </a:r>
            <a:r>
              <a:rPr lang="en-US" sz="2400" dirty="0"/>
              <a:t>database.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304800"/>
            <a:ext cx="8839200" cy="6324600"/>
          </a:xfrm>
        </p:spPr>
        <p:txBody>
          <a:bodyPr>
            <a:normAutofit/>
          </a:bodyPr>
          <a:lstStyle/>
          <a:p>
            <a:pPr>
              <a:buNone/>
            </a:pPr>
            <a:endParaRPr lang="en-US" sz="2000" dirty="0"/>
          </a:p>
          <a:p>
            <a:pPr>
              <a:buNone/>
            </a:pPr>
            <a:endParaRPr lang="en-US" sz="2000" dirty="0"/>
          </a:p>
          <a:p>
            <a:pPr>
              <a:buNone/>
            </a:pPr>
            <a:endParaRPr lang="en-US" sz="2000" dirty="0"/>
          </a:p>
          <a:p>
            <a:pPr>
              <a:buNone/>
            </a:pPr>
            <a:endParaRPr lang="en-US" sz="2000" dirty="0"/>
          </a:p>
          <a:p>
            <a:pPr>
              <a:buNone/>
            </a:pPr>
            <a:endParaRPr lang="en-US" sz="2000" dirty="0"/>
          </a:p>
          <a:p>
            <a:pPr>
              <a:buNone/>
            </a:pPr>
            <a:endParaRPr lang="en-US" sz="2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E2CD4BD-E3C1-7382-5177-276DA1960E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965200"/>
            <a:ext cx="7772400" cy="49275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671AB9D-72BB-E493-9339-0C75066D0B06}"/>
              </a:ext>
            </a:extLst>
          </p:cNvPr>
          <p:cNvSpPr txBox="1"/>
          <p:nvPr/>
        </p:nvSpPr>
        <p:spPr>
          <a:xfrm>
            <a:off x="533400" y="5614768"/>
            <a:ext cx="86174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dirty="0">
                <a:effectLst/>
                <a:latin typeface="AkzidenzGroteskBE"/>
              </a:rPr>
              <a:t>Figure: Two entity types, EMPLOYEE and COMPANY, and some member entities of each. </a:t>
            </a:r>
            <a:endParaRPr lang="en-US" dirty="0">
              <a:effectLst/>
            </a:endParaRPr>
          </a:p>
          <a:p>
            <a:endParaRPr lang="en-ET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38100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304800"/>
            <a:ext cx="8839200" cy="632460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endParaRPr lang="en-US" sz="2400" b="1" dirty="0"/>
          </a:p>
          <a:p>
            <a:pPr>
              <a:buNone/>
            </a:pPr>
            <a:r>
              <a:rPr lang="en-US" sz="2400" b="1" dirty="0"/>
              <a:t>Key Attributes of an Entity Type</a:t>
            </a:r>
            <a:r>
              <a:rPr lang="en-US" sz="2400" dirty="0"/>
              <a:t>:</a:t>
            </a:r>
          </a:p>
          <a:p>
            <a:r>
              <a:rPr lang="en-US" sz="2400" dirty="0"/>
              <a:t>An important constraint on the entities of an entity type is the key or </a:t>
            </a:r>
            <a:r>
              <a:rPr lang="en-US" sz="2400" b="1" dirty="0"/>
              <a:t>uniqueness constraint </a:t>
            </a:r>
            <a:r>
              <a:rPr lang="en-US" sz="2400" dirty="0"/>
              <a:t>on attributes</a:t>
            </a:r>
          </a:p>
          <a:p>
            <a:r>
              <a:rPr lang="en-US" sz="2400" dirty="0"/>
              <a:t>An entity type usually has an attribute whose values </a:t>
            </a:r>
            <a:r>
              <a:rPr lang="en-US" sz="2400" b="1" dirty="0"/>
              <a:t>are distinct </a:t>
            </a:r>
            <a:r>
              <a:rPr lang="en-US" sz="2400" dirty="0"/>
              <a:t>for each individual entity in the </a:t>
            </a:r>
            <a:r>
              <a:rPr lang="en-US" sz="2400" b="1" dirty="0"/>
              <a:t>entity set</a:t>
            </a:r>
            <a:r>
              <a:rPr lang="en-US" sz="2400" dirty="0"/>
              <a:t>. </a:t>
            </a:r>
          </a:p>
          <a:p>
            <a:r>
              <a:rPr lang="en-US" sz="2400" dirty="0"/>
              <a:t>Such an attribute is called a key attribute, and its values can be used to </a:t>
            </a:r>
            <a:r>
              <a:rPr lang="en-US" sz="2400" b="1" i="1" dirty="0"/>
              <a:t>identify each entity uniquely</a:t>
            </a:r>
          </a:p>
          <a:p>
            <a:r>
              <a:rPr lang="en-US" sz="2400" b="1" dirty="0"/>
              <a:t>For example</a:t>
            </a:r>
            <a:r>
              <a:rPr lang="en-US" sz="2400" dirty="0"/>
              <a:t>, the </a:t>
            </a:r>
            <a:r>
              <a:rPr lang="en-US" sz="2400" b="1" dirty="0"/>
              <a:t>Name</a:t>
            </a:r>
            <a:r>
              <a:rPr lang="en-US" sz="2400" dirty="0"/>
              <a:t> attribute is a key of the </a:t>
            </a:r>
            <a:r>
              <a:rPr lang="en-US" sz="2400" b="1" dirty="0"/>
              <a:t>COMPANY</a:t>
            </a:r>
            <a:r>
              <a:rPr lang="en-US" sz="2400" dirty="0"/>
              <a:t> entity type because no two companies are allowed to have the same name. </a:t>
            </a:r>
          </a:p>
          <a:p>
            <a:r>
              <a:rPr lang="en-US" sz="2400" dirty="0"/>
              <a:t>For the PERSON entity type, a typical key attribute is </a:t>
            </a:r>
            <a:r>
              <a:rPr lang="en-US" sz="2400" b="1" dirty="0" err="1"/>
              <a:t>SocialSecurityNumber</a:t>
            </a:r>
            <a:endParaRPr lang="en-US" sz="2400" b="1" dirty="0"/>
          </a:p>
          <a:p>
            <a:r>
              <a:rPr lang="en-US" sz="2400" dirty="0"/>
              <a:t>Sometimes, </a:t>
            </a:r>
            <a:r>
              <a:rPr lang="en-US" sz="2400" b="1" dirty="0"/>
              <a:t>several attributes together form a key</a:t>
            </a:r>
            <a:r>
              <a:rPr lang="en-US" sz="2400" dirty="0"/>
              <a:t>, meaning that the </a:t>
            </a:r>
            <a:r>
              <a:rPr lang="en-US" sz="2400" b="1" i="1" dirty="0"/>
              <a:t>combination of the attribute values must be distinct for each entity</a:t>
            </a:r>
            <a:r>
              <a:rPr lang="en-US" sz="2400" dirty="0"/>
              <a:t>. </a:t>
            </a:r>
          </a:p>
          <a:p>
            <a:r>
              <a:rPr lang="en-US" sz="2400" dirty="0"/>
              <a:t>If a set of attributes possesses this property, the proper way to represent this in the ER model is to define a </a:t>
            </a:r>
            <a:r>
              <a:rPr lang="en-US" sz="2400" b="1" dirty="0"/>
              <a:t>composite attribute and designate </a:t>
            </a:r>
            <a:r>
              <a:rPr lang="en-US" sz="2400" i="1" dirty="0"/>
              <a:t>it as a key </a:t>
            </a:r>
            <a:r>
              <a:rPr lang="en-US" sz="2400" dirty="0"/>
              <a:t>attribute of the entity type</a:t>
            </a:r>
          </a:p>
          <a:p>
            <a:r>
              <a:rPr lang="en-US" sz="2400" dirty="0"/>
              <a:t>each key attribute has its name underlined inside the oval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22860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04800"/>
            <a:ext cx="8991600" cy="6324600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Some entity types have </a:t>
            </a:r>
            <a:r>
              <a:rPr lang="en-US" sz="2400" b="1" i="1" dirty="0"/>
              <a:t>more than one key attribute</a:t>
            </a:r>
          </a:p>
          <a:p>
            <a:r>
              <a:rPr lang="en-US" sz="2400" dirty="0"/>
              <a:t>For example, each of the </a:t>
            </a:r>
            <a:r>
              <a:rPr lang="en-US" sz="2400" b="1" dirty="0" err="1"/>
              <a:t>VehicleID</a:t>
            </a:r>
            <a:r>
              <a:rPr lang="en-US" sz="2400" dirty="0"/>
              <a:t> and </a:t>
            </a:r>
            <a:r>
              <a:rPr lang="en-US" sz="2400" b="1" dirty="0"/>
              <a:t>Registration </a:t>
            </a:r>
            <a:r>
              <a:rPr lang="en-US" sz="2400" dirty="0"/>
              <a:t>attributes of the entity type CAR is a key in its own right</a:t>
            </a:r>
          </a:p>
          <a:p>
            <a:pPr>
              <a:buNone/>
            </a:pPr>
            <a:r>
              <a:rPr lang="en-US" sz="2400" dirty="0"/>
              <a:t>        CAR: </a:t>
            </a:r>
          </a:p>
          <a:p>
            <a:r>
              <a:rPr lang="en-US" sz="2400" dirty="0"/>
              <a:t>Registration(</a:t>
            </a:r>
            <a:r>
              <a:rPr lang="en-US" sz="2400" b="1" dirty="0" err="1"/>
              <a:t>RegistrationNumber</a:t>
            </a:r>
            <a:r>
              <a:rPr lang="en-US" sz="2400" b="1" dirty="0"/>
              <a:t>, State</a:t>
            </a:r>
            <a:r>
              <a:rPr lang="en-US" sz="2400" dirty="0"/>
              <a:t>), </a:t>
            </a:r>
            <a:r>
              <a:rPr lang="en-US" sz="2400" b="1" dirty="0" err="1"/>
              <a:t>VehiclelD</a:t>
            </a:r>
            <a:r>
              <a:rPr lang="en-US" sz="2400" dirty="0"/>
              <a:t>, Make, Model, Year, {Color}</a:t>
            </a:r>
          </a:p>
          <a:p>
            <a:pPr>
              <a:buNone/>
            </a:pPr>
            <a:r>
              <a:rPr lang="en-US" sz="2400" dirty="0"/>
              <a:t>Ex</a:t>
            </a:r>
            <a:r>
              <a:rPr lang="en-US" sz="1800" dirty="0"/>
              <a:t>:Car1 :   ( </a:t>
            </a:r>
            <a:r>
              <a:rPr lang="en-US" sz="1800" b="1" dirty="0"/>
              <a:t>(ABC 123, TEXAS), TK629</a:t>
            </a:r>
            <a:r>
              <a:rPr lang="en-US" sz="1800" dirty="0"/>
              <a:t>, Ford Mustang, convertible, 1998, {red, black})</a:t>
            </a:r>
          </a:p>
          <a:p>
            <a:pPr>
              <a:buNone/>
            </a:pPr>
            <a:r>
              <a:rPr lang="en-US" sz="1800" dirty="0"/>
              <a:t>       car2:   ( </a:t>
            </a:r>
            <a:r>
              <a:rPr lang="en-US" sz="1800" b="1" dirty="0"/>
              <a:t>(ABC 123, NEW YORK), WP9872</a:t>
            </a:r>
            <a:r>
              <a:rPr lang="en-US" sz="1800" dirty="0"/>
              <a:t>, Nissan Maxima, 4-door, 1999, {blue})</a:t>
            </a:r>
          </a:p>
          <a:p>
            <a:pPr>
              <a:buNone/>
            </a:pPr>
            <a:r>
              <a:rPr lang="en-US" sz="1800" dirty="0"/>
              <a:t>       car 3</a:t>
            </a:r>
            <a:r>
              <a:rPr lang="en-US" sz="1600" dirty="0"/>
              <a:t>:  </a:t>
            </a:r>
            <a:r>
              <a:rPr lang="en-US" sz="1600" dirty="0">
                <a:sym typeface="Wingdings" pitchFamily="2" charset="2"/>
              </a:rPr>
              <a:t>( </a:t>
            </a:r>
            <a:r>
              <a:rPr lang="en-US" sz="1600" b="1" dirty="0">
                <a:sym typeface="Wingdings" pitchFamily="2" charset="2"/>
              </a:rPr>
              <a:t>(</a:t>
            </a:r>
            <a:r>
              <a:rPr lang="en-US" sz="2000" b="1" dirty="0"/>
              <a:t>VSY 720, TEXAS), TD729 </a:t>
            </a:r>
            <a:r>
              <a:rPr lang="en-US" sz="2000" dirty="0"/>
              <a:t>, Chrysler </a:t>
            </a:r>
            <a:r>
              <a:rPr lang="en-US" sz="2000" dirty="0" err="1"/>
              <a:t>LeBaron</a:t>
            </a:r>
            <a:r>
              <a:rPr lang="en-US" sz="2000" dirty="0"/>
              <a:t>, 4-door, 1995, {white, blue})</a:t>
            </a:r>
            <a:endParaRPr lang="en-US" sz="2400" dirty="0"/>
          </a:p>
          <a:p>
            <a:pPr>
              <a:buNone/>
            </a:pPr>
            <a:r>
              <a:rPr lang="en-US" sz="2400" dirty="0"/>
              <a:t>     </a:t>
            </a:r>
          </a:p>
          <a:p>
            <a:r>
              <a:rPr lang="en-US" sz="2400" dirty="0"/>
              <a:t>The </a:t>
            </a:r>
            <a:r>
              <a:rPr lang="en-US" sz="2400" b="1" dirty="0"/>
              <a:t>Registration</a:t>
            </a:r>
            <a:r>
              <a:rPr lang="en-US" sz="2400" dirty="0"/>
              <a:t> attribute is an example of a </a:t>
            </a:r>
            <a:r>
              <a:rPr lang="en-US" sz="2400" b="1" dirty="0"/>
              <a:t>composite key </a:t>
            </a:r>
            <a:r>
              <a:rPr lang="en-US" sz="2400" dirty="0"/>
              <a:t>formed from two simple component attributes, </a:t>
            </a:r>
            <a:r>
              <a:rPr lang="en-US" sz="2400" b="1" i="1" dirty="0" err="1"/>
              <a:t>RegistrationNumber</a:t>
            </a:r>
            <a:r>
              <a:rPr lang="en-US" sz="2400" dirty="0"/>
              <a:t> and </a:t>
            </a:r>
            <a:r>
              <a:rPr lang="en-US" sz="2400" b="1" i="1" dirty="0"/>
              <a:t>State</a:t>
            </a:r>
            <a:r>
              <a:rPr lang="en-US" sz="2400" dirty="0"/>
              <a:t>, neither of which is a key on its own</a:t>
            </a:r>
          </a:p>
          <a:p>
            <a:pPr>
              <a:buNone/>
            </a:pPr>
            <a:r>
              <a:rPr lang="en-US" sz="2400" b="1" dirty="0"/>
              <a:t>Weak entity type</a:t>
            </a:r>
            <a:r>
              <a:rPr lang="en-US" sz="2400" dirty="0"/>
              <a:t>:</a:t>
            </a:r>
          </a:p>
          <a:p>
            <a:r>
              <a:rPr lang="en-US" sz="2400" dirty="0"/>
              <a:t>An entity type may also have no </a:t>
            </a:r>
            <a:r>
              <a:rPr lang="en-US" sz="2400" i="1" dirty="0"/>
              <a:t>key, in which case it is called </a:t>
            </a:r>
            <a:r>
              <a:rPr lang="en-US" sz="2400" b="1" i="1" dirty="0"/>
              <a:t>a weak entity type</a:t>
            </a:r>
            <a:endParaRPr lang="en-US" sz="2400" b="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38100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381000"/>
            <a:ext cx="8839200" cy="6248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i="1" dirty="0"/>
              <a:t>Value sets(Domains of attribute)</a:t>
            </a:r>
          </a:p>
          <a:p>
            <a:r>
              <a:rPr lang="en-US" sz="2400" dirty="0"/>
              <a:t>Each simple attribute of an entity type is associated with a value set (or domain of values), which specifies </a:t>
            </a:r>
            <a:r>
              <a:rPr lang="en-US" sz="2400" b="1" i="1" dirty="0"/>
              <a:t>the set of values that may be assigned to that attribute for each individual entity</a:t>
            </a:r>
          </a:p>
          <a:p>
            <a:r>
              <a:rPr lang="en-US" sz="2400" dirty="0"/>
              <a:t>Ex we can specify the value set of the Age attribute of EMPLOYEE to be the set of integer numbers between 16 and 70</a:t>
            </a:r>
          </a:p>
          <a:p>
            <a:r>
              <a:rPr lang="en-US" sz="2400" dirty="0"/>
              <a:t>Value sets are typically specified using the basic data types available in most programming languages, such as integer, string, </a:t>
            </a:r>
            <a:r>
              <a:rPr lang="en-US" sz="2400" dirty="0" err="1"/>
              <a:t>boolean</a:t>
            </a:r>
            <a:r>
              <a:rPr lang="en-US" sz="2400" dirty="0"/>
              <a:t>, float, enumerated type, and so 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381000"/>
          </a:xfrm>
        </p:spPr>
        <p:txBody>
          <a:bodyPr>
            <a:noAutofit/>
          </a:bodyPr>
          <a:lstStyle/>
          <a:p>
            <a:r>
              <a:rPr lang="en-US" sz="2400" b="1" dirty="0"/>
              <a:t>Initial Conceptual Design of the COMPANY Database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9144000" cy="5943600"/>
          </a:xfrm>
        </p:spPr>
        <p:txBody>
          <a:bodyPr>
            <a:normAutofit/>
          </a:bodyPr>
          <a:lstStyle/>
          <a:p>
            <a:r>
              <a:rPr lang="en-US" sz="2400" dirty="0"/>
              <a:t>we can identify four entity types-one corresponding to each of the four items in the specification</a:t>
            </a:r>
          </a:p>
          <a:p>
            <a:pPr>
              <a:buNone/>
            </a:pPr>
            <a:r>
              <a:rPr lang="en-US" sz="2400" dirty="0"/>
              <a:t>1. An entity type DEPARTMENT with attributes </a:t>
            </a:r>
            <a:r>
              <a:rPr lang="en-US" sz="2400" b="1" i="1" dirty="0"/>
              <a:t>Name, Number, Locations, Manager, and ManagerStartDate</a:t>
            </a:r>
            <a:r>
              <a:rPr lang="en-US" sz="2400" dirty="0"/>
              <a:t>. Locations is the only </a:t>
            </a:r>
            <a:r>
              <a:rPr lang="en-US" sz="2400" dirty="0" err="1"/>
              <a:t>multivalued</a:t>
            </a:r>
            <a:r>
              <a:rPr lang="en-US" sz="2400" dirty="0"/>
              <a:t> attribute. We can specify that both </a:t>
            </a:r>
            <a:r>
              <a:rPr lang="en-US" sz="2400" b="1" dirty="0"/>
              <a:t>Name</a:t>
            </a:r>
            <a:r>
              <a:rPr lang="en-US" sz="2400" dirty="0"/>
              <a:t> and </a:t>
            </a:r>
            <a:r>
              <a:rPr lang="en-US" sz="2400" b="1" dirty="0"/>
              <a:t>Number </a:t>
            </a:r>
            <a:r>
              <a:rPr lang="en-US" sz="2400" dirty="0"/>
              <a:t>are (separate) key attributes, because each was specified to be unique.</a:t>
            </a:r>
          </a:p>
          <a:p>
            <a:pPr>
              <a:buNone/>
            </a:pPr>
            <a:r>
              <a:rPr lang="en-US" sz="2400" dirty="0"/>
              <a:t>2. An entity type PROJECT with attributes </a:t>
            </a:r>
            <a:r>
              <a:rPr lang="en-US" sz="2400" b="1" i="1" dirty="0"/>
              <a:t>Name, Number, Location, and ControllingDepartmen</a:t>
            </a:r>
            <a:r>
              <a:rPr lang="en-US" sz="2400" dirty="0"/>
              <a:t>t. Both </a:t>
            </a:r>
            <a:r>
              <a:rPr lang="en-US" sz="2400" b="1" dirty="0"/>
              <a:t>Name</a:t>
            </a:r>
            <a:r>
              <a:rPr lang="en-US" sz="2400" dirty="0"/>
              <a:t> and </a:t>
            </a:r>
            <a:r>
              <a:rPr lang="en-US" sz="2400" b="1" dirty="0"/>
              <a:t>Number </a:t>
            </a:r>
            <a:r>
              <a:rPr lang="en-US" sz="2400" dirty="0"/>
              <a:t>are (separate) key attributes.</a:t>
            </a:r>
          </a:p>
          <a:p>
            <a:pPr>
              <a:buNone/>
            </a:pPr>
            <a:r>
              <a:rPr lang="en-US" sz="2400" dirty="0"/>
              <a:t>3. An entity type EMPLOYEE with attributes Name</a:t>
            </a:r>
            <a:r>
              <a:rPr lang="en-US" sz="2400" b="1" dirty="0"/>
              <a:t>, SSN </a:t>
            </a:r>
            <a:r>
              <a:rPr lang="en-US" sz="2400" dirty="0"/>
              <a:t>(for social security number),Sex, Address, Salary, </a:t>
            </a:r>
            <a:r>
              <a:rPr lang="en-US" sz="2400" dirty="0" err="1"/>
              <a:t>BirthDate</a:t>
            </a:r>
            <a:r>
              <a:rPr lang="en-US" sz="2400" dirty="0"/>
              <a:t>, Department, and Supervisor.</a:t>
            </a:r>
          </a:p>
          <a:p>
            <a:pPr>
              <a:buNone/>
            </a:pPr>
            <a:r>
              <a:rPr lang="en-US" sz="2400" dirty="0"/>
              <a:t>4. An entity type DEPENDENT with attributes Employee, </a:t>
            </a:r>
            <a:r>
              <a:rPr lang="en-US" sz="2400" dirty="0" err="1"/>
              <a:t>dependentName</a:t>
            </a:r>
            <a:r>
              <a:rPr lang="en-US" sz="2400" dirty="0"/>
              <a:t>, Sex, </a:t>
            </a:r>
            <a:r>
              <a:rPr lang="en-US" sz="2400" dirty="0" err="1"/>
              <a:t>BirthDate</a:t>
            </a:r>
            <a:r>
              <a:rPr lang="en-US" sz="2400" dirty="0"/>
              <a:t>, and Relationship (to the employee).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38100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09600"/>
            <a:ext cx="8839200" cy="6019800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sz="2400" b="1" dirty="0"/>
              <a:t>DEPARTMENT</a:t>
            </a:r>
          </a:p>
          <a:p>
            <a:pPr>
              <a:buNone/>
            </a:pPr>
            <a:r>
              <a:rPr lang="en-US" sz="2400" dirty="0"/>
              <a:t>Name, Number, {Locations}, Manager, ManagerStartDate</a:t>
            </a:r>
          </a:p>
          <a:p>
            <a:pPr algn="ctr">
              <a:buNone/>
            </a:pPr>
            <a:r>
              <a:rPr lang="en-US" sz="2400" b="1" dirty="0"/>
              <a:t>PROJECT</a:t>
            </a:r>
          </a:p>
          <a:p>
            <a:pPr>
              <a:buNone/>
            </a:pPr>
            <a:r>
              <a:rPr lang="en-US" sz="2400" dirty="0"/>
              <a:t>Name, Number, Location, ControllingDepartment</a:t>
            </a:r>
          </a:p>
          <a:p>
            <a:pPr algn="ctr">
              <a:buNone/>
            </a:pPr>
            <a:r>
              <a:rPr lang="en-US" sz="2400" b="1" dirty="0"/>
              <a:t>EMPLOYEE</a:t>
            </a:r>
          </a:p>
          <a:p>
            <a:pPr>
              <a:buNone/>
            </a:pPr>
            <a:r>
              <a:rPr lang="en-US" sz="2400" dirty="0"/>
              <a:t>Name(</a:t>
            </a:r>
            <a:r>
              <a:rPr lang="en-US" sz="2400" dirty="0" err="1"/>
              <a:t>FName</a:t>
            </a:r>
            <a:r>
              <a:rPr lang="en-US" sz="2400" dirty="0"/>
              <a:t>, </a:t>
            </a:r>
            <a:r>
              <a:rPr lang="en-US" sz="2400" dirty="0" err="1"/>
              <a:t>Mlnit</a:t>
            </a:r>
            <a:r>
              <a:rPr lang="en-US" sz="2400" dirty="0"/>
              <a:t>, </a:t>
            </a:r>
            <a:r>
              <a:rPr lang="en-US" sz="2400" dirty="0" err="1"/>
              <a:t>LName</a:t>
            </a:r>
            <a:r>
              <a:rPr lang="en-US" sz="2400" dirty="0"/>
              <a:t>), </a:t>
            </a:r>
            <a:r>
              <a:rPr lang="en-US" sz="2400" dirty="0" err="1"/>
              <a:t>SSN,Sex</a:t>
            </a:r>
            <a:r>
              <a:rPr lang="en-US" sz="2400" dirty="0"/>
              <a:t>, Address, Salary,</a:t>
            </a:r>
          </a:p>
          <a:p>
            <a:pPr>
              <a:buNone/>
            </a:pPr>
            <a:r>
              <a:rPr lang="en-US" sz="2400" dirty="0" err="1"/>
              <a:t>BirthDate</a:t>
            </a:r>
            <a:r>
              <a:rPr lang="en-US" sz="2400" dirty="0"/>
              <a:t>, Department, Supervisor,</a:t>
            </a:r>
          </a:p>
          <a:p>
            <a:pPr lvl="2">
              <a:buNone/>
            </a:pPr>
            <a:r>
              <a:rPr lang="en-US" sz="1600" dirty="0"/>
              <a:t>         </a:t>
            </a:r>
            <a:r>
              <a:rPr lang="en-US" sz="2800" dirty="0" err="1"/>
              <a:t>WorksOn</a:t>
            </a:r>
            <a:r>
              <a:rPr lang="en-US" sz="2800" dirty="0"/>
              <a:t> </a:t>
            </a:r>
          </a:p>
          <a:p>
            <a:pPr lvl="2">
              <a:buNone/>
            </a:pPr>
            <a:r>
              <a:rPr lang="en-US" sz="2800" dirty="0"/>
              <a:t>(Project, Hours)}</a:t>
            </a:r>
          </a:p>
          <a:p>
            <a:pPr algn="ctr">
              <a:buNone/>
            </a:pPr>
            <a:r>
              <a:rPr lang="en-US" sz="2400" b="1" dirty="0"/>
              <a:t>DEPENDENT</a:t>
            </a:r>
          </a:p>
          <a:p>
            <a:pPr>
              <a:buNone/>
            </a:pPr>
            <a:r>
              <a:rPr lang="en-US" sz="2400" dirty="0"/>
              <a:t>Employee, </a:t>
            </a:r>
            <a:r>
              <a:rPr lang="en-US" sz="2400" dirty="0" err="1"/>
              <a:t>DependentName</a:t>
            </a:r>
            <a:r>
              <a:rPr lang="en-US" sz="2400" dirty="0"/>
              <a:t>, </a:t>
            </a:r>
            <a:r>
              <a:rPr lang="en-US" sz="2400" dirty="0" err="1"/>
              <a:t>Sex,BirthDate</a:t>
            </a:r>
            <a:r>
              <a:rPr lang="en-US" sz="2400" dirty="0"/>
              <a:t>, Relationship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8991600" cy="533400"/>
          </a:xfrm>
        </p:spPr>
        <p:txBody>
          <a:bodyPr>
            <a:noAutofit/>
          </a:bodyPr>
          <a:lstStyle/>
          <a:p>
            <a:r>
              <a:rPr lang="en-US" sz="2400" b="1" dirty="0"/>
              <a:t>RELATIONSHIPS IN DAATABASE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09600"/>
            <a:ext cx="8839200" cy="6096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Relationship</a:t>
            </a:r>
            <a:r>
              <a:rPr lang="en-US" sz="2400" dirty="0"/>
              <a:t>: </a:t>
            </a:r>
          </a:p>
          <a:p>
            <a:r>
              <a:rPr lang="en-US" sz="2400" dirty="0"/>
              <a:t>is whenever an attribute of one entity type refers to another entity type, some relationship exists </a:t>
            </a:r>
          </a:p>
          <a:p>
            <a:pPr>
              <a:buNone/>
            </a:pPr>
            <a:r>
              <a:rPr lang="en-US" sz="2400" dirty="0"/>
              <a:t>For example:</a:t>
            </a:r>
          </a:p>
          <a:p>
            <a:r>
              <a:rPr lang="en-US" sz="2400" dirty="0"/>
              <a:t>the attribute </a:t>
            </a:r>
            <a:r>
              <a:rPr lang="en-US" sz="2400" b="1" dirty="0"/>
              <a:t>Manager</a:t>
            </a:r>
            <a:r>
              <a:rPr lang="en-US" sz="2400" dirty="0"/>
              <a:t> of DEPARTMENT refers to an employee who manages  the department;</a:t>
            </a:r>
          </a:p>
          <a:p>
            <a:r>
              <a:rPr lang="en-US" sz="2400" dirty="0"/>
              <a:t> the attribute </a:t>
            </a:r>
            <a:r>
              <a:rPr lang="en-US" sz="2400" b="1" dirty="0"/>
              <a:t>ControllingDepartment</a:t>
            </a:r>
            <a:r>
              <a:rPr lang="en-US" sz="2400" dirty="0"/>
              <a:t> of PROJECT refers to the department that controls the project; </a:t>
            </a:r>
          </a:p>
          <a:p>
            <a:r>
              <a:rPr lang="en-US" sz="2400" dirty="0"/>
              <a:t>the attribute </a:t>
            </a:r>
            <a:r>
              <a:rPr lang="en-US" sz="2400" b="1" dirty="0"/>
              <a:t>Superviso</a:t>
            </a:r>
            <a:r>
              <a:rPr lang="en-US" sz="2400" dirty="0"/>
              <a:t>r of EMPLOYEE refers to another employee (the one who supervises this employee); </a:t>
            </a:r>
          </a:p>
          <a:p>
            <a:r>
              <a:rPr lang="en-US" sz="2400" dirty="0"/>
              <a:t>the attribute </a:t>
            </a:r>
            <a:r>
              <a:rPr lang="en-US" sz="2400" b="1" dirty="0"/>
              <a:t>Departmen</a:t>
            </a:r>
            <a:r>
              <a:rPr lang="en-US" sz="2400" dirty="0"/>
              <a:t>t of EMPLOYEE refers to the department for which the employee works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381000"/>
          </a:xfrm>
        </p:spPr>
        <p:txBody>
          <a:bodyPr>
            <a:noAutofit/>
          </a:bodyPr>
          <a:lstStyle/>
          <a:p>
            <a:r>
              <a:rPr lang="en-US" sz="3200" b="1" dirty="0"/>
              <a:t>Relationship Types, Sets, and Instances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839200" cy="5791200"/>
          </a:xfrm>
        </p:spPr>
        <p:txBody>
          <a:bodyPr>
            <a:normAutofit/>
          </a:bodyPr>
          <a:lstStyle/>
          <a:p>
            <a:r>
              <a:rPr lang="en-US" sz="2400" dirty="0"/>
              <a:t>A </a:t>
            </a:r>
            <a:r>
              <a:rPr lang="en-US" sz="2400" b="1" i="1" dirty="0"/>
              <a:t>relationship type </a:t>
            </a:r>
            <a:r>
              <a:rPr lang="en-US" sz="2400" b="1" dirty="0"/>
              <a:t>R </a:t>
            </a:r>
            <a:r>
              <a:rPr lang="en-US" sz="2400" dirty="0"/>
              <a:t>among n entity types E1, E2, , En defines a set of associations or a </a:t>
            </a:r>
            <a:r>
              <a:rPr lang="en-US" sz="2400" b="1" i="1" dirty="0"/>
              <a:t>relationship set </a:t>
            </a:r>
            <a:r>
              <a:rPr lang="en-US" sz="2400" dirty="0"/>
              <a:t>-among entities from these entity types</a:t>
            </a:r>
          </a:p>
          <a:p>
            <a:r>
              <a:rPr lang="en-US" sz="2400" dirty="0"/>
              <a:t>Each of the entity types E1, E2, ... , En is said to participate in the </a:t>
            </a:r>
            <a:r>
              <a:rPr lang="en-US" sz="2400" b="1" i="1" dirty="0"/>
              <a:t>relationship type R</a:t>
            </a:r>
            <a:r>
              <a:rPr lang="en-US" sz="2400" dirty="0"/>
              <a:t>;</a:t>
            </a:r>
          </a:p>
          <a:p>
            <a:r>
              <a:rPr lang="en-US" sz="2400" dirty="0"/>
              <a:t>similarly, each of the individual entities e1, </a:t>
            </a:r>
            <a:r>
              <a:rPr lang="en-US" sz="2400" i="1" dirty="0"/>
              <a:t>e2.... , en is said to participate in the </a:t>
            </a:r>
            <a:r>
              <a:rPr lang="en-US" sz="2400" b="1" dirty="0"/>
              <a:t>relationship instance </a:t>
            </a:r>
            <a:r>
              <a:rPr lang="en-US" sz="2400" i="1" dirty="0" err="1"/>
              <a:t>ri</a:t>
            </a:r>
            <a:r>
              <a:rPr lang="en-US" sz="2400" i="1" dirty="0"/>
              <a:t> = (e1, e2 ..., en)</a:t>
            </a:r>
          </a:p>
          <a:p>
            <a:r>
              <a:rPr lang="en-US" sz="2400" dirty="0"/>
              <a:t>the entities participating in</a:t>
            </a:r>
            <a:r>
              <a:rPr lang="en-US" sz="2400" b="1" dirty="0"/>
              <a:t> </a:t>
            </a:r>
            <a:r>
              <a:rPr lang="en-US" sz="2400" b="1" i="1" dirty="0" err="1"/>
              <a:t>r</a:t>
            </a:r>
            <a:r>
              <a:rPr lang="en-US" sz="2400" b="1" i="1" baseline="-25000" dirty="0" err="1"/>
              <a:t>i</a:t>
            </a:r>
            <a:r>
              <a:rPr lang="en-US" sz="2400" b="1" i="1" dirty="0"/>
              <a:t> </a:t>
            </a:r>
            <a:r>
              <a:rPr lang="en-US" sz="2400" i="1" dirty="0"/>
              <a:t>are related in some way in the corresponding miniworld situation</a:t>
            </a:r>
          </a:p>
          <a:p>
            <a:r>
              <a:rPr lang="en-US" sz="2400" dirty="0"/>
              <a:t>For example: a </a:t>
            </a:r>
            <a:r>
              <a:rPr lang="en-US" sz="2400" b="1" i="1" dirty="0"/>
              <a:t>relationship type </a:t>
            </a:r>
            <a:r>
              <a:rPr lang="en-US" sz="2400" dirty="0"/>
              <a:t>WORKS_FOR between the two entity types EMPLOYEE and DEPARTMENT, which associates each employee with the department for which the employee works.</a:t>
            </a:r>
          </a:p>
          <a:p>
            <a:r>
              <a:rPr lang="en-US" sz="2400" dirty="0"/>
              <a:t> Each </a:t>
            </a:r>
            <a:r>
              <a:rPr lang="en-US" sz="2400" b="1" i="1" dirty="0"/>
              <a:t>relationship instance </a:t>
            </a:r>
            <a:r>
              <a:rPr lang="en-US" sz="2400" dirty="0"/>
              <a:t>in the relationship set WORKSFOR associates </a:t>
            </a:r>
            <a:r>
              <a:rPr lang="en-US" sz="2400" b="1" i="1" dirty="0"/>
              <a:t>one employee entity and one department entity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228600"/>
            <a:ext cx="8839200" cy="640080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dirty="0"/>
              <a:t>  EMPLOYEE              WORKS _FOR                DEPARTMENT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2600" dirty="0"/>
              <a:t>The figure shows employees e1, </a:t>
            </a:r>
            <a:r>
              <a:rPr lang="en-US" sz="2600" i="1" dirty="0"/>
              <a:t>e3' and e6 work for department d1 ; e2 and e4 work for d2; </a:t>
            </a:r>
            <a:r>
              <a:rPr lang="en-US" sz="2600" dirty="0"/>
              <a:t>and e5 and </a:t>
            </a:r>
            <a:r>
              <a:rPr lang="en-US" sz="2600" i="1" dirty="0"/>
              <a:t>e7 work for d3</a:t>
            </a:r>
          </a:p>
          <a:p>
            <a:r>
              <a:rPr lang="en-US" sz="2800" dirty="0"/>
              <a:t>In ER diagrams, relationship types are displayed as </a:t>
            </a:r>
            <a:r>
              <a:rPr lang="en-US" sz="2800" b="1" dirty="0"/>
              <a:t>diamond-shaped boxes(</a:t>
            </a:r>
            <a:r>
              <a:rPr lang="en-US" sz="2800" dirty="0"/>
              <a:t>see figure 3.2) </a:t>
            </a:r>
            <a:endParaRPr lang="en-US" sz="2600" b="1" dirty="0"/>
          </a:p>
        </p:txBody>
      </p:sp>
      <p:sp>
        <p:nvSpPr>
          <p:cNvPr id="4" name="Oval 3"/>
          <p:cNvSpPr/>
          <p:nvPr/>
        </p:nvSpPr>
        <p:spPr>
          <a:xfrm>
            <a:off x="304800" y="990600"/>
            <a:ext cx="1524000" cy="3733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e1</a:t>
            </a:r>
          </a:p>
          <a:p>
            <a:pPr algn="ctr"/>
            <a:endParaRPr lang="en-US" sz="800" dirty="0"/>
          </a:p>
          <a:p>
            <a:pPr algn="ctr"/>
            <a:r>
              <a:rPr lang="en-US" dirty="0"/>
              <a:t>e1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e2</a:t>
            </a:r>
          </a:p>
          <a:p>
            <a:pPr algn="ctr"/>
            <a:endParaRPr lang="en-US" sz="1050" dirty="0"/>
          </a:p>
          <a:p>
            <a:pPr algn="ctr"/>
            <a:r>
              <a:rPr lang="en-US" dirty="0"/>
              <a:t>e3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e4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e5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e6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e7</a:t>
            </a:r>
          </a:p>
          <a:p>
            <a:pPr algn="ctr"/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2971800" y="914400"/>
            <a:ext cx="1524000" cy="381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r1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r1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r2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r3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r4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r5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r6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r7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6705600" y="1219200"/>
            <a:ext cx="1676400" cy="2286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d1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d2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d3</a:t>
            </a:r>
          </a:p>
          <a:p>
            <a:pPr algn="ctr"/>
            <a:endParaRPr lang="en-US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3657600" y="1066800"/>
            <a:ext cx="3810000" cy="68580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V="1">
            <a:off x="3810000" y="1752600"/>
            <a:ext cx="3733800" cy="30480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3733800" y="1752600"/>
            <a:ext cx="3733800" cy="205740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3810000" y="1600200"/>
            <a:ext cx="3657600" cy="60960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V="1">
            <a:off x="3733800" y="2286000"/>
            <a:ext cx="3733800" cy="30480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3657600" y="2819400"/>
            <a:ext cx="3733800" cy="30480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V="1">
            <a:off x="3733800" y="2819400"/>
            <a:ext cx="3733800" cy="144780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V="1">
            <a:off x="1066800" y="1066800"/>
            <a:ext cx="2590800" cy="30480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flipV="1">
            <a:off x="1143000" y="1600200"/>
            <a:ext cx="2438400" cy="30480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1143000" y="2133600"/>
            <a:ext cx="2438400" cy="30480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V="1">
            <a:off x="1143000" y="2667000"/>
            <a:ext cx="2438400" cy="30480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V="1">
            <a:off x="1143000" y="3124200"/>
            <a:ext cx="2438400" cy="30480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flipV="1">
            <a:off x="1219200" y="3733800"/>
            <a:ext cx="2362200" cy="22860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V="1">
            <a:off x="1219200" y="4267200"/>
            <a:ext cx="2438400" cy="30480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381000"/>
          </a:xfrm>
        </p:spPr>
        <p:txBody>
          <a:bodyPr>
            <a:noAutofit/>
          </a:bodyPr>
          <a:lstStyle/>
          <a:p>
            <a:r>
              <a:rPr lang="en-US" sz="2400" b="1" dirty="0"/>
              <a:t>Relationship Degree, Role Names, and Recursive 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62000"/>
            <a:ext cx="8839200" cy="5867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/>
              <a:t>Degree of a Relationship Type:</a:t>
            </a:r>
          </a:p>
          <a:p>
            <a:r>
              <a:rPr lang="en-US" sz="2400" dirty="0"/>
              <a:t>The degree of a relationship type is the number of participating entity types.</a:t>
            </a:r>
          </a:p>
          <a:p>
            <a:r>
              <a:rPr lang="en-US" sz="2400" dirty="0"/>
              <a:t>the WORKS_FOR relationship is of degree two</a:t>
            </a:r>
          </a:p>
          <a:p>
            <a:r>
              <a:rPr lang="en-US" sz="2400" dirty="0"/>
              <a:t>A relationship type of degree two is called </a:t>
            </a:r>
            <a:r>
              <a:rPr lang="en-US" sz="2400" b="1" dirty="0"/>
              <a:t>binary</a:t>
            </a:r>
            <a:r>
              <a:rPr lang="en-US" sz="2400" dirty="0"/>
              <a:t>, and one of degree three is called </a:t>
            </a:r>
            <a:r>
              <a:rPr lang="en-US" sz="2400" b="1" dirty="0"/>
              <a:t>ternary</a:t>
            </a:r>
          </a:p>
          <a:p>
            <a:r>
              <a:rPr lang="en-US" sz="2400" dirty="0"/>
              <a:t>EX: Ternary  is whenever s supplies part </a:t>
            </a:r>
            <a:r>
              <a:rPr lang="en-US" sz="2400" i="1" dirty="0"/>
              <a:t>p to project j.(See figure 3.10 page  63)</a:t>
            </a:r>
          </a:p>
          <a:p>
            <a:r>
              <a:rPr lang="en-US" sz="2400" dirty="0"/>
              <a:t>Relationships can generally be of any degree  and becomes complex , but the ones most common are binary relationships</a:t>
            </a:r>
            <a:endParaRPr lang="en-US" sz="2400" b="1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457200"/>
            <a:ext cx="8839200" cy="64008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400" b="1" dirty="0"/>
              <a:t>Role Names</a:t>
            </a:r>
          </a:p>
          <a:p>
            <a:r>
              <a:rPr lang="en-US" sz="2400" dirty="0"/>
              <a:t>Each entity type that participates in a relationship type plays a particular role in the relationship</a:t>
            </a:r>
          </a:p>
          <a:p>
            <a:r>
              <a:rPr lang="en-US" sz="2400" dirty="0"/>
              <a:t>The </a:t>
            </a:r>
            <a:r>
              <a:rPr lang="en-US" sz="2400" b="1" dirty="0"/>
              <a:t>role name signifies the role that a participating entity from the entity type plays</a:t>
            </a:r>
            <a:r>
              <a:rPr lang="en-US" sz="2400" dirty="0"/>
              <a:t> in each relationship instance</a:t>
            </a:r>
          </a:p>
          <a:p>
            <a:r>
              <a:rPr lang="en-US" sz="2400" dirty="0"/>
              <a:t>For example, in the WORKS_FOR relationship type, EMPLOYEE plays the role of </a:t>
            </a:r>
            <a:r>
              <a:rPr lang="en-US" sz="2400" b="1" i="1" dirty="0"/>
              <a:t>employee or worker </a:t>
            </a:r>
            <a:r>
              <a:rPr lang="en-US" sz="2400" i="1" dirty="0"/>
              <a:t>and DEPARTMENT plays the role </a:t>
            </a:r>
            <a:r>
              <a:rPr lang="en-US" sz="2400" dirty="0"/>
              <a:t>of </a:t>
            </a:r>
            <a:r>
              <a:rPr lang="en-US" sz="2400" b="1" i="1" dirty="0"/>
              <a:t>department or employer</a:t>
            </a:r>
            <a:r>
              <a:rPr lang="en-US" sz="2400" i="1" dirty="0"/>
              <a:t>. </a:t>
            </a:r>
          </a:p>
          <a:p>
            <a:pPr>
              <a:buNone/>
            </a:pPr>
            <a:r>
              <a:rPr lang="en-US" sz="2400" b="1" dirty="0"/>
              <a:t>Recursive Relationships:</a:t>
            </a:r>
          </a:p>
          <a:p>
            <a:r>
              <a:rPr lang="en-US" sz="2400" dirty="0"/>
              <a:t>Role names are not technically necessary in relationship types where all the participating entity types are distinct, since each participating entity type name can be used as the role name</a:t>
            </a:r>
          </a:p>
          <a:p>
            <a:r>
              <a:rPr lang="en-US" sz="2400" dirty="0"/>
              <a:t>However, in some cases the </a:t>
            </a:r>
            <a:r>
              <a:rPr lang="en-US" sz="2400" b="1" i="1" dirty="0"/>
              <a:t>same entity type participates more than once in a relationship type in different roles</a:t>
            </a:r>
          </a:p>
          <a:p>
            <a:r>
              <a:rPr lang="en-US" sz="2400" dirty="0"/>
              <a:t>In such cases the role name becomes essential for distinguishing the meaning of each participation</a:t>
            </a:r>
            <a:endParaRPr lang="en-US" sz="2400" i="1" dirty="0"/>
          </a:p>
          <a:p>
            <a:r>
              <a:rPr lang="en-US" sz="2400" dirty="0"/>
              <a:t>Such relationship types are called </a:t>
            </a:r>
            <a:r>
              <a:rPr lang="en-US" sz="2400" b="1" i="1" dirty="0"/>
              <a:t>recursive relationships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idx="1"/>
          </p:nvPr>
        </p:nvSpPr>
        <p:spPr>
          <a:xfrm>
            <a:off x="152400" y="0"/>
            <a:ext cx="8839200" cy="6629400"/>
          </a:xfrm>
        </p:spPr>
        <p:txBody>
          <a:bodyPr>
            <a:normAutofit fontScale="97500"/>
          </a:bodyPr>
          <a:lstStyle/>
          <a:p>
            <a:endParaRPr lang="en-US" sz="2500" dirty="0"/>
          </a:p>
          <a:p>
            <a:r>
              <a:rPr lang="en-US" sz="2500" dirty="0"/>
              <a:t>The </a:t>
            </a:r>
            <a:r>
              <a:rPr lang="en-US" sz="2500" b="1" dirty="0"/>
              <a:t>SUPERVISION</a:t>
            </a:r>
            <a:r>
              <a:rPr lang="en-US" sz="2500" dirty="0"/>
              <a:t> relationship type relates an employee to a </a:t>
            </a:r>
            <a:r>
              <a:rPr lang="en-US" sz="2500" b="1" dirty="0"/>
              <a:t>supervisor</a:t>
            </a:r>
            <a:r>
              <a:rPr lang="en-US" sz="2500" dirty="0"/>
              <a:t>, where both employee and supervisor entities are members of the same EMPLOYEE entity type</a:t>
            </a:r>
            <a:r>
              <a:rPr lang="en-US" dirty="0"/>
              <a:t>.</a:t>
            </a:r>
          </a:p>
          <a:p>
            <a:r>
              <a:rPr lang="en-US" sz="2500" dirty="0"/>
              <a:t>The EMPLOYEE entity type </a:t>
            </a:r>
            <a:r>
              <a:rPr lang="en-US" sz="2500" i="1" dirty="0"/>
              <a:t>participates twice </a:t>
            </a:r>
            <a:r>
              <a:rPr lang="en-US" sz="2500" dirty="0"/>
              <a:t>in SUPERVISION: once in the role of </a:t>
            </a:r>
            <a:r>
              <a:rPr lang="en-US" sz="2500" b="1" i="1" dirty="0"/>
              <a:t>supervisor (or boss), </a:t>
            </a:r>
            <a:r>
              <a:rPr lang="en-US" sz="2500" i="1" dirty="0"/>
              <a:t>and once in the role of </a:t>
            </a:r>
            <a:r>
              <a:rPr lang="en-US" sz="2500" b="1" i="1" dirty="0"/>
              <a:t>supervisee</a:t>
            </a:r>
            <a:r>
              <a:rPr lang="en-US" sz="2500" i="1" dirty="0"/>
              <a:t> (or subordinate) ( see figure 3. 11 page 65)</a:t>
            </a:r>
          </a:p>
          <a:p>
            <a:pPr>
              <a:buNone/>
            </a:pPr>
            <a:endParaRPr lang="en-US" sz="2500" i="1" dirty="0"/>
          </a:p>
          <a:p>
            <a:endParaRPr lang="en-US" sz="2500" i="1" dirty="0"/>
          </a:p>
          <a:p>
            <a:pPr>
              <a:buNone/>
            </a:pPr>
            <a:endParaRPr lang="en-US" sz="2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381000"/>
          </a:xfrm>
        </p:spPr>
        <p:txBody>
          <a:bodyPr>
            <a:noAutofit/>
          </a:bodyPr>
          <a:lstStyle/>
          <a:p>
            <a:r>
              <a:rPr lang="en-US" sz="2800" b="1" dirty="0"/>
              <a:t>Constraints on Relationship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38200"/>
            <a:ext cx="8839200" cy="6019800"/>
          </a:xfrm>
        </p:spPr>
        <p:txBody>
          <a:bodyPr>
            <a:normAutofit/>
          </a:bodyPr>
          <a:lstStyle/>
          <a:p>
            <a:r>
              <a:rPr lang="en-US" sz="2800" dirty="0"/>
              <a:t>Relationship types usually have </a:t>
            </a:r>
            <a:r>
              <a:rPr lang="en-US" sz="2800" b="1" dirty="0"/>
              <a:t>certain constraints </a:t>
            </a:r>
            <a:r>
              <a:rPr lang="en-US" sz="2800" dirty="0"/>
              <a:t>that limit the possible combinations of entities that may participate in the corresponding relationship set</a:t>
            </a:r>
          </a:p>
          <a:p>
            <a:r>
              <a:rPr lang="en-US" sz="2800" dirty="0"/>
              <a:t>Determined from the miniworld situation</a:t>
            </a:r>
          </a:p>
          <a:p>
            <a:r>
              <a:rPr lang="en-US" sz="2800" b="1" dirty="0"/>
              <a:t>For example</a:t>
            </a:r>
            <a:r>
              <a:rPr lang="en-US" sz="2800" dirty="0"/>
              <a:t>, in EMPLOYEE works_for DEPT, if the company has a rule that</a:t>
            </a:r>
            <a:r>
              <a:rPr lang="en-US" sz="2800" b="1" dirty="0"/>
              <a:t> each employee must work for exactly one department</a:t>
            </a:r>
            <a:r>
              <a:rPr lang="en-US" sz="2800" dirty="0"/>
              <a:t>, then we would like to describe this constraint in the schema</a:t>
            </a:r>
          </a:p>
          <a:p>
            <a:r>
              <a:rPr lang="en-US" sz="2800" dirty="0"/>
              <a:t>two main types of relationship constraints are: </a:t>
            </a:r>
            <a:r>
              <a:rPr lang="en-US" sz="2800" b="1" i="1" dirty="0"/>
              <a:t>cardinality ratio and participation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381000"/>
          </a:xfrm>
        </p:spPr>
        <p:txBody>
          <a:bodyPr>
            <a:noAutofit/>
          </a:bodyPr>
          <a:lstStyle/>
          <a:p>
            <a:r>
              <a:rPr lang="en-US" sz="2800" b="1" dirty="0"/>
              <a:t>Cardinality Ratios for Binary 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839200" cy="5791200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The cardinality ratio for a binary relationship specifies the </a:t>
            </a:r>
            <a:r>
              <a:rPr lang="en-US" sz="2400" b="1" i="1" dirty="0"/>
              <a:t>maximum number of relationship instances that an entity can participate in</a:t>
            </a:r>
          </a:p>
          <a:p>
            <a:r>
              <a:rPr lang="en-US" sz="2400" dirty="0"/>
              <a:t>The possible cardinality ratios for binary relationship types are: </a:t>
            </a:r>
          </a:p>
          <a:p>
            <a:pPr lvl="1"/>
            <a:r>
              <a:rPr lang="en-US" sz="2000" dirty="0"/>
              <a:t>1:1 one to one</a:t>
            </a:r>
          </a:p>
          <a:p>
            <a:pPr lvl="1"/>
            <a:r>
              <a:rPr lang="en-US" sz="2000" dirty="0"/>
              <a:t> l:N one to many</a:t>
            </a:r>
          </a:p>
          <a:p>
            <a:pPr lvl="1"/>
            <a:r>
              <a:rPr lang="en-US" sz="2000" dirty="0"/>
              <a:t> M:N many to many</a:t>
            </a:r>
          </a:p>
          <a:p>
            <a:r>
              <a:rPr lang="en-US" sz="2400" b="1" dirty="0"/>
              <a:t>One To many </a:t>
            </a:r>
            <a:r>
              <a:rPr lang="en-US" sz="2400" dirty="0"/>
              <a:t>:For example, in the WORKS_FOR binary relationship type, DEPARTMENT: EMPLOYEE is of cardinality ratio l:N, </a:t>
            </a:r>
          </a:p>
          <a:p>
            <a:r>
              <a:rPr lang="en-US" sz="2400" dirty="0"/>
              <a:t>meaning that each department can be related to (that  is,  employs) any number of employees) but an employee can be related to (work for) only one department.</a:t>
            </a:r>
          </a:p>
          <a:p>
            <a:r>
              <a:rPr lang="en-US" sz="2400" b="1" dirty="0"/>
              <a:t>One to one</a:t>
            </a:r>
            <a:r>
              <a:rPr lang="en-US" sz="2400" dirty="0"/>
              <a:t>: An example of a 1:1 binary relationship is MANAGES which relates a department entity to the employee who manages that department</a:t>
            </a:r>
          </a:p>
          <a:p>
            <a:r>
              <a:rPr lang="en-US" sz="2400" dirty="0" err="1"/>
              <a:t>miniworld</a:t>
            </a:r>
            <a:r>
              <a:rPr lang="en-US" sz="2400" dirty="0"/>
              <a:t> constraints that-at any point in time-an employee can manage only one department and a department has only one manager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38100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09600"/>
            <a:ext cx="8839200" cy="6019800"/>
          </a:xfrm>
        </p:spPr>
        <p:txBody>
          <a:bodyPr>
            <a:normAutofit/>
          </a:bodyPr>
          <a:lstStyle/>
          <a:p>
            <a:r>
              <a:rPr lang="en-US" sz="2400" b="1" dirty="0"/>
              <a:t>Many to many</a:t>
            </a:r>
            <a:r>
              <a:rPr lang="en-US" sz="2400" dirty="0"/>
              <a:t>: relationship type WORKS_ON  is of cardinality ratio M:N, because the </a:t>
            </a:r>
            <a:r>
              <a:rPr lang="en-US" sz="2400" dirty="0" err="1"/>
              <a:t>miniworld</a:t>
            </a:r>
            <a:r>
              <a:rPr lang="en-US" sz="2400" dirty="0"/>
              <a:t> rule is that an </a:t>
            </a:r>
            <a:r>
              <a:rPr lang="en-US" sz="2400"/>
              <a:t>employee can work </a:t>
            </a:r>
            <a:r>
              <a:rPr lang="en-US" sz="2400" dirty="0"/>
              <a:t>on several projects and a project can have several employees</a:t>
            </a:r>
          </a:p>
          <a:p>
            <a:r>
              <a:rPr lang="en-US" sz="2400" dirty="0"/>
              <a:t>See figure 3.11, 3.12, 3.13 on your book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381000"/>
          </a:xfrm>
        </p:spPr>
        <p:txBody>
          <a:bodyPr>
            <a:noAutofit/>
          </a:bodyPr>
          <a:lstStyle/>
          <a:p>
            <a:r>
              <a:rPr lang="en-US" sz="2800" b="1" i="1" dirty="0"/>
              <a:t>Participation Constraints and Existence Dependencies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839200" cy="5791200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The participation constraint specifies </a:t>
            </a:r>
            <a:r>
              <a:rPr lang="en-US" sz="2400" b="1" i="1" dirty="0"/>
              <a:t>whether the existence of an entity depends on its being related to another entity via the relationship type</a:t>
            </a:r>
          </a:p>
          <a:p>
            <a:r>
              <a:rPr lang="en-US" sz="2400" dirty="0"/>
              <a:t>There are two types of participation constraints:-</a:t>
            </a:r>
            <a:r>
              <a:rPr lang="en-US" sz="2400" b="1" dirty="0"/>
              <a:t>total</a:t>
            </a:r>
            <a:r>
              <a:rPr lang="en-US" sz="2400" dirty="0"/>
              <a:t> and </a:t>
            </a:r>
            <a:r>
              <a:rPr lang="en-US" sz="2400" b="1" dirty="0"/>
              <a:t>partia</a:t>
            </a:r>
            <a:r>
              <a:rPr lang="en-US" sz="2400" dirty="0"/>
              <a:t>l</a:t>
            </a:r>
          </a:p>
          <a:p>
            <a:pPr>
              <a:buNone/>
            </a:pPr>
            <a:r>
              <a:rPr lang="en-US" sz="2400" b="1" dirty="0"/>
              <a:t>Total participation</a:t>
            </a:r>
            <a:r>
              <a:rPr lang="en-US" sz="2400" dirty="0"/>
              <a:t>:</a:t>
            </a:r>
          </a:p>
          <a:p>
            <a:r>
              <a:rPr lang="en-US" sz="2400" dirty="0"/>
              <a:t>Here an Entity can exist only if it participates in at least one relationship instance:</a:t>
            </a:r>
          </a:p>
          <a:p>
            <a:r>
              <a:rPr lang="en-US" sz="2400" dirty="0"/>
              <a:t>Ex: If a company policy states that </a:t>
            </a:r>
            <a:r>
              <a:rPr lang="en-US" sz="2400" i="1" dirty="0"/>
              <a:t>every employee must work for </a:t>
            </a:r>
            <a:r>
              <a:rPr lang="en-US" sz="2400" dirty="0"/>
              <a:t>a department, then an employee entity can exist only if it participates in at least one WORKS_FOR relationship instance</a:t>
            </a:r>
          </a:p>
          <a:p>
            <a:r>
              <a:rPr lang="en-US" sz="2400" dirty="0"/>
              <a:t>Thus, the participation of EMPLOYEE in WORKS_FOR is called </a:t>
            </a:r>
            <a:r>
              <a:rPr lang="en-US" sz="2400" b="1" i="1" dirty="0"/>
              <a:t>total participation</a:t>
            </a:r>
          </a:p>
          <a:p>
            <a:r>
              <a:rPr lang="en-US" sz="2400" dirty="0"/>
              <a:t>meaning that every entity in "</a:t>
            </a:r>
            <a:r>
              <a:rPr lang="en-US" sz="2400" b="1" i="1" dirty="0"/>
              <a:t>the total set</a:t>
            </a:r>
            <a:r>
              <a:rPr lang="en-US" sz="2400" dirty="0"/>
              <a:t>" of employee entities must be related to a department entity via </a:t>
            </a:r>
            <a:r>
              <a:rPr lang="en-US" sz="2400" b="1" i="1" dirty="0"/>
              <a:t>WORKS_FOR</a:t>
            </a:r>
          </a:p>
          <a:p>
            <a:r>
              <a:rPr lang="en-US" sz="2400" dirty="0"/>
              <a:t>Total participation is also called </a:t>
            </a:r>
            <a:r>
              <a:rPr lang="en-US" sz="2400" b="1" i="1" dirty="0"/>
              <a:t>existence dependency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38100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09600"/>
            <a:ext cx="8839200" cy="6019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/>
              <a:t>Partial participation:</a:t>
            </a:r>
          </a:p>
          <a:p>
            <a:r>
              <a:rPr lang="en-US" sz="2400" dirty="0"/>
              <a:t>All entities are not necessarily involved in a relationship instance</a:t>
            </a:r>
          </a:p>
          <a:p>
            <a:r>
              <a:rPr lang="en-US" sz="2400" dirty="0"/>
              <a:t>Ex: We do not expect every employee to manage a department, so the participation of EMPLOYEE in the MANAGES relationship type </a:t>
            </a:r>
            <a:r>
              <a:rPr lang="en-US" sz="2400" b="1" i="1" dirty="0"/>
              <a:t>is partial, </a:t>
            </a:r>
          </a:p>
          <a:p>
            <a:r>
              <a:rPr lang="en-US" sz="2400" dirty="0"/>
              <a:t>meaning that </a:t>
            </a:r>
            <a:r>
              <a:rPr lang="en-US" sz="2400" i="1" dirty="0"/>
              <a:t>some or "</a:t>
            </a:r>
            <a:r>
              <a:rPr lang="en-US" sz="2400" b="1" dirty="0"/>
              <a:t>part of the set of</a:t>
            </a:r>
            <a:r>
              <a:rPr lang="en-US" sz="2400" i="1" dirty="0"/>
              <a:t>" employee entities are related to some department  </a:t>
            </a:r>
            <a:r>
              <a:rPr lang="en-US" sz="2400" dirty="0"/>
              <a:t>entity via MANAGES, </a:t>
            </a:r>
            <a:r>
              <a:rPr lang="en-US" sz="2400" b="1" dirty="0"/>
              <a:t>but not necessarily all.</a:t>
            </a:r>
          </a:p>
          <a:p>
            <a:r>
              <a:rPr lang="en-US" sz="2400" dirty="0"/>
              <a:t>We will refer to the cardinality ratio and participation constraints, taken together, as the </a:t>
            </a:r>
            <a:r>
              <a:rPr lang="en-US" sz="2400" b="1" dirty="0"/>
              <a:t>structural constraints </a:t>
            </a:r>
            <a:r>
              <a:rPr lang="en-US" sz="2400" dirty="0"/>
              <a:t>of a relationship type</a:t>
            </a:r>
          </a:p>
          <a:p>
            <a:r>
              <a:rPr lang="en-US" sz="2400" dirty="0"/>
              <a:t>In ER diagrams, total participation (or existence dependency) is displayed as a </a:t>
            </a:r>
            <a:r>
              <a:rPr lang="en-US" sz="2400" b="1" i="1" dirty="0"/>
              <a:t>double line </a:t>
            </a:r>
            <a:r>
              <a:rPr lang="en-US" sz="2400" i="1" dirty="0"/>
              <a:t>connecting the participating entity type to the relationship, whereas partial </a:t>
            </a:r>
            <a:r>
              <a:rPr lang="en-US" sz="2400" dirty="0"/>
              <a:t>participation is represented by </a:t>
            </a:r>
            <a:r>
              <a:rPr lang="en-US" sz="2400" b="1" i="1" dirty="0"/>
              <a:t>a single line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381000"/>
          </a:xfrm>
        </p:spPr>
        <p:txBody>
          <a:bodyPr>
            <a:noAutofit/>
          </a:bodyPr>
          <a:lstStyle/>
          <a:p>
            <a:r>
              <a:rPr lang="en-US" sz="2800" b="1" dirty="0"/>
              <a:t>Weak entities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38200"/>
            <a:ext cx="8991600" cy="5791200"/>
          </a:xfrm>
        </p:spPr>
        <p:txBody>
          <a:bodyPr>
            <a:normAutofit/>
          </a:bodyPr>
          <a:lstStyle/>
          <a:p>
            <a:r>
              <a:rPr lang="en-US" sz="2400" dirty="0"/>
              <a:t>Entity types that </a:t>
            </a:r>
            <a:r>
              <a:rPr lang="en-US" sz="2400" b="1" i="1" dirty="0"/>
              <a:t>do not have key attributes </a:t>
            </a:r>
            <a:r>
              <a:rPr lang="en-US" sz="2400" dirty="0"/>
              <a:t>of their own are called weak entity types.</a:t>
            </a:r>
          </a:p>
          <a:p>
            <a:r>
              <a:rPr lang="en-US" sz="2400" dirty="0"/>
              <a:t>In contrast, regular entity types that do have a key attribute-which include all the examples we discussed so far-are called </a:t>
            </a:r>
            <a:r>
              <a:rPr lang="en-US" sz="2400" b="1" i="1" dirty="0"/>
              <a:t>strong entity types.</a:t>
            </a:r>
          </a:p>
          <a:p>
            <a:r>
              <a:rPr lang="en-US" sz="2400" dirty="0"/>
              <a:t>Entities belonging to a weak entity type are </a:t>
            </a:r>
            <a:r>
              <a:rPr lang="en-US" sz="2400" b="1" dirty="0"/>
              <a:t>identified by being related to specific entities</a:t>
            </a:r>
            <a:r>
              <a:rPr lang="en-US" sz="2400" dirty="0"/>
              <a:t> from another entity type in combination with one of their attribute values</a:t>
            </a:r>
          </a:p>
          <a:p>
            <a:r>
              <a:rPr lang="en-US" sz="2400" dirty="0"/>
              <a:t>We call this other entity type the </a:t>
            </a:r>
            <a:r>
              <a:rPr lang="en-US" sz="2400" b="1" i="1" dirty="0"/>
              <a:t>identifying or owner </a:t>
            </a:r>
            <a:r>
              <a:rPr lang="en-US" sz="2400" dirty="0"/>
              <a:t>entity type</a:t>
            </a:r>
          </a:p>
          <a:p>
            <a:r>
              <a:rPr lang="en-US" sz="2400" dirty="0"/>
              <a:t>and we call the relationship type that relates a weak entity type to its owner the </a:t>
            </a:r>
            <a:r>
              <a:rPr lang="en-US" sz="2400" b="1" i="1" dirty="0"/>
              <a:t>identifying relationship </a:t>
            </a:r>
            <a:r>
              <a:rPr lang="en-US" sz="2400" dirty="0"/>
              <a:t>of the weak entity type.</a:t>
            </a:r>
          </a:p>
          <a:p>
            <a:r>
              <a:rPr lang="en-US" sz="2400" dirty="0"/>
              <a:t>A weak entity type always has a </a:t>
            </a:r>
            <a:r>
              <a:rPr lang="en-US" sz="2400" b="1" i="1" dirty="0"/>
              <a:t>total participation constraint </a:t>
            </a:r>
            <a:r>
              <a:rPr lang="en-US" sz="2400" i="1" dirty="0"/>
              <a:t>(existence dependency) with respect to its </a:t>
            </a:r>
            <a:r>
              <a:rPr lang="en-US" sz="2400" dirty="0"/>
              <a:t>identifying relationship, because a weak entity cannot be identified without an owner entity.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22860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85800"/>
            <a:ext cx="8839200" cy="5943600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Consider the entity type DEPENDENT, related to EMPLOYEE, which is used to keep track of the dependents of each employee via a l:N relationship</a:t>
            </a:r>
          </a:p>
          <a:p>
            <a:r>
              <a:rPr lang="en-US" sz="2400" dirty="0"/>
              <a:t>The attributes of DEPENDENT are Name (the first name of the dependent), </a:t>
            </a:r>
            <a:r>
              <a:rPr lang="en-US" sz="2400" dirty="0" err="1"/>
              <a:t>BirthDate</a:t>
            </a:r>
            <a:r>
              <a:rPr lang="en-US" sz="2400" dirty="0"/>
              <a:t>, Sex, and Relationship (to the employee)</a:t>
            </a:r>
          </a:p>
          <a:p>
            <a:r>
              <a:rPr lang="en-US" sz="2400" dirty="0"/>
              <a:t>Two dependents of </a:t>
            </a:r>
            <a:r>
              <a:rPr lang="en-US" sz="2400" i="1" dirty="0"/>
              <a:t>two distinct employees may, </a:t>
            </a:r>
            <a:r>
              <a:rPr lang="en-US" sz="2400" b="1" i="1" dirty="0"/>
              <a:t>by chance, have the same values for Name</a:t>
            </a:r>
            <a:r>
              <a:rPr lang="en-US" sz="2400" dirty="0"/>
              <a:t>, </a:t>
            </a:r>
            <a:r>
              <a:rPr lang="en-US" sz="2400" b="1" dirty="0" err="1"/>
              <a:t>BirthDate</a:t>
            </a:r>
            <a:r>
              <a:rPr lang="en-US" sz="2400" b="1" dirty="0"/>
              <a:t>, Sex, and Relationship</a:t>
            </a:r>
            <a:r>
              <a:rPr lang="en-US" sz="2400" dirty="0"/>
              <a:t>, but they are still distinct entities</a:t>
            </a:r>
          </a:p>
          <a:p>
            <a:r>
              <a:rPr lang="en-US" sz="2400" dirty="0"/>
              <a:t>They are identified as distinct entities only after determining the </a:t>
            </a:r>
            <a:r>
              <a:rPr lang="en-US" sz="2400" b="1" i="1" dirty="0"/>
              <a:t>particular employee entity to which each dependent is related</a:t>
            </a:r>
          </a:p>
          <a:p>
            <a:r>
              <a:rPr lang="en-US" sz="2400" dirty="0"/>
              <a:t>A weak entity type normally has a </a:t>
            </a:r>
            <a:r>
              <a:rPr lang="en-US" sz="2400" b="1" dirty="0"/>
              <a:t>partial key</a:t>
            </a:r>
            <a:r>
              <a:rPr lang="en-US" sz="2400" dirty="0"/>
              <a:t>, which is the set of attributes that can uniquely identify weak entities that are </a:t>
            </a:r>
            <a:r>
              <a:rPr lang="en-US" sz="2400" i="1" dirty="0"/>
              <a:t>related to the same owner entity</a:t>
            </a:r>
          </a:p>
          <a:p>
            <a:r>
              <a:rPr lang="en-US" sz="2400" i="1" dirty="0"/>
              <a:t>Ex </a:t>
            </a:r>
            <a:r>
              <a:rPr lang="en-US" sz="2400" dirty="0"/>
              <a:t>if we assume </a:t>
            </a:r>
            <a:r>
              <a:rPr lang="en-US" sz="2400" b="1" i="1" dirty="0"/>
              <a:t>that no two dependents of the same employee </a:t>
            </a:r>
            <a:r>
              <a:rPr lang="en-US" sz="2400" dirty="0"/>
              <a:t>ever </a:t>
            </a:r>
            <a:r>
              <a:rPr lang="en-US" sz="2400" b="1" i="1" dirty="0"/>
              <a:t>have the same first name</a:t>
            </a:r>
            <a:r>
              <a:rPr lang="en-US" sz="2400" dirty="0"/>
              <a:t>, the attribute </a:t>
            </a:r>
            <a:r>
              <a:rPr lang="en-US" sz="2400" b="1" dirty="0"/>
              <a:t>Nam</a:t>
            </a:r>
            <a:r>
              <a:rPr lang="en-US" sz="2400" dirty="0"/>
              <a:t>e of DEPENDENT is the partial key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38100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57200"/>
            <a:ext cx="9144000" cy="6248400"/>
          </a:xfrm>
        </p:spPr>
        <p:txBody>
          <a:bodyPr>
            <a:normAutofit/>
          </a:bodyPr>
          <a:lstStyle/>
          <a:p>
            <a:r>
              <a:rPr lang="en-US" sz="2400" dirty="0"/>
              <a:t>In ER diagrams, both a weak entity type and its identifying relationship are distinguished by surrounding their boxes and diamonds with </a:t>
            </a:r>
            <a:r>
              <a:rPr lang="en-US" sz="2400" b="1" dirty="0"/>
              <a:t>double lines </a:t>
            </a:r>
            <a:r>
              <a:rPr lang="en-US" sz="2400" dirty="0"/>
              <a:t>(see Figure 3.2).</a:t>
            </a:r>
          </a:p>
          <a:p>
            <a:r>
              <a:rPr lang="en-US" sz="2400" dirty="0"/>
              <a:t>The </a:t>
            </a:r>
            <a:r>
              <a:rPr lang="en-US" sz="2400" b="1" dirty="0"/>
              <a:t>partial key </a:t>
            </a:r>
            <a:r>
              <a:rPr lang="en-US" sz="2400" dirty="0"/>
              <a:t>attribute is underlined with </a:t>
            </a:r>
            <a:r>
              <a:rPr lang="en-US" sz="2400" b="1" dirty="0"/>
              <a:t>a dashed </a:t>
            </a:r>
            <a:r>
              <a:rPr lang="en-US" sz="2400" dirty="0"/>
              <a:t>or </a:t>
            </a:r>
            <a:r>
              <a:rPr lang="en-US" sz="2400" b="1" dirty="0"/>
              <a:t>dotted line</a:t>
            </a:r>
            <a:r>
              <a:rPr lang="en-US" sz="2400" dirty="0"/>
              <a:t>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152400"/>
            <a:ext cx="8153400" cy="670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0"/>
            <a:ext cx="84582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304800"/>
          </a:xfrm>
        </p:spPr>
        <p:txBody>
          <a:bodyPr>
            <a:noAutofit/>
          </a:bodyPr>
          <a:lstStyle/>
          <a:p>
            <a:r>
              <a:rPr lang="en-US" sz="2400" b="1" dirty="0"/>
              <a:t>ER DIAGRAMS, NAMING CONVENTIONS,AND DESIGN ISSUES</a:t>
            </a:r>
            <a:endParaRPr lang="en-US" sz="2400" dirty="0"/>
          </a:p>
        </p:txBody>
      </p:sp>
      <p:sp>
        <p:nvSpPr>
          <p:cNvPr id="13" name="Content Placeholder 12"/>
          <p:cNvSpPr>
            <a:spLocks noGrp="1"/>
          </p:cNvSpPr>
          <p:nvPr>
            <p:ph idx="1"/>
          </p:nvPr>
        </p:nvSpPr>
        <p:spPr>
          <a:xfrm>
            <a:off x="0" y="304800"/>
            <a:ext cx="9144000" cy="6553200"/>
          </a:xfrm>
        </p:spPr>
        <p:txBody>
          <a:bodyPr>
            <a:noAutofit/>
          </a:bodyPr>
          <a:lstStyle/>
          <a:p>
            <a:r>
              <a:rPr lang="en-US" sz="1800" dirty="0"/>
              <a:t>Figure 3.2 displays the COMPANY ER database schema as an ER diagram. </a:t>
            </a:r>
          </a:p>
          <a:p>
            <a:r>
              <a:rPr lang="en-US" sz="1800" dirty="0"/>
              <a:t>Entity types such as EMPLOYEE, DEPARTMENT, and PROJECT are shown in </a:t>
            </a:r>
            <a:r>
              <a:rPr lang="en-US" sz="1800" b="1" dirty="0"/>
              <a:t>rectangular boxes</a:t>
            </a:r>
            <a:r>
              <a:rPr lang="en-US" sz="1800" dirty="0"/>
              <a:t>. </a:t>
            </a:r>
          </a:p>
          <a:p>
            <a:r>
              <a:rPr lang="en-US" sz="1800" dirty="0"/>
              <a:t>Relationship types such as WORKS_FOR, MANAGES, CONTROLS, and WORKS_ON are shown in </a:t>
            </a:r>
            <a:r>
              <a:rPr lang="en-US" sz="1800" b="1" dirty="0"/>
              <a:t>diamond-shaped boxes </a:t>
            </a:r>
            <a:r>
              <a:rPr lang="en-US" sz="1800" dirty="0"/>
              <a:t>attached to the participating entity types with straight lines.</a:t>
            </a:r>
          </a:p>
          <a:p>
            <a:r>
              <a:rPr lang="en-US" sz="1800" b="1" dirty="0"/>
              <a:t> Attributes are shown in ovals</a:t>
            </a:r>
            <a:r>
              <a:rPr lang="en-US" sz="1800" dirty="0"/>
              <a:t>, and each attribute is attached by a straight line to its entity type or relationship type. </a:t>
            </a:r>
          </a:p>
          <a:p>
            <a:r>
              <a:rPr lang="en-US" sz="1800" b="1" dirty="0"/>
              <a:t>Component attributes of a composite attribute are attached to the oval </a:t>
            </a:r>
            <a:r>
              <a:rPr lang="en-US" sz="1800" dirty="0"/>
              <a:t>representing the composite attribute, as illustrated by the Name attribute of EMPLOYEE.</a:t>
            </a:r>
          </a:p>
          <a:p>
            <a:r>
              <a:rPr lang="en-US" sz="1800" b="1" dirty="0"/>
              <a:t> </a:t>
            </a:r>
            <a:r>
              <a:rPr lang="en-US" sz="1800" b="1" dirty="0" err="1"/>
              <a:t>Multivalued</a:t>
            </a:r>
            <a:r>
              <a:rPr lang="en-US" sz="1800" b="1" dirty="0"/>
              <a:t> attributes are shown in double ovals</a:t>
            </a:r>
            <a:r>
              <a:rPr lang="en-US" sz="1800" dirty="0"/>
              <a:t>, as illustrated by the Locations attribute of DEPARTMENT. </a:t>
            </a:r>
          </a:p>
          <a:p>
            <a:r>
              <a:rPr lang="en-US" sz="1800" b="1" dirty="0"/>
              <a:t> Key attributes have their names underlined</a:t>
            </a:r>
            <a:r>
              <a:rPr lang="en-US" sz="1800" dirty="0"/>
              <a:t>. </a:t>
            </a:r>
          </a:p>
          <a:p>
            <a:r>
              <a:rPr lang="en-US" sz="1800" b="1" dirty="0"/>
              <a:t>Derived attributes are shown in dotted ovals</a:t>
            </a:r>
            <a:r>
              <a:rPr lang="en-US" sz="1800" dirty="0"/>
              <a:t>, as illustrated by the  </a:t>
            </a:r>
            <a:r>
              <a:rPr lang="en-US" sz="1800" dirty="0" err="1"/>
              <a:t>NumberOfEmployees</a:t>
            </a:r>
            <a:r>
              <a:rPr lang="en-US" sz="1800" dirty="0"/>
              <a:t> attribute of DEPARTMENT.</a:t>
            </a:r>
          </a:p>
          <a:p>
            <a:r>
              <a:rPr lang="en-US" sz="1800" b="1" dirty="0"/>
              <a:t>Weak entity types are distinguished by being placed in double rectangles </a:t>
            </a:r>
            <a:r>
              <a:rPr lang="en-US" sz="1800" dirty="0"/>
              <a:t>and by having their identifying relationship placed in double diamonds.</a:t>
            </a:r>
          </a:p>
          <a:p>
            <a:r>
              <a:rPr lang="en-US" sz="1800" b="1" dirty="0"/>
              <a:t> The partial key of the weak entity type is underlined with a dotted line.</a:t>
            </a:r>
          </a:p>
          <a:p>
            <a:r>
              <a:rPr lang="en-US" sz="1800" dirty="0"/>
              <a:t>the cardinality ratio of each </a:t>
            </a:r>
            <a:r>
              <a:rPr lang="en-US" sz="1800" i="1" dirty="0"/>
              <a:t>binary relationship type is specified by attaching</a:t>
            </a:r>
          </a:p>
          <a:p>
            <a:r>
              <a:rPr lang="en-US" sz="1800" dirty="0"/>
              <a:t>a I, M, or N on each participating edge. </a:t>
            </a:r>
          </a:p>
          <a:p>
            <a:r>
              <a:rPr lang="en-US" sz="1800" dirty="0"/>
              <a:t>The cardinality ratio of DEPARTMENT: EMPLOYEE in MANAGES is 1:1,</a:t>
            </a:r>
          </a:p>
          <a:p>
            <a:r>
              <a:rPr lang="en-US" sz="1800" dirty="0"/>
              <a:t> whereas it is l:N for DEPARTMENT: EMPLOYEE in WORKS_FOR, and M:N for WORKS_ON</a:t>
            </a:r>
            <a:r>
              <a:rPr lang="en-US" sz="1000" dirty="0"/>
              <a:t>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5720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685800"/>
            <a:ext cx="8763000" cy="6172200"/>
          </a:xfrm>
        </p:spPr>
        <p:txBody>
          <a:bodyPr>
            <a:normAutofit lnSpcReduction="10000"/>
          </a:bodyPr>
          <a:lstStyle/>
          <a:p>
            <a:pPr marL="457200" indent="-457200">
              <a:buAutoNum type="arabicPeriod"/>
            </a:pPr>
            <a:r>
              <a:rPr lang="en-US" sz="2400" dirty="0"/>
              <a:t>MANAGES</a:t>
            </a:r>
          </a:p>
          <a:p>
            <a:pPr marL="457200" indent="-457200"/>
            <a:r>
              <a:rPr lang="en-US" sz="2400" dirty="0"/>
              <a:t>a 1:1 relationship type between EMPLOYEE and DEPARTMENT. </a:t>
            </a:r>
            <a:r>
              <a:rPr lang="en-US" sz="2400" b="1" dirty="0"/>
              <a:t>EMPLOYEE participation is partial</a:t>
            </a:r>
            <a:r>
              <a:rPr lang="en-US" sz="2400" dirty="0"/>
              <a:t>. </a:t>
            </a:r>
          </a:p>
          <a:p>
            <a:pPr marL="457200" indent="-457200"/>
            <a:r>
              <a:rPr lang="en-US" sz="2400" dirty="0"/>
              <a:t>DEPARTMENT participation is not clear from the requirements. We question the users, who say that a department must have a manager at all times, which implies total participation. The attribute </a:t>
            </a:r>
            <a:r>
              <a:rPr lang="en-US" sz="2400" dirty="0" err="1"/>
              <a:t>StartDate</a:t>
            </a:r>
            <a:r>
              <a:rPr lang="en-US" sz="2400" dirty="0"/>
              <a:t> is assigned to this relationship type.</a:t>
            </a:r>
          </a:p>
          <a:p>
            <a:pPr>
              <a:buNone/>
            </a:pPr>
            <a:r>
              <a:rPr lang="en-US" sz="2400" dirty="0"/>
              <a:t>2. WORKSFOR,</a:t>
            </a:r>
          </a:p>
          <a:p>
            <a:r>
              <a:rPr lang="en-US" sz="2400" dirty="0"/>
              <a:t> a I:N relationship type between DEPARTMENT and EMPLOYEE. Both participations </a:t>
            </a:r>
            <a:r>
              <a:rPr lang="en-US" sz="2400" b="1" dirty="0"/>
              <a:t>are total</a:t>
            </a:r>
            <a:r>
              <a:rPr lang="en-US" sz="2400" dirty="0"/>
              <a:t>.</a:t>
            </a:r>
          </a:p>
          <a:p>
            <a:pPr>
              <a:buNone/>
            </a:pPr>
            <a:r>
              <a:rPr lang="en-US" sz="2400" dirty="0"/>
              <a:t>3. CONTROLS, </a:t>
            </a:r>
          </a:p>
          <a:p>
            <a:r>
              <a:rPr lang="en-US" sz="2400" dirty="0"/>
              <a:t>a I:N relationship type between DEPARTMENT and PROJECT. </a:t>
            </a:r>
          </a:p>
          <a:p>
            <a:r>
              <a:rPr lang="en-US" sz="2400" dirty="0"/>
              <a:t>The participation of PROJECT is total, whereas that of DEPARTMENT is determined to be partial, after consultation with the users indicates that </a:t>
            </a:r>
            <a:r>
              <a:rPr lang="en-US" sz="2400" b="1" dirty="0"/>
              <a:t>some departments may control no projects.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457200"/>
          </a:xfrm>
        </p:spPr>
        <p:txBody>
          <a:bodyPr>
            <a:noAutofit/>
          </a:bodyPr>
          <a:lstStyle/>
          <a:p>
            <a:r>
              <a:rPr lang="en-US" sz="2400" b="1" dirty="0"/>
              <a:t>REFINING THE ER DESIGN FOR THE COMPANY DATABASE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33400"/>
            <a:ext cx="9144000" cy="6324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4</a:t>
            </a:r>
            <a:r>
              <a:rPr lang="en-US" sz="2400" dirty="0"/>
              <a:t>. SUPERVISION</a:t>
            </a:r>
          </a:p>
          <a:p>
            <a:r>
              <a:rPr lang="en-US" sz="2400" dirty="0"/>
              <a:t>a I:N relationship type between EMPLOYEE (in the supervisor role) and EMPLOYEE (in the supervisee role). </a:t>
            </a:r>
          </a:p>
          <a:p>
            <a:r>
              <a:rPr lang="en-US" sz="2400" dirty="0"/>
              <a:t>Both participations are determined to be partial, after the users indicate that </a:t>
            </a:r>
            <a:r>
              <a:rPr lang="en-US" sz="2400" b="1" i="1" dirty="0"/>
              <a:t>not every employee is a supervisor and not every employee has a supervisor.</a:t>
            </a:r>
          </a:p>
          <a:p>
            <a:pPr>
              <a:buNone/>
            </a:pPr>
            <a:r>
              <a:rPr lang="en-US" sz="2400" dirty="0"/>
              <a:t>5. WORKS_ON</a:t>
            </a:r>
          </a:p>
          <a:p>
            <a:r>
              <a:rPr lang="en-US" sz="2400" dirty="0"/>
              <a:t> determined to be an M:N relationship type with attribute Hours, after the users indicate that a project can have several employees working on it. Both participations are determined to be </a:t>
            </a:r>
            <a:r>
              <a:rPr lang="en-US" sz="2400" b="1" dirty="0"/>
              <a:t>tota</a:t>
            </a:r>
            <a:r>
              <a:rPr lang="en-US" sz="2400" dirty="0"/>
              <a:t>l.</a:t>
            </a:r>
          </a:p>
          <a:p>
            <a:pPr>
              <a:buNone/>
            </a:pPr>
            <a:r>
              <a:rPr lang="en-US" sz="2400" dirty="0"/>
              <a:t>6. DEPENDENTS_OF</a:t>
            </a:r>
          </a:p>
          <a:p>
            <a:r>
              <a:rPr lang="en-US" sz="2400" dirty="0"/>
              <a:t> a l:N relationship type between EMPLOYEE and DEPENDENT, which is also the identifying relationship for the weak entity type DEPENDENT. The participation of </a:t>
            </a:r>
            <a:r>
              <a:rPr lang="en-US" sz="2400" b="1" dirty="0"/>
              <a:t>EMPLOYEE is partial</a:t>
            </a:r>
            <a:r>
              <a:rPr lang="en-US" sz="2400" dirty="0"/>
              <a:t>, whereas that of </a:t>
            </a:r>
            <a:r>
              <a:rPr lang="en-US" sz="2400" b="1" dirty="0"/>
              <a:t>DEPENDENT is total</a:t>
            </a:r>
            <a:r>
              <a:rPr lang="en-US" sz="2400" dirty="0"/>
              <a:t>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457200"/>
          </a:xfrm>
        </p:spPr>
        <p:txBody>
          <a:bodyPr>
            <a:noAutofit/>
          </a:bodyPr>
          <a:lstStyle/>
          <a:p>
            <a:r>
              <a:rPr lang="en-US" sz="2400" b="1" dirty="0"/>
              <a:t>ER DIAGRAMS, NAMING CONVENTIONS,AND DESIGN ISSUES</a:t>
            </a:r>
            <a:endParaRPr lang="en-US" sz="2400" dirty="0"/>
          </a:p>
        </p:txBody>
      </p:sp>
      <p:sp>
        <p:nvSpPr>
          <p:cNvPr id="13" name="Content Placeholder 12"/>
          <p:cNvSpPr>
            <a:spLocks noGrp="1"/>
          </p:cNvSpPr>
          <p:nvPr>
            <p:ph idx="1"/>
          </p:nvPr>
        </p:nvSpPr>
        <p:spPr>
          <a:xfrm>
            <a:off x="228600" y="685800"/>
            <a:ext cx="8458200" cy="5440363"/>
          </a:xfrm>
        </p:spPr>
        <p:txBody>
          <a:bodyPr/>
          <a:lstStyle/>
          <a:p>
            <a:r>
              <a:rPr lang="en-US" dirty="0"/>
              <a:t>See figure 3.14 :Summary of the notation for ER diagrams on page  72</a:t>
            </a:r>
          </a:p>
          <a:p>
            <a:r>
              <a:rPr lang="en-US" dirty="0"/>
              <a:t>See  Figure 3.2 </a:t>
            </a:r>
            <a:r>
              <a:rPr lang="de-DE" dirty="0"/>
              <a:t>ER database schema as an ER diagram with the notation</a:t>
            </a:r>
            <a:endParaRPr lang="en-US" dirty="0"/>
          </a:p>
          <a:p>
            <a:r>
              <a:rPr lang="en-US" dirty="0"/>
              <a:t>Also </a:t>
            </a:r>
            <a:r>
              <a:rPr lang="en-US" b="1" dirty="0"/>
              <a:t>FIGURE 3.15 ER diagrams for the COMPANY schema, with structural constraints specified using (min, max</a:t>
            </a:r>
            <a:r>
              <a:rPr lang="en-US" dirty="0"/>
              <a:t>) notation and also Role names of the company Database.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686800" cy="685800"/>
          </a:xfrm>
        </p:spPr>
        <p:txBody>
          <a:bodyPr>
            <a:normAutofit fontScale="90000"/>
          </a:bodyPr>
          <a:lstStyle/>
          <a:p>
            <a:pPr lvl="0"/>
            <a:br>
              <a:rPr lang="en-US" dirty="0"/>
            </a:br>
            <a:r>
              <a:rPr lang="en-US" dirty="0"/>
              <a:t>Mapping ER-models to Relational Tables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9144000" cy="6019800"/>
          </a:xfrm>
        </p:spPr>
        <p:txBody>
          <a:bodyPr>
            <a:normAutofit/>
          </a:bodyPr>
          <a:lstStyle/>
          <a:p>
            <a:r>
              <a:rPr lang="en-US" sz="2400" dirty="0"/>
              <a:t>steps of an algorithm for ER-to-relational mapping</a:t>
            </a:r>
          </a:p>
          <a:p>
            <a:pPr>
              <a:buNone/>
            </a:pPr>
            <a:r>
              <a:rPr lang="en-US" sz="2400" b="1" dirty="0"/>
              <a:t>Step 1: Mapping of Regular Entity Types</a:t>
            </a:r>
          </a:p>
          <a:p>
            <a:r>
              <a:rPr lang="en-US" sz="2400" dirty="0"/>
              <a:t>For each regular (strong) entity type  E in the ER schema, create a relation R that includes all the simple attributes of E</a:t>
            </a:r>
          </a:p>
          <a:p>
            <a:r>
              <a:rPr lang="en-US" sz="2400" dirty="0"/>
              <a:t>Choose one of the key attributes of E as primary key for R.</a:t>
            </a:r>
          </a:p>
          <a:p>
            <a:r>
              <a:rPr lang="en-US" sz="2400" dirty="0"/>
              <a:t>Put the primary key of the table  as the </a:t>
            </a:r>
            <a:r>
              <a:rPr lang="en-US" sz="2400" b="1" dirty="0"/>
              <a:t>foreign key </a:t>
            </a:r>
            <a:r>
              <a:rPr lang="en-US" sz="2400" dirty="0"/>
              <a:t>in to the  second table  for referential integrity</a:t>
            </a:r>
          </a:p>
          <a:p>
            <a:r>
              <a:rPr lang="en-US" sz="2400" b="1" dirty="0"/>
              <a:t>Foreign keys </a:t>
            </a:r>
            <a:r>
              <a:rPr lang="en-US" sz="2400" dirty="0"/>
              <a:t>in company database include the attributes SUPERSSN and DNO of EMPLOYEE, MGRSSN and MGRSTARTDATE of DEPARTMENT, and DNUM of PROJECT  </a:t>
            </a:r>
          </a:p>
          <a:p>
            <a:r>
              <a:rPr lang="en-US" sz="2400" dirty="0"/>
              <a:t> SSN, DNUMBER, and PNUMBER as primary keys for the relations EMPLOYEE, DEPARTMENT, and PROJECT respectively 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38100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57200"/>
            <a:ext cx="9144000" cy="6248400"/>
          </a:xfrm>
        </p:spPr>
        <p:txBody>
          <a:bodyPr>
            <a:normAutofit lnSpcReduction="10000"/>
          </a:bodyPr>
          <a:lstStyle/>
          <a:p>
            <a:r>
              <a:rPr lang="en-US" sz="2400" b="1" dirty="0"/>
              <a:t>Step </a:t>
            </a:r>
            <a:r>
              <a:rPr lang="en-US" sz="1800" b="1" dirty="0"/>
              <a:t>2</a:t>
            </a:r>
            <a:r>
              <a:rPr lang="en-US" sz="2400" b="1" dirty="0"/>
              <a:t>:Mapping of Weak Entity Types.</a:t>
            </a:r>
          </a:p>
          <a:p>
            <a:r>
              <a:rPr lang="en-US" sz="2400" dirty="0"/>
              <a:t>For each weak entity type W in the ER schema with owner entity type E, create a relation R and include all simple attributes(or simple components of composite attributes) of W as attributes of R</a:t>
            </a:r>
          </a:p>
          <a:p>
            <a:r>
              <a:rPr lang="en-US" sz="2400" dirty="0"/>
              <a:t>In addition, </a:t>
            </a:r>
            <a:r>
              <a:rPr lang="en-US" sz="2400" b="1" dirty="0"/>
              <a:t>include as foreign key attributes of R the primary key attributes) of the relations) that correspond to the owner entity </a:t>
            </a:r>
            <a:r>
              <a:rPr lang="en-US" sz="2400" dirty="0"/>
              <a:t>types): </a:t>
            </a:r>
          </a:p>
          <a:p>
            <a:r>
              <a:rPr lang="en-US" sz="2400" dirty="0"/>
              <a:t>this takes care of the identifying relationship type of W</a:t>
            </a:r>
          </a:p>
          <a:p>
            <a:r>
              <a:rPr lang="en-US" sz="2400" dirty="0"/>
              <a:t>The primary key of R is the combination of the </a:t>
            </a:r>
            <a:r>
              <a:rPr lang="en-US" sz="2400" b="1" dirty="0"/>
              <a:t>primary keys) of the owners) and the partial key</a:t>
            </a:r>
            <a:r>
              <a:rPr lang="en-US" sz="2400" dirty="0"/>
              <a:t> of the weak entity type W, if any</a:t>
            </a:r>
          </a:p>
          <a:p>
            <a:r>
              <a:rPr lang="en-US" sz="2400" dirty="0"/>
              <a:t>We include the primary key SSN of the EMPLOYEE relation-which corresponds to the owner entity type-as a foreign key attribute of DEPENDENT; and  renamed it ESSN.</a:t>
            </a:r>
          </a:p>
          <a:p>
            <a:r>
              <a:rPr lang="en-US" sz="2400" dirty="0"/>
              <a:t> The primary key of the DEPENDENT relation is the combination </a:t>
            </a:r>
            <a:r>
              <a:rPr lang="en-US" sz="2400" b="1" dirty="0"/>
              <a:t>{ESSN, DEPENDENT_NAME} </a:t>
            </a:r>
            <a:r>
              <a:rPr lang="en-US" sz="2400" dirty="0"/>
              <a:t>because DEPENDENT_NAME is the partial key of DEPENDENT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38100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57200"/>
            <a:ext cx="9144000" cy="624840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2400" b="1" dirty="0"/>
              <a:t>Step 3: Mapping of Binary 1:1 Relationship Types</a:t>
            </a:r>
          </a:p>
          <a:p>
            <a:r>
              <a:rPr lang="en-US" sz="2400" dirty="0"/>
              <a:t>For each binary 1:1 relationship type R in the ER schema, identify the relations S and </a:t>
            </a:r>
            <a:r>
              <a:rPr lang="en-US" sz="2400" i="1" dirty="0"/>
              <a:t>T that correspond to the </a:t>
            </a:r>
            <a:r>
              <a:rPr lang="en-US" sz="2400" dirty="0"/>
              <a:t>entity types participating in R </a:t>
            </a:r>
          </a:p>
          <a:p>
            <a:pPr marL="0" indent="0">
              <a:buNone/>
            </a:pPr>
            <a:r>
              <a:rPr lang="en-US" sz="2400" b="1" dirty="0"/>
              <a:t>   Use the foreign key approach</a:t>
            </a:r>
          </a:p>
          <a:p>
            <a:r>
              <a:rPr lang="en-US" sz="2400" dirty="0"/>
              <a:t>That is Choose one of the relations-S, say-and </a:t>
            </a:r>
            <a:r>
              <a:rPr lang="en-US" sz="2400" b="1" dirty="0"/>
              <a:t>include as a foreign key in S the primary key of </a:t>
            </a:r>
            <a:r>
              <a:rPr lang="en-US" sz="2400" b="1" i="1" dirty="0"/>
              <a:t>T. </a:t>
            </a:r>
          </a:p>
          <a:p>
            <a:r>
              <a:rPr lang="en-US" sz="2400" i="1" dirty="0"/>
              <a:t>It is better to choose an entity type </a:t>
            </a:r>
            <a:r>
              <a:rPr lang="en-US" sz="2400" b="1" i="1" dirty="0"/>
              <a:t>with total participation </a:t>
            </a:r>
            <a:r>
              <a:rPr lang="en-US" sz="2400" i="1" dirty="0"/>
              <a:t>in R in the role of S. </a:t>
            </a:r>
          </a:p>
          <a:p>
            <a:r>
              <a:rPr lang="en-US" sz="2400" dirty="0"/>
              <a:t> example, we map the 1:1 relationship type MANAGES from  by choosing the participating entity type DEPARTMENT </a:t>
            </a:r>
            <a:r>
              <a:rPr lang="en-US" sz="2400" b="1" dirty="0"/>
              <a:t>to serve in the role of S</a:t>
            </a:r>
            <a:r>
              <a:rPr lang="en-US" sz="2400" dirty="0"/>
              <a:t>, because its participation in the MANAGES relationship type is total (every department has a manager). </a:t>
            </a:r>
          </a:p>
          <a:p>
            <a:r>
              <a:rPr lang="en-US" sz="2400" dirty="0"/>
              <a:t>We </a:t>
            </a:r>
            <a:r>
              <a:rPr lang="en-US" sz="2400" b="1" dirty="0"/>
              <a:t>include the primary key </a:t>
            </a:r>
            <a:r>
              <a:rPr lang="en-US" sz="2400" dirty="0"/>
              <a:t>of the EMPLOYEE relation as foreign key in the DEPARTMENT relation and rename it </a:t>
            </a:r>
            <a:r>
              <a:rPr lang="en-US" sz="2400" b="1" dirty="0"/>
              <a:t>MGRSSN. </a:t>
            </a:r>
          </a:p>
          <a:p>
            <a:r>
              <a:rPr lang="en-US" sz="2400" dirty="0"/>
              <a:t>We also include the simple attribute STARTDATE of the MANAGES relationship type in the DEPARTMENT relation and rename it MGRSTARTDATE.</a:t>
            </a:r>
            <a:endParaRPr lang="en-US" sz="2400" i="1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38100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57200"/>
            <a:ext cx="9144000" cy="6248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/>
              <a:t>Step 4: Mapping of Binary 1 :N Relationship Types</a:t>
            </a:r>
          </a:p>
          <a:p>
            <a:r>
              <a:rPr lang="en-US" sz="2400" dirty="0"/>
              <a:t>For each regular binary l:N relationship type R, identify the relation S that represents the participating entity type at the </a:t>
            </a:r>
            <a:r>
              <a:rPr lang="en-US" sz="2400" b="1" i="1" dirty="0"/>
              <a:t>N-side of the relationship type</a:t>
            </a:r>
          </a:p>
          <a:p>
            <a:r>
              <a:rPr lang="en-US" sz="2400" dirty="0"/>
              <a:t>Include as foreign key in S the primary key of the relation T that represents the other entity type participating in R</a:t>
            </a:r>
          </a:p>
          <a:p>
            <a:r>
              <a:rPr lang="en-US" sz="2400" dirty="0"/>
              <a:t> Example:</a:t>
            </a:r>
          </a:p>
          <a:p>
            <a:pPr lvl="1"/>
            <a:r>
              <a:rPr lang="en-US" sz="2000" dirty="0"/>
              <a:t> </a:t>
            </a:r>
            <a:r>
              <a:rPr lang="en-US" sz="2000" i="1" dirty="0"/>
              <a:t>For WORKS_FOR we include the primary </a:t>
            </a:r>
            <a:r>
              <a:rPr lang="en-US" sz="2000" b="1" i="1" dirty="0"/>
              <a:t>key DNUMBER of the DEPARTMENT relation as foreign key in the EMPLOYEE relation and call it DNO</a:t>
            </a:r>
            <a:r>
              <a:rPr lang="en-US" sz="2000" i="1" dirty="0"/>
              <a:t>.</a:t>
            </a:r>
          </a:p>
          <a:p>
            <a:pPr lvl="1"/>
            <a:r>
              <a:rPr lang="en-US" sz="2000" i="1" dirty="0"/>
              <a:t> For SUPERVISION we include the primary key of the EMPLOYEE relation as foreign key in the EMPLOYEE relation itself because the relationship is recursive-and call it SUPERSSN. </a:t>
            </a:r>
          </a:p>
          <a:p>
            <a:pPr lvl="1"/>
            <a:r>
              <a:rPr lang="en-US" sz="2000" i="1" dirty="0"/>
              <a:t>The CONTROLS relationship is mapped to the </a:t>
            </a:r>
            <a:r>
              <a:rPr lang="en-US" sz="2000" b="1" i="1" dirty="0"/>
              <a:t>foreign key attribute DNUM of PROJECT, which references the primary key DNUMBER of the DEPARTMENT relation.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38100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57200"/>
            <a:ext cx="9144000" cy="62484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400" b="1" dirty="0"/>
              <a:t>Step 5: Mapping of Binary M:N Relationship Types.</a:t>
            </a:r>
          </a:p>
          <a:p>
            <a:r>
              <a:rPr lang="en-US" sz="2400" dirty="0"/>
              <a:t>For each binary M:N relationship type R, </a:t>
            </a:r>
            <a:r>
              <a:rPr lang="en-US" sz="2400" b="1" dirty="0"/>
              <a:t>create a new relation S to represent R</a:t>
            </a:r>
          </a:p>
          <a:p>
            <a:r>
              <a:rPr lang="en-US" sz="2400" dirty="0"/>
              <a:t>Include as foreign key attributes in S the </a:t>
            </a:r>
            <a:r>
              <a:rPr lang="en-US" sz="2400" b="1" dirty="0"/>
              <a:t>primary keys of the relations that represent the participating entity types</a:t>
            </a:r>
            <a:r>
              <a:rPr lang="en-US" sz="2400" dirty="0"/>
              <a:t>;</a:t>
            </a:r>
          </a:p>
          <a:p>
            <a:r>
              <a:rPr lang="en-US" sz="2400" dirty="0"/>
              <a:t> </a:t>
            </a:r>
            <a:r>
              <a:rPr lang="en-US" sz="2400" b="1" dirty="0"/>
              <a:t>their combination will form the primary key of S</a:t>
            </a:r>
          </a:p>
          <a:p>
            <a:r>
              <a:rPr lang="en-US" sz="2400" dirty="0"/>
              <a:t>We cannot represent an M:N relationship type </a:t>
            </a:r>
            <a:r>
              <a:rPr lang="en-US" sz="2400" b="1" dirty="0"/>
              <a:t>by a single foreign key </a:t>
            </a:r>
            <a:r>
              <a:rPr lang="en-US" sz="2400" dirty="0"/>
              <a:t>attribute in one of the participating relations (as we did for 1:1 or I:N relationship types) because of the M:N cardinality ratio; we must create a separate </a:t>
            </a:r>
            <a:r>
              <a:rPr lang="en-US" sz="2400" i="1" dirty="0"/>
              <a:t>relationship relation S.</a:t>
            </a:r>
          </a:p>
          <a:p>
            <a:r>
              <a:rPr lang="en-US" sz="2400" i="1" dirty="0"/>
              <a:t>Example: </a:t>
            </a:r>
            <a:r>
              <a:rPr lang="en-US" sz="2400" dirty="0"/>
              <a:t>we map the M:N relationship type WORKS_ON </a:t>
            </a:r>
            <a:r>
              <a:rPr lang="en-US" sz="2400" b="1" dirty="0"/>
              <a:t>by creating the relation WORKS_ON </a:t>
            </a:r>
            <a:r>
              <a:rPr lang="en-US" sz="2400" dirty="0"/>
              <a:t>,We include </a:t>
            </a:r>
            <a:r>
              <a:rPr lang="en-US" sz="2400" b="1" dirty="0"/>
              <a:t>the primary keys of the PROJECT and EMPLOYEE relations as foreign keys in WORKS_ON and rename them PNO and ESSN, respectively</a:t>
            </a:r>
          </a:p>
          <a:p>
            <a:r>
              <a:rPr lang="en-US" sz="2400" dirty="0"/>
              <a:t>The primary key of the WORKS_ON relation is the </a:t>
            </a:r>
            <a:r>
              <a:rPr lang="en-US" sz="2400" b="1" dirty="0"/>
              <a:t>combination of </a:t>
            </a:r>
            <a:r>
              <a:rPr lang="en-US" sz="2400" dirty="0"/>
              <a:t>the foreign key attributes {ESSN, PNO}.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38100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57200"/>
            <a:ext cx="9144000" cy="6248400"/>
          </a:xfrm>
        </p:spPr>
        <p:txBody>
          <a:bodyPr/>
          <a:lstStyle/>
          <a:p>
            <a:pPr>
              <a:buNone/>
            </a:pPr>
            <a:r>
              <a:rPr lang="en-US" sz="2400" b="1" dirty="0"/>
              <a:t>Step 6: Mapping of </a:t>
            </a:r>
            <a:r>
              <a:rPr lang="en-US" sz="2400" b="1" dirty="0" err="1"/>
              <a:t>Multivalued</a:t>
            </a:r>
            <a:r>
              <a:rPr lang="en-US" sz="2400" b="1" dirty="0"/>
              <a:t> Attributes</a:t>
            </a:r>
            <a:r>
              <a:rPr lang="en-US" dirty="0"/>
              <a:t>.</a:t>
            </a:r>
          </a:p>
          <a:p>
            <a:r>
              <a:rPr lang="en-US" sz="2400" dirty="0"/>
              <a:t>For each </a:t>
            </a:r>
            <a:r>
              <a:rPr lang="en-US" sz="2400" dirty="0" err="1"/>
              <a:t>multivalued</a:t>
            </a:r>
            <a:r>
              <a:rPr lang="en-US" sz="2400" dirty="0"/>
              <a:t> </a:t>
            </a:r>
            <a:r>
              <a:rPr lang="en-US" sz="2400" b="1" dirty="0"/>
              <a:t>attribute A</a:t>
            </a:r>
            <a:r>
              <a:rPr lang="en-US" sz="2400" dirty="0"/>
              <a:t>, create a new relation R.</a:t>
            </a:r>
          </a:p>
          <a:p>
            <a:r>
              <a:rPr lang="en-US" sz="2400" dirty="0"/>
              <a:t> This relation R will include an attribute </a:t>
            </a:r>
            <a:r>
              <a:rPr lang="en-US" sz="2400" b="1" dirty="0"/>
              <a:t>corresponding to A</a:t>
            </a:r>
            <a:r>
              <a:rPr lang="en-US" sz="2400" dirty="0"/>
              <a:t>, plus </a:t>
            </a:r>
            <a:r>
              <a:rPr lang="en-US" sz="2400" b="1" dirty="0"/>
              <a:t>the primary key attribute K-as a foreign key </a:t>
            </a:r>
            <a:r>
              <a:rPr lang="en-US" sz="2400" dirty="0"/>
              <a:t>in R</a:t>
            </a:r>
          </a:p>
          <a:p>
            <a:r>
              <a:rPr lang="en-US" sz="2400" dirty="0"/>
              <a:t>The primary key of R is </a:t>
            </a:r>
            <a:r>
              <a:rPr lang="en-US" sz="2400" b="1" dirty="0"/>
              <a:t>the combination of A and K</a:t>
            </a:r>
          </a:p>
          <a:p>
            <a:r>
              <a:rPr lang="en-US" sz="2400" dirty="0"/>
              <a:t> example, we create a relation DEPT_LOCATIONS.</a:t>
            </a:r>
          </a:p>
          <a:p>
            <a:r>
              <a:rPr lang="en-US" sz="2400" dirty="0"/>
              <a:t> The attribute DLOCATION represents the </a:t>
            </a:r>
            <a:r>
              <a:rPr lang="en-US" sz="2400" dirty="0" err="1"/>
              <a:t>multivalued</a:t>
            </a:r>
            <a:r>
              <a:rPr lang="en-US" sz="2400" dirty="0"/>
              <a:t> attribute LOCATIONS of DEPARTMENT, while DNUMBER-as foreign key represents the primary key of the DEPARTMENT relation.</a:t>
            </a:r>
          </a:p>
          <a:p>
            <a:r>
              <a:rPr lang="en-US" sz="2400" dirty="0"/>
              <a:t> The primary key of DEPT_LOCATIONS is the combination of {DNUMBER, DLOCATION}. </a:t>
            </a:r>
          </a:p>
          <a:p>
            <a:r>
              <a:rPr lang="en-US" sz="2400" dirty="0"/>
              <a:t>A separate tuple will exist in DEPT_LOCATIONS for each location that a department has.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152400"/>
            <a:ext cx="8458200" cy="670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i="1" dirty="0"/>
              <a:t>Figure Result of mapping the COMPANY   ER schema into a relational database schema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                         AND</a:t>
            </a:r>
          </a:p>
          <a:p>
            <a:pPr>
              <a:buNone/>
            </a:pPr>
            <a:r>
              <a:rPr lang="en-US" dirty="0"/>
              <a:t> See populated company Database with sample Data on the next Slide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0480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81000"/>
            <a:ext cx="8991600" cy="26380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1731</TotalTime>
  <Words>4930</Words>
  <Application>Microsoft Macintosh PowerPoint</Application>
  <PresentationFormat>On-screen Show (4:3)</PresentationFormat>
  <Paragraphs>338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1" baseType="lpstr">
      <vt:lpstr>AkzidenzGroteskBE</vt:lpstr>
      <vt:lpstr>Arial</vt:lpstr>
      <vt:lpstr>Calibri</vt:lpstr>
      <vt:lpstr>Wingdings</vt:lpstr>
      <vt:lpstr>Office Theme</vt:lpstr>
      <vt:lpstr>CHAPTER Two </vt:lpstr>
      <vt:lpstr>Using high level Data models for Database Design</vt:lpstr>
      <vt:lpstr>PowerPoint Presentation</vt:lpstr>
      <vt:lpstr>Example of Database Application</vt:lpstr>
      <vt:lpstr>ENTITY TYPES, ENTITY SETS,ATTRIBUTES, AND KEYS</vt:lpstr>
      <vt:lpstr> Types of attributes </vt:lpstr>
      <vt:lpstr>Single-Valued versus Multivalued Attributes</vt:lpstr>
      <vt:lpstr>PowerPoint Presentation</vt:lpstr>
      <vt:lpstr>PowerPoint Presentation</vt:lpstr>
      <vt:lpstr>Entity Types, Entity Sets, Keys, and Value Sets</vt:lpstr>
      <vt:lpstr>PowerPoint Presentation</vt:lpstr>
      <vt:lpstr>PowerPoint Presentation</vt:lpstr>
      <vt:lpstr>PowerPoint Presentation</vt:lpstr>
      <vt:lpstr>PowerPoint Presentation</vt:lpstr>
      <vt:lpstr>Initial Conceptual Design of the COMPANY Database</vt:lpstr>
      <vt:lpstr>PowerPoint Presentation</vt:lpstr>
      <vt:lpstr>RELATIONSHIPS IN DAATABASE</vt:lpstr>
      <vt:lpstr>Relationship Types, Sets, and Instances</vt:lpstr>
      <vt:lpstr>PowerPoint Presentation</vt:lpstr>
      <vt:lpstr>Relationship Degree, Role Names, and Recursive Relationships</vt:lpstr>
      <vt:lpstr>PowerPoint Presentation</vt:lpstr>
      <vt:lpstr>PowerPoint Presentation</vt:lpstr>
      <vt:lpstr>Constraints on Relationship Types</vt:lpstr>
      <vt:lpstr>Cardinality Ratios for Binary Relationships</vt:lpstr>
      <vt:lpstr>PowerPoint Presentation</vt:lpstr>
      <vt:lpstr>Participation Constraints and Existence Dependencies</vt:lpstr>
      <vt:lpstr>PowerPoint Presentation</vt:lpstr>
      <vt:lpstr>Weak entities</vt:lpstr>
      <vt:lpstr>PowerPoint Presentation</vt:lpstr>
      <vt:lpstr>PowerPoint Presentation</vt:lpstr>
      <vt:lpstr>PowerPoint Presentation</vt:lpstr>
      <vt:lpstr>PowerPoint Presentation</vt:lpstr>
      <vt:lpstr>ER DIAGRAMS, NAMING CONVENTIONS,AND DESIGN ISSUES</vt:lpstr>
      <vt:lpstr>PowerPoint Presentation</vt:lpstr>
      <vt:lpstr>REFINING THE ER DESIGN FOR THE COMPANY DATABASE</vt:lpstr>
      <vt:lpstr>ER DIAGRAMS, NAMING CONVENTIONS,AND DESIGN ISSUES</vt:lpstr>
      <vt:lpstr> Mapping ER-models to Relational Tables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FOUR </dc:title>
  <dc:creator>xuse</dc:creator>
  <cp:lastModifiedBy>kasahun Abdisa</cp:lastModifiedBy>
  <cp:revision>47</cp:revision>
  <dcterms:created xsi:type="dcterms:W3CDTF">2014-10-29T17:00:00Z</dcterms:created>
  <dcterms:modified xsi:type="dcterms:W3CDTF">2026-03-30T05:40:00Z</dcterms:modified>
</cp:coreProperties>
</file>